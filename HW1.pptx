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63" r:id="rId3"/>
    <p:sldId id="258" r:id="rId4"/>
    <p:sldId id="259" r:id="rId5"/>
    <p:sldId id="264" r:id="rId6"/>
    <p:sldId id="265" r:id="rId7"/>
    <p:sldId id="266" r:id="rId8"/>
    <p:sldId id="267" r:id="rId9"/>
    <p:sldId id="269" r:id="rId10"/>
    <p:sldId id="272" r:id="rId11"/>
    <p:sldId id="270" r:id="rId12"/>
    <p:sldId id="273" r:id="rId13"/>
    <p:sldId id="274" r:id="rId14"/>
    <p:sldId id="275" r:id="rId15"/>
    <p:sldId id="276" r:id="rId16"/>
    <p:sldId id="277" r:id="rId17"/>
    <p:sldId id="282" r:id="rId18"/>
    <p:sldId id="278" r:id="rId19"/>
    <p:sldId id="279" r:id="rId20"/>
    <p:sldId id="280" r:id="rId21"/>
    <p:sldId id="281" r:id="rId22"/>
    <p:sldId id="261" r:id="rId23"/>
    <p:sldId id="283" r:id="rId24"/>
    <p:sldId id="285" r:id="rId25"/>
    <p:sldId id="286" r:id="rId26"/>
    <p:sldId id="287" r:id="rId27"/>
    <p:sldId id="257" r:id="rId28"/>
    <p:sldId id="288" r:id="rId29"/>
    <p:sldId id="289" r:id="rId30"/>
    <p:sldId id="290" r:id="rId31"/>
    <p:sldId id="294" r:id="rId32"/>
    <p:sldId id="298" r:id="rId33"/>
    <p:sldId id="299" r:id="rId34"/>
    <p:sldId id="295" r:id="rId35"/>
    <p:sldId id="297" r:id="rId36"/>
    <p:sldId id="300" r:id="rId37"/>
    <p:sldId id="301" r:id="rId38"/>
    <p:sldId id="302" r:id="rId39"/>
    <p:sldId id="303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C4AAAA"/>
    <a:srgbClr val="DEB886"/>
    <a:srgbClr val="000000"/>
    <a:srgbClr val="8A4513"/>
    <a:srgbClr val="CD8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/>
    <p:restoredTop sz="94603"/>
  </p:normalViewPr>
  <p:slideViewPr>
    <p:cSldViewPr snapToGrid="0">
      <p:cViewPr varScale="1">
        <p:scale>
          <a:sx n="73" d="100"/>
          <a:sy n="73" d="100"/>
        </p:scale>
        <p:origin x="19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2EA5A-78E9-C344-AE66-29667172F47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42E75-1FDF-C648-8CC6-4BEE00EE7D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798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68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A4E1-CFCD-61AE-43F2-889ADDD61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0B7821-170A-81B4-BDF4-5E14B6EBB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1AB220-7576-1BA0-6812-6658EC417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F21DAA-75C7-A468-AF08-EF1F7DD48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314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4632-9A00-FDD4-93C5-C74B7D92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D18CD79-AB7C-33DF-E4AF-F11928F83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0C41A48-0BA1-8CA1-DE01-8AE8058F5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F87BE9-B98D-957D-18F1-6ABAF6F28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899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249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918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864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86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456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852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017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9D37-549D-8CC9-0945-11C33063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701135-7D39-DF56-C03A-E7B586871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4DE50D-C48D-76A2-403A-A49993769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E6EF0-12FF-2E24-7648-9332AD433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2E75-1FDF-C648-8CC6-4BEE00EE7D3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365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C0A50-7B0F-D91A-D8C2-63E113B3A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9BD29B-06BE-8DA2-6D33-E852132D9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4AAE04-C353-FA4D-B507-22890839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AF4C6E-0D1C-4E8D-CDFD-3A81A082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2D6336-7255-BF45-5C80-DEDAABD08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18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28130-882B-D4FB-55B2-83D0EEF6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8A694-3B21-01C3-3A1F-5150C3F7F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EB8D4-2310-B6C1-9E2F-4ECF89DC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00BC13-E1D7-5F5D-B97C-23C21A21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2E0010-E0B1-1F4C-B09A-4B2F002D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86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D39CD4-D76F-5D22-E7B9-DCCE88A5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653751-9A29-2E12-D28E-89CC3464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E99524-1473-226D-6316-0A43E60E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C8D2FB-7A26-09FB-F6CA-0CE5959F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84CA2-0F92-CEA9-F793-80A7226C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31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178AB-1953-93ED-ACCA-EB649C8C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20088-7B8F-8A88-8709-4D7587EFF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F8FB55-9ED9-1633-C8EE-2D677C0DF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D9BCD5-2645-32AB-2EEF-F2A78659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461A03-F765-CCA1-3CB7-D4A44303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E58553-4212-F98F-0BBA-98FFA06C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904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ABFAE-896D-55D7-0CFB-68792F02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2EC643-8871-97D6-E767-1CCAE02DC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3553E8-A6A2-AAA2-9890-08009902C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571B78-9D34-F928-D7EE-038A68E74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0C3AB7-79CD-F64A-C6D8-B68526FF9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C69FE1B-73D8-CA41-F362-CC339654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B0D9F5-3A0F-9863-C9BA-F422156C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4EC5472-9FE8-9FE7-6D1E-A9A1D8D4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64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199E3-4BB2-A08B-3916-70C7D3B6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DE7E74-5793-3393-533C-C811BE73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9684FA-282D-EA6C-7CE2-940EF4F9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7AD669-CE35-9375-8592-16793F0B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08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576CF0-F2DC-F5D5-B3B9-5E74F8FC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90A016-937F-4B2D-141A-6208AC44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F260F8-28A0-77AF-0594-D3EFA723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72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C42A4-777D-421B-D281-5B666CE5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212723-592D-09C4-EC48-D8B343EAC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ED7DE1-C9F8-1298-E338-FD268D168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49642E-3D4E-3EE1-A0AA-68FB11A39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60A2D4-13C5-A3C8-023E-3A6FD47A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9C1B7B-B06E-1302-C4C6-117B340F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39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169E5-CA38-1D7E-864D-60CC6C0A9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99FF8D-3268-7AC6-ADC8-116CC32BC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38C7AC-07B3-3BDD-3F75-3828C0F1D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BFEBFA-8371-73FB-2512-E3380029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765001-FCDC-0477-018F-2EEA258B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A1BDAD-B83D-1E4B-3D9A-8047CE72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417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9498C-C955-923D-3481-F0272DA3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8ADA86-697C-88E2-0A40-71C059FAA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6D4096-16B9-8001-C987-F6E267C2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7380E7-01E0-0706-25CF-D2E49605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72557E-CE8B-BAA7-CE60-00F789EB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39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DA43B1-4C25-7457-5765-3E55DB4E4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0CC54F-95B0-184C-3D3F-B6445481E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983497-CC7F-6999-3777-28E31137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2B78C3-A8B7-18DE-72FF-517CDD78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E6475D-B326-D040-9821-200E934C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2A75C-BB45-5E65-DABD-93C20E12C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AC0656-F908-07D8-808B-7BDCABF58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8EC124-FE71-9F0B-2EC1-C32EBC0F4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AAE1C-AD26-7D47-968A-4C8520CF229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1A5B7D-8966-4054-933F-0C360463F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BAECAB-8309-D4A8-6FD8-58FB3D104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94A5-C28E-0F49-A57E-E45F50505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12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3.wdp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AAA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71355-57F0-BFA2-6CAB-388ECE296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893" y="986904"/>
            <a:ext cx="11339384" cy="4109484"/>
          </a:xfrm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2000" b="1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КЛИЕНТСКАЯ АНАЛИТИКА</a:t>
            </a:r>
            <a:endParaRPr lang="ru-RU" sz="120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6AE742-1803-8D90-4B84-504ECE0BF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766" y="237565"/>
            <a:ext cx="9501516" cy="574589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Катышева А.А., МСМТ243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ECD3577-79C1-79DC-6408-ED0D4EABB9AC}"/>
              </a:ext>
            </a:extLst>
          </p:cNvPr>
          <p:cNvSpPr txBox="1">
            <a:spLocks/>
          </p:cNvSpPr>
          <p:nvPr/>
        </p:nvSpPr>
        <p:spPr>
          <a:xfrm>
            <a:off x="426308" y="4915348"/>
            <a:ext cx="11339384" cy="11873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4000" dirty="0">
                <a:latin typeface="+mn-lt"/>
              </a:rPr>
              <a:t>по данным по заявкам на кредит в банк</a:t>
            </a:r>
            <a:endParaRPr lang="ru-RU" sz="5400" dirty="0">
              <a:latin typeface="+mn-lt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80096CD-FBA8-DB59-03F0-83D603DBE6D6}"/>
              </a:ext>
            </a:extLst>
          </p:cNvPr>
          <p:cNvSpPr txBox="1">
            <a:spLocks/>
          </p:cNvSpPr>
          <p:nvPr/>
        </p:nvSpPr>
        <p:spPr>
          <a:xfrm>
            <a:off x="511512" y="986904"/>
            <a:ext cx="11339384" cy="4109484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2000" b="1" dirty="0">
                <a:solidFill>
                  <a:srgbClr val="800000"/>
                </a:solidFill>
                <a:latin typeface="+mn-lt"/>
              </a:rPr>
              <a:t>КЛИЕНТСКАЯ АНАЛИТИКА</a:t>
            </a:r>
            <a:endParaRPr lang="ru-RU" sz="12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200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меню, снимок экрана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66CF05-9A1F-AA1B-D7BC-121CC779F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0877" y="686355"/>
            <a:ext cx="5783271" cy="5942444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EBC572D-B0B9-66F6-07B8-DCB72FB71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02" y="229201"/>
            <a:ext cx="7386458" cy="314497"/>
          </a:xfrm>
        </p:spPr>
        <p:txBody>
          <a:bodyPr>
            <a:noAutofit/>
          </a:bodyPr>
          <a:lstStyle/>
          <a:p>
            <a:r>
              <a:rPr lang="ru-RU" altLang="ru-RU" sz="1800" b="1" dirty="0">
                <a:solidFill>
                  <a:srgbClr val="000000"/>
                </a:solidFill>
                <a:latin typeface="Aptos" panose="020B0004020202020204" pitchFamily="34" charset="0"/>
              </a:rPr>
              <a:t>Статистика по уникальным, нулевым и пустым значениям</a:t>
            </a:r>
            <a:endParaRPr lang="ru-RU" sz="1800" dirty="0">
              <a:latin typeface="Aptos" panose="020B0004020202020204" pitchFamily="34" charset="0"/>
            </a:endParaRPr>
          </a:p>
        </p:txBody>
      </p:sp>
      <p:pic>
        <p:nvPicPr>
          <p:cNvPr id="7" name="Рисунок 6" descr="Изображение выглядит как текст, снимок экран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E8EA54-CB35-31C2-A7D6-50A2E5A52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870" y="1218450"/>
            <a:ext cx="5218253" cy="487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4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8659A-906A-CE11-5F22-14338AE2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03" y="229201"/>
            <a:ext cx="5257800" cy="314497"/>
          </a:xfrm>
        </p:spPr>
        <p:txBody>
          <a:bodyPr>
            <a:noAutofit/>
          </a:bodyPr>
          <a:lstStyle/>
          <a:p>
            <a:r>
              <a:rPr lang="ru-RU" altLang="ru-RU" sz="1800" b="1" dirty="0">
                <a:solidFill>
                  <a:srgbClr val="000000"/>
                </a:solidFill>
                <a:latin typeface="Aptos" panose="020B0004020202020204" pitchFamily="34" charset="0"/>
              </a:rPr>
              <a:t>Социально-демографические характеристики</a:t>
            </a:r>
            <a:endParaRPr lang="ru-RU" sz="1800" dirty="0">
              <a:latin typeface="Aptos" panose="020B0004020202020204" pitchFamily="34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70F2280-4F53-E80C-032C-35B7C49E6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187846"/>
              </p:ext>
            </p:extLst>
          </p:nvPr>
        </p:nvGraphicFramePr>
        <p:xfrm>
          <a:off x="380999" y="643963"/>
          <a:ext cx="11430001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3767">
                  <a:extLst>
                    <a:ext uri="{9D8B030D-6E8A-4147-A177-3AD203B41FA5}">
                      <a16:colId xmlns:a16="http://schemas.microsoft.com/office/drawing/2014/main" val="438801978"/>
                    </a:ext>
                  </a:extLst>
                </a:gridCol>
                <a:gridCol w="8276234">
                  <a:extLst>
                    <a:ext uri="{9D8B030D-6E8A-4147-A177-3AD203B41FA5}">
                      <a16:colId xmlns:a16="http://schemas.microsoft.com/office/drawing/2014/main" val="4069623762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2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800000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Возраст</a:t>
                      </a:r>
                    </a:p>
                  </a:txBody>
                  <a:tcPr>
                    <a:solidFill>
                      <a:srgbClr val="800000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3004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SEX</a:t>
                      </a:r>
                      <a:endParaRPr lang="ru-RU" sz="1200" dirty="0"/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Пол</a:t>
                      </a:r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67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ru-RU" altLang="ru-RU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EDUCATION</a:t>
                      </a:r>
                      <a:endParaRPr lang="ru-RU" sz="1200" dirty="0"/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Образование</a:t>
                      </a:r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1533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FAMILY_STATUS</a:t>
                      </a:r>
                      <a:endParaRPr lang="ru-RU" sz="1200" dirty="0"/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Семейное положение</a:t>
                      </a:r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28499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FULL_AGE_CHILD_NUMBER</a:t>
                      </a:r>
                      <a:endParaRPr lang="ru-RU" sz="1200" dirty="0"/>
                    </a:p>
                  </a:txBody>
                  <a:tcPr>
                    <a:solidFill>
                      <a:srgbClr val="800000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Количество лет ребенку</a:t>
                      </a:r>
                    </a:p>
                  </a:txBody>
                  <a:tcPr>
                    <a:solidFill>
                      <a:srgbClr val="800000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346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DEPENDANT_NUMBER</a:t>
                      </a:r>
                      <a:endParaRPr lang="ru-RU" sz="1200" dirty="0"/>
                    </a:p>
                  </a:txBody>
                  <a:tcPr>
                    <a:solidFill>
                      <a:srgbClr val="800000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Количество иждивенцев</a:t>
                      </a:r>
                    </a:p>
                  </a:txBody>
                  <a:tcPr>
                    <a:solidFill>
                      <a:srgbClr val="800000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85156"/>
                  </a:ext>
                </a:extLst>
              </a:tr>
            </a:tbl>
          </a:graphicData>
        </a:graphic>
      </p:graphicFrame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1453CAF-D1E5-2605-84E9-8EB9D6D3E765}"/>
              </a:ext>
            </a:extLst>
          </p:cNvPr>
          <p:cNvSpPr txBox="1">
            <a:spLocks/>
          </p:cNvSpPr>
          <p:nvPr/>
        </p:nvSpPr>
        <p:spPr>
          <a:xfrm>
            <a:off x="294502" y="2619989"/>
            <a:ext cx="5257800" cy="314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1800" b="1" dirty="0">
                <a:solidFill>
                  <a:srgbClr val="000000"/>
                </a:solidFill>
                <a:latin typeface="Aptos" panose="020B0004020202020204" pitchFamily="34" charset="0"/>
              </a:rPr>
              <a:t>Занятость и доход</a:t>
            </a:r>
            <a:endParaRPr lang="ru-RU" sz="1800" dirty="0">
              <a:latin typeface="Aptos" panose="020B0004020202020204" pitchFamily="34" charset="0"/>
            </a:endParaRPr>
          </a:p>
        </p:txBody>
      </p:sp>
      <p:graphicFrame>
        <p:nvGraphicFramePr>
          <p:cNvPr id="14" name="Объект 3">
            <a:extLst>
              <a:ext uri="{FF2B5EF4-FFF2-40B4-BE49-F238E27FC236}">
                <a16:creationId xmlns:a16="http://schemas.microsoft.com/office/drawing/2014/main" id="{9B336666-4889-BA69-ECDD-9D961836A8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3635426"/>
              </p:ext>
            </p:extLst>
          </p:nvPr>
        </p:nvGraphicFramePr>
        <p:xfrm>
          <a:off x="380998" y="3034751"/>
          <a:ext cx="11430001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3767">
                  <a:extLst>
                    <a:ext uri="{9D8B030D-6E8A-4147-A177-3AD203B41FA5}">
                      <a16:colId xmlns:a16="http://schemas.microsoft.com/office/drawing/2014/main" val="438801978"/>
                    </a:ext>
                  </a:extLst>
                </a:gridCol>
                <a:gridCol w="8276234">
                  <a:extLst>
                    <a:ext uri="{9D8B030D-6E8A-4147-A177-3AD203B41FA5}">
                      <a16:colId xmlns:a16="http://schemas.microsoft.com/office/drawing/2014/main" val="4069623762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EMPL_TYPE</a:t>
                      </a: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C4AAAA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Должность</a:t>
                      </a:r>
                    </a:p>
                  </a:txBody>
                  <a:tcPr>
                    <a:solidFill>
                      <a:srgbClr val="C4AAAA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3004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EMPL_SIZE</a:t>
                      </a:r>
                      <a:endParaRPr lang="ru-RU" sz="1200" dirty="0"/>
                    </a:p>
                  </a:txBody>
                  <a:tcPr>
                    <a:solidFill>
                      <a:srgbClr val="C4AAAA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Зарплата</a:t>
                      </a:r>
                    </a:p>
                  </a:txBody>
                  <a:tcPr>
                    <a:solidFill>
                      <a:srgbClr val="C4AAAA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6728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EMPL_PROPERTY</a:t>
                      </a:r>
                      <a:endParaRPr lang="ru-RU" sz="1200" dirty="0"/>
                    </a:p>
                  </a:txBody>
                  <a:tcPr>
                    <a:solidFill>
                      <a:srgbClr val="C4AAAA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Сфера бизнеса работодателя</a:t>
                      </a:r>
                    </a:p>
                  </a:txBody>
                  <a:tcPr>
                    <a:solidFill>
                      <a:srgbClr val="C4AAAA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1533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EMPL_FORM</a:t>
                      </a:r>
                      <a:endParaRPr lang="ru-RU" sz="1200" dirty="0"/>
                    </a:p>
                  </a:txBody>
                  <a:tcPr>
                    <a:solidFill>
                      <a:srgbClr val="C4AAAA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Организационно-правовая форма</a:t>
                      </a:r>
                    </a:p>
                  </a:txBody>
                  <a:tcPr>
                    <a:solidFill>
                      <a:srgbClr val="C4AAAA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28499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Period_at_work</a:t>
                      </a:r>
                      <a:endParaRPr lang="ru-RU" sz="1200" dirty="0"/>
                    </a:p>
                  </a:txBody>
                  <a:tcPr>
                    <a:solidFill>
                      <a:srgbClr val="800000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Стаж работы в днях</a:t>
                      </a:r>
                    </a:p>
                  </a:txBody>
                  <a:tcPr>
                    <a:solidFill>
                      <a:srgbClr val="800000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346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B8ED1CC-27A4-E220-538A-183C5089CA75}"/>
              </a:ext>
            </a:extLst>
          </p:cNvPr>
          <p:cNvSpPr txBox="1"/>
          <p:nvPr/>
        </p:nvSpPr>
        <p:spPr>
          <a:xfrm>
            <a:off x="380998" y="5901831"/>
            <a:ext cx="3202460" cy="338554"/>
          </a:xfrm>
          <a:prstGeom prst="rect">
            <a:avLst/>
          </a:prstGeom>
          <a:solidFill>
            <a:srgbClr val="C4AAAA">
              <a:alpha val="29804"/>
            </a:srgbClr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sz="1600" dirty="0"/>
              <a:t>категориальные переменные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6DE317-0936-79B4-D8C2-C49115616DFB}"/>
              </a:ext>
            </a:extLst>
          </p:cNvPr>
          <p:cNvSpPr txBox="1"/>
          <p:nvPr/>
        </p:nvSpPr>
        <p:spPr>
          <a:xfrm>
            <a:off x="380998" y="5432274"/>
            <a:ext cx="3202460" cy="338554"/>
          </a:xfrm>
          <a:prstGeom prst="rect">
            <a:avLst/>
          </a:prstGeom>
          <a:solidFill>
            <a:srgbClr val="800000">
              <a:alpha val="29804"/>
            </a:srgbClr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sz="1600" dirty="0"/>
              <a:t>количественные переменные</a:t>
            </a:r>
          </a:p>
        </p:txBody>
      </p:sp>
    </p:spTree>
    <p:extLst>
      <p:ext uri="{BB962C8B-B14F-4D97-AF65-F5344CB8AC3E}">
        <p14:creationId xmlns:p14="http://schemas.microsoft.com/office/powerpoint/2010/main" val="270162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8CC9-D998-5C94-3240-4D9240602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A1B9E33-820A-E490-45F4-F97BF8948480}"/>
              </a:ext>
            </a:extLst>
          </p:cNvPr>
          <p:cNvSpPr txBox="1">
            <a:spLocks/>
          </p:cNvSpPr>
          <p:nvPr/>
        </p:nvSpPr>
        <p:spPr>
          <a:xfrm>
            <a:off x="294503" y="229201"/>
            <a:ext cx="5257800" cy="314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1800" b="1" dirty="0">
                <a:solidFill>
                  <a:srgbClr val="000000"/>
                </a:solidFill>
                <a:latin typeface="Aptos" panose="020B0004020202020204" pitchFamily="34" charset="0"/>
              </a:rPr>
              <a:t>Банковская активность</a:t>
            </a:r>
          </a:p>
        </p:txBody>
      </p:sp>
      <p:graphicFrame>
        <p:nvGraphicFramePr>
          <p:cNvPr id="14" name="Объект 3">
            <a:extLst>
              <a:ext uri="{FF2B5EF4-FFF2-40B4-BE49-F238E27FC236}">
                <a16:creationId xmlns:a16="http://schemas.microsoft.com/office/drawing/2014/main" id="{A6E43C07-B61B-99E0-DA78-7243EFE5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9945313"/>
              </p:ext>
            </p:extLst>
          </p:nvPr>
        </p:nvGraphicFramePr>
        <p:xfrm>
          <a:off x="380999" y="643963"/>
          <a:ext cx="11456773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1833">
                  <a:extLst>
                    <a:ext uri="{9D8B030D-6E8A-4147-A177-3AD203B41FA5}">
                      <a16:colId xmlns:a16="http://schemas.microsoft.com/office/drawing/2014/main" val="438801978"/>
                    </a:ext>
                  </a:extLst>
                </a:gridCol>
                <a:gridCol w="6474940">
                  <a:extLst>
                    <a:ext uri="{9D8B030D-6E8A-4147-A177-3AD203B41FA5}">
                      <a16:colId xmlns:a16="http://schemas.microsoft.com/office/drawing/2014/main" val="4069623762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BANKACCOUNT_FLAG</a:t>
                      </a: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Количество аккаунтов у клиента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3004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num_AccountActive180, num_AccountActive90, num_AccountActive60</a:t>
                      </a: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Aptos" panose="020B0004020202020204" pitchFamily="34" charset="0"/>
                        </a:rPr>
                        <a:t>Количество активных счетов за последние 180 / 90 / 60 дней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943703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numAccountActiveAll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Количество открытых счетов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1533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numAccountClosed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Aptos" panose="020B0004020202020204" pitchFamily="34" charset="0"/>
                        </a:rPr>
                        <a:t>Количество закрытых счетов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28499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Active_to_All_prc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Отношение активных счетов ко всем счетам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3466"/>
                  </a:ext>
                </a:extLst>
              </a:tr>
            </a:tbl>
          </a:graphicData>
        </a:graphic>
      </p:graphicFrame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4CD4BCB6-1C68-A271-F470-BF9D7EDA5060}"/>
              </a:ext>
            </a:extLst>
          </p:cNvPr>
          <p:cNvSpPr txBox="1">
            <a:spLocks/>
          </p:cNvSpPr>
          <p:nvPr/>
        </p:nvSpPr>
        <p:spPr>
          <a:xfrm>
            <a:off x="294503" y="2150425"/>
            <a:ext cx="5257800" cy="314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1800" b="1" dirty="0">
                <a:solidFill>
                  <a:srgbClr val="000000"/>
                </a:solidFill>
                <a:latin typeface="Aptos" panose="020B0004020202020204" pitchFamily="34" charset="0"/>
              </a:rPr>
              <a:t>Кредитная активность</a:t>
            </a:r>
          </a:p>
        </p:txBody>
      </p:sp>
      <p:graphicFrame>
        <p:nvGraphicFramePr>
          <p:cNvPr id="16" name="Объект 3">
            <a:extLst>
              <a:ext uri="{FF2B5EF4-FFF2-40B4-BE49-F238E27FC236}">
                <a16:creationId xmlns:a16="http://schemas.microsoft.com/office/drawing/2014/main" id="{15751489-4CB5-E369-A7C1-FCEE401818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940045"/>
              </p:ext>
            </p:extLst>
          </p:nvPr>
        </p:nvGraphicFramePr>
        <p:xfrm>
          <a:off x="381000" y="2565187"/>
          <a:ext cx="11456772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4189">
                  <a:extLst>
                    <a:ext uri="{9D8B030D-6E8A-4147-A177-3AD203B41FA5}">
                      <a16:colId xmlns:a16="http://schemas.microsoft.com/office/drawing/2014/main" val="438801978"/>
                    </a:ext>
                  </a:extLst>
                </a:gridCol>
                <a:gridCol w="6462583">
                  <a:extLst>
                    <a:ext uri="{9D8B030D-6E8A-4147-A177-3AD203B41FA5}">
                      <a16:colId xmlns:a16="http://schemas.microsoft.com/office/drawing/2014/main" val="4069623762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DTI</a:t>
                      </a: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(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debt-to-income ratio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Отношение долга к доходам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132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INCOME_BASE_TYPE</a:t>
                      </a: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Подтверждение дохода</a:t>
                      </a:r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3004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CREDIT_PURPOSE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Цель получения кредита</a:t>
                      </a:r>
                    </a:p>
                  </a:txBody>
                  <a:tcPr>
                    <a:solidFill>
                      <a:srgbClr val="C4AA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6728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INSURANCE_FLAG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Страхование заемщика при получении кредита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1533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max90days, max60days, max30days, max21days, max14days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Количество запросов в 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бюро кредитных историй за последние 90 / 60 / 30 / 21 / 14 дней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284998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avg_num_delay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Среднее количество дней задержки оплаты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3466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if_zalog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Наличие залога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53371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sum_of_paym_months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Сумма платежей за последний месяц (в тыс. руб.)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101473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all_credits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Количество кредитов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147300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Active_not_cc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Активные кредитные счета (не кредитная карта)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624203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own_closed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Количество закрытых кредитов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65172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min_MnthAfterLoan</a:t>
                      </a: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max_MnthAfterLoan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Минимальное количество месяцев с последнего / первого взятия кредита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07383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dlq_exist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Наличие просрочки на данный момент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58505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thirty_in_a_year</a:t>
                      </a: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sixty_in_a_year</a:t>
                      </a: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ninety_in_a_year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ptos" panose="020B0004020202020204" pitchFamily="34" charset="0"/>
                        </a:rPr>
                        <a:t>Просрочка больше 30 / 60 / 90 дней за последний год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154676"/>
                  </a:ext>
                </a:extLst>
              </a:tr>
              <a:tr h="189434">
                <a:tc>
                  <a:txBody>
                    <a:bodyPr/>
                    <a:lstStyle/>
                    <a:p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thirty_vintage</a:t>
                      </a: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sixty_vintage</a:t>
                      </a:r>
                      <a:r>
                        <a:rPr kumimoji="0" lang="ru-RU" alt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kumimoji="0" lang="ru-RU" alt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ninety_vintage</a:t>
                      </a:r>
                      <a:endParaRPr lang="ru-RU" sz="12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Aptos" panose="020B0004020202020204" pitchFamily="34" charset="0"/>
                        </a:rPr>
                        <a:t>Просрочка больше 30 / 60 / 90 дней за все время</a:t>
                      </a:r>
                    </a:p>
                  </a:txBody>
                  <a:tcPr>
                    <a:solidFill>
                      <a:srgbClr val="80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722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10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7E81F-0611-D192-C0E4-7667B0631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890B49F4-EA67-153A-EA36-697F666F0334}"/>
              </a:ext>
            </a:extLst>
          </p:cNvPr>
          <p:cNvSpPr txBox="1">
            <a:spLocks/>
          </p:cNvSpPr>
          <p:nvPr/>
        </p:nvSpPr>
        <p:spPr>
          <a:xfrm>
            <a:off x="294502" y="229201"/>
            <a:ext cx="7131533" cy="2834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Анализ количественных переменных</a:t>
            </a:r>
          </a:p>
        </p:txBody>
      </p:sp>
      <p:pic>
        <p:nvPicPr>
          <p:cNvPr id="3" name="Рисунок 2" descr="Изображение выглядит как текст, меню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F3AA7C-C521-FC90-2464-BBE0FA5844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265"/>
          <a:stretch>
            <a:fillRect/>
          </a:stretch>
        </p:blipFill>
        <p:spPr>
          <a:xfrm>
            <a:off x="294503" y="802253"/>
            <a:ext cx="9473965" cy="584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8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E5F6-327D-4187-FD50-90FE2B8D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D74EF33-A844-6775-3BA9-D01132527FD6}"/>
              </a:ext>
            </a:extLst>
          </p:cNvPr>
          <p:cNvSpPr txBox="1">
            <a:spLocks/>
          </p:cNvSpPr>
          <p:nvPr/>
        </p:nvSpPr>
        <p:spPr>
          <a:xfrm>
            <a:off x="294502" y="229201"/>
            <a:ext cx="6369533" cy="3238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Анализ количественных переменных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3C59C851-C9DA-615B-CB3C-9C6B00B700FC}"/>
              </a:ext>
            </a:extLst>
          </p:cNvPr>
          <p:cNvGrpSpPr/>
          <p:nvPr/>
        </p:nvGrpSpPr>
        <p:grpSpPr>
          <a:xfrm>
            <a:off x="294507" y="779951"/>
            <a:ext cx="9473966" cy="5665454"/>
            <a:chOff x="2698750" y="2552221"/>
            <a:chExt cx="7772400" cy="4562842"/>
          </a:xfrm>
        </p:grpSpPr>
        <p:pic>
          <p:nvPicPr>
            <p:cNvPr id="5" name="Рисунок 4" descr="Изображение выглядит как текст, меню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D1C8036F-8EB3-4F40-3C38-BE1B0D0B5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053"/>
            <a:stretch>
              <a:fillRect/>
            </a:stretch>
          </p:blipFill>
          <p:spPr>
            <a:xfrm>
              <a:off x="2698750" y="2808201"/>
              <a:ext cx="7772400" cy="430686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текст, меню, снимок экрана, число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F7FC653B-3FCB-20F8-7FF0-FBEE90AD5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96046"/>
            <a:stretch>
              <a:fillRect/>
            </a:stretch>
          </p:blipFill>
          <p:spPr>
            <a:xfrm>
              <a:off x="2698750" y="2552221"/>
              <a:ext cx="7772400" cy="2608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458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Шрифт, белый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22FF98-2FBE-69A6-6DE9-04BA075C5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503" y="840921"/>
            <a:ext cx="11249589" cy="2671205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52BB2-CF96-94A7-EEFD-AAB13D025CF2}"/>
              </a:ext>
            </a:extLst>
          </p:cNvPr>
          <p:cNvSpPr txBox="1">
            <a:spLocks/>
          </p:cNvSpPr>
          <p:nvPr/>
        </p:nvSpPr>
        <p:spPr>
          <a:xfrm>
            <a:off x="294502" y="229201"/>
            <a:ext cx="6369533" cy="3238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Анализ пустых значений переменных</a:t>
            </a:r>
          </a:p>
        </p:txBody>
      </p:sp>
    </p:spTree>
    <p:extLst>
      <p:ext uri="{BB962C8B-B14F-4D97-AF65-F5344CB8AC3E}">
        <p14:creationId xmlns:p14="http://schemas.microsoft.com/office/powerpoint/2010/main" val="3671003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5F8E-EF17-0242-F7A0-A92ECD217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E70FBF9-48A4-1CE6-CE77-52A39A996AC2}"/>
              </a:ext>
            </a:extLst>
          </p:cNvPr>
          <p:cNvSpPr txBox="1">
            <a:spLocks/>
          </p:cNvSpPr>
          <p:nvPr/>
        </p:nvSpPr>
        <p:spPr>
          <a:xfrm>
            <a:off x="381000" y="42646"/>
            <a:ext cx="11430000" cy="8833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Анализ уникальных значений категориальных переменных</a:t>
            </a:r>
          </a:p>
        </p:txBody>
      </p:sp>
      <p:pic>
        <p:nvPicPr>
          <p:cNvPr id="7" name="Объект 6" descr="Изображение выглядит как текст, снимок экрана, Шрифт, визитная карто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CC79AA-F63D-67C0-1E21-466E4D754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502" y="1118946"/>
            <a:ext cx="6764312" cy="3439204"/>
          </a:xfrm>
        </p:spPr>
      </p:pic>
      <p:pic>
        <p:nvPicPr>
          <p:cNvPr id="9" name="Рисунок 8" descr="Изображение выглядит как текст, снимок экран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DAAFD3-7604-42BD-6E3B-9AB670472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536" y="1118946"/>
            <a:ext cx="4449776" cy="343920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62A1A72D-CD1E-6AB5-2DA8-D25EA699A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728" y="4741488"/>
            <a:ext cx="4942516" cy="17518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Доля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мужчин 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незначительно превышает долю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женщин 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среди клиентов банка, отклонение от 50/50 примерно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5% </a:t>
            </a:r>
            <a:endParaRPr kumimoji="0" lang="ru-RU" altLang="ru-RU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EF6BC9-2D6B-A0B9-41BF-55F44B5E9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741488"/>
            <a:ext cx="4942516" cy="17518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Самая частая форма подтверждения дохода –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предоставление справки 2НДФЛ 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или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поступление зарплаты на счет</a:t>
            </a:r>
            <a:endParaRPr lang="ru-RU" altLang="ru-RU" sz="2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5663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F92F9-1722-BC2E-9F87-CE34B63B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BCDDE18-5338-CCBA-7E5A-EB42E9AC93DB}"/>
              </a:ext>
            </a:extLst>
          </p:cNvPr>
          <p:cNvSpPr txBox="1">
            <a:spLocks/>
          </p:cNvSpPr>
          <p:nvPr/>
        </p:nvSpPr>
        <p:spPr>
          <a:xfrm>
            <a:off x="1449578" y="188217"/>
            <a:ext cx="9292843" cy="584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Анализ уникальных значений категориальных переменных</a:t>
            </a:r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D4B579-4C30-692C-F61F-500CCBF61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" y="907524"/>
            <a:ext cx="6828481" cy="4100903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8BFE5F-9439-688B-229F-6FA68ED02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748" y="2653528"/>
            <a:ext cx="6961998" cy="4100903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B1AB2365-7245-0C80-E919-A33CB013F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253" y="1225401"/>
            <a:ext cx="4198293" cy="10026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Больше половины клиентов имеют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высшее образование</a:t>
            </a:r>
            <a:endParaRPr kumimoji="0" lang="ru-RU" altLang="ru-RU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5410255-C4A7-12BC-A0FE-A249ECC0B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18" y="5229475"/>
            <a:ext cx="5661001" cy="13772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Больше половины клиентов берут кредит на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ремонт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м</a:t>
            </a:r>
            <a:r>
              <a:rPr lang="ru-RU" altLang="ru-RU" sz="2200" dirty="0">
                <a:solidFill>
                  <a:srgbClr val="000000"/>
                </a:solidFill>
                <a:latin typeface="+mn-lt"/>
              </a:rPr>
              <a:t>н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огие покупают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автомобили 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и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недвижимость 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 кредит</a:t>
            </a:r>
            <a:endParaRPr lang="ru-RU" altLang="ru-RU" sz="2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FA366B-BF24-4115-8082-004F60BBCBF1}"/>
              </a:ext>
            </a:extLst>
          </p:cNvPr>
          <p:cNvSpPr txBox="1"/>
          <p:nvPr/>
        </p:nvSpPr>
        <p:spPr>
          <a:xfrm>
            <a:off x="8579924" y="5554902"/>
            <a:ext cx="2258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ru-RU" sz="1400" b="1" dirty="0">
                <a:solidFill>
                  <a:srgbClr val="000000"/>
                </a:solidFill>
              </a:rPr>
              <a:t>некорректные значения</a:t>
            </a:r>
            <a:endParaRPr lang="ru-RU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025D4-1262-453A-A100-F502828B5453}"/>
              </a:ext>
            </a:extLst>
          </p:cNvPr>
          <p:cNvSpPr txBox="1"/>
          <p:nvPr/>
        </p:nvSpPr>
        <p:spPr>
          <a:xfrm>
            <a:off x="9668899" y="3893157"/>
            <a:ext cx="2470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1400" b="1" dirty="0">
                <a:solidFill>
                  <a:srgbClr val="000000"/>
                </a:solidFill>
              </a:rPr>
              <a:t>объединенная категория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6BBE5-2F7E-D431-FC81-C2BB055D0702}"/>
              </a:ext>
            </a:extLst>
          </p:cNvPr>
          <p:cNvSpPr txBox="1"/>
          <p:nvPr/>
        </p:nvSpPr>
        <p:spPr>
          <a:xfrm>
            <a:off x="3680848" y="2804086"/>
            <a:ext cx="2470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1400" b="1" dirty="0">
                <a:solidFill>
                  <a:srgbClr val="000000"/>
                </a:solidFill>
              </a:rPr>
              <a:t>объединенная категория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327375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A653-ED50-E9E0-502D-9D4A698B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463509-92E6-616A-DD97-434CD1BF4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1211" y="2478642"/>
            <a:ext cx="6454178" cy="4204995"/>
          </a:xfrm>
        </p:spPr>
      </p:pic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17A5D79-B001-26EB-61FE-C64EADE12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70" y="814229"/>
            <a:ext cx="5808760" cy="4087646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7334EAE-31B1-5AED-B8D4-E832C566A5F7}"/>
              </a:ext>
            </a:extLst>
          </p:cNvPr>
          <p:cNvSpPr txBox="1">
            <a:spLocks/>
          </p:cNvSpPr>
          <p:nvPr/>
        </p:nvSpPr>
        <p:spPr>
          <a:xfrm>
            <a:off x="1449578" y="188217"/>
            <a:ext cx="9292843" cy="584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Анализ уникальных значений категориальных переменных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7DE784-89F9-B0E0-204F-BF63F26BE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20" y="5291417"/>
            <a:ext cx="4198293" cy="10026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Наибольшая доля клиентов находится в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браке</a:t>
            </a:r>
            <a:endParaRPr kumimoji="0" lang="ru-RU" altLang="ru-RU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96C20A1-AFD7-A50A-ECF2-126D0576F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274" y="1115304"/>
            <a:ext cx="4646656" cy="10026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Клиенты заняты в основном в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торговле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и в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производстве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endParaRPr kumimoji="0" lang="ru-RU" altLang="ru-RU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172B9-E48A-4C19-ECD8-238C4D2E98FA}"/>
              </a:ext>
            </a:extLst>
          </p:cNvPr>
          <p:cNvSpPr txBox="1"/>
          <p:nvPr/>
        </p:nvSpPr>
        <p:spPr>
          <a:xfrm>
            <a:off x="10746006" y="3468935"/>
            <a:ext cx="1600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1400" b="1" dirty="0">
                <a:solidFill>
                  <a:srgbClr val="000000"/>
                </a:solidFill>
              </a:rPr>
              <a:t>объединенная категория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83494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F786-C56F-127C-4631-4CEBFEC73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A26F0C-6963-FA50-10A6-A8C441919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02" y="936290"/>
            <a:ext cx="3726142" cy="320692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68939B-E022-E43D-459F-FF4967BC991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09461" y="936290"/>
            <a:ext cx="4902015" cy="3206926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8B5359C-602D-A21F-CECF-C588AD0ACBB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1372" y="936290"/>
            <a:ext cx="5299063" cy="334436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EEC42-4334-7463-5467-9DF7520FB8D9}"/>
              </a:ext>
            </a:extLst>
          </p:cNvPr>
          <p:cNvSpPr txBox="1">
            <a:spLocks/>
          </p:cNvSpPr>
          <p:nvPr/>
        </p:nvSpPr>
        <p:spPr>
          <a:xfrm>
            <a:off x="1449578" y="188217"/>
            <a:ext cx="9292843" cy="584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Анализ уникальных значений категориальных переменных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12A5EFB-1E2B-313D-0EDB-696D0C33D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94" y="4903941"/>
            <a:ext cx="3589335" cy="1252800"/>
          </a:xfrm>
          <a:prstGeom prst="roundRect">
            <a:avLst>
              <a:gd name="adj" fmla="val 1406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Большая часть клиентов зарабатывают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свыше 250 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тысяч рублей в месяц</a:t>
            </a:r>
            <a:endParaRPr kumimoji="0" lang="ru-RU" altLang="ru-RU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D5E1D8-1559-BD02-5E74-D6420FA9A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332" y="4903048"/>
            <a:ext cx="3589335" cy="1230508"/>
          </a:xfrm>
          <a:prstGeom prst="roundRect">
            <a:avLst>
              <a:gd name="adj" fmla="val 1145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Примерно 1/3 клиентов занимают должность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специалиста</a:t>
            </a:r>
            <a:endParaRPr kumimoji="0" lang="ru-RU" altLang="ru-RU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28E21FF-4C29-63CD-1DB2-67E8B1B28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171" y="4903048"/>
            <a:ext cx="3589335" cy="1219362"/>
          </a:xfrm>
          <a:prstGeom prst="roundRect">
            <a:avLst>
              <a:gd name="adj" fmla="val 95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Самая частая форма организационно-правовой формы бизнеса –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ООО</a:t>
            </a:r>
            <a:endParaRPr kumimoji="0" lang="ru-RU" altLang="ru-RU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B5833B-606B-B330-BE8A-A1F08CE2422B}"/>
              </a:ext>
            </a:extLst>
          </p:cNvPr>
          <p:cNvSpPr txBox="1"/>
          <p:nvPr/>
        </p:nvSpPr>
        <p:spPr>
          <a:xfrm>
            <a:off x="5594266" y="3574558"/>
            <a:ext cx="1600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1400" b="1" dirty="0">
                <a:solidFill>
                  <a:srgbClr val="000000"/>
                </a:solidFill>
              </a:rPr>
              <a:t>объединенная категория</a:t>
            </a:r>
            <a:endParaRPr lang="ru-R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7E85EA-7F66-98B5-584B-3BB66A82DF55}"/>
              </a:ext>
            </a:extLst>
          </p:cNvPr>
          <p:cNvSpPr txBox="1"/>
          <p:nvPr/>
        </p:nvSpPr>
        <p:spPr>
          <a:xfrm>
            <a:off x="1061818" y="3491983"/>
            <a:ext cx="2319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1400" b="1" dirty="0">
                <a:solidFill>
                  <a:srgbClr val="000000"/>
                </a:solidFill>
              </a:rPr>
              <a:t>дублирующая категория</a:t>
            </a:r>
            <a:endParaRPr lang="ru-RU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81F11-3558-58B7-119E-CEBEB39002EA}"/>
              </a:ext>
            </a:extLst>
          </p:cNvPr>
          <p:cNvSpPr txBox="1"/>
          <p:nvPr/>
        </p:nvSpPr>
        <p:spPr>
          <a:xfrm>
            <a:off x="9382943" y="3831770"/>
            <a:ext cx="2562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1400" b="1" dirty="0">
                <a:solidFill>
                  <a:srgbClr val="000000"/>
                </a:solidFill>
              </a:rPr>
              <a:t>объединенная категория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79692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FB0F-21B6-E118-293E-B32A3BF63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8B7904F-4007-C9AB-5060-1B340BCFEA5A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количественных бинарных переменных</a:t>
            </a:r>
          </a:p>
        </p:txBody>
      </p:sp>
      <p:pic>
        <p:nvPicPr>
          <p:cNvPr id="3" name="Рисунок 2" descr="Изображение выглядит как круг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C45AAC-CCBC-D858-9CA6-E0F6F5294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2" y="647818"/>
            <a:ext cx="6989956" cy="6080371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18AE26D-1336-2762-96DE-B5D5B0557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435" y="957273"/>
            <a:ext cx="4224035" cy="5461459"/>
          </a:xfrm>
          <a:prstGeom prst="roundRect">
            <a:avLst>
              <a:gd name="adj" fmla="val 655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dirty="0">
                <a:latin typeface="Aptos" panose="020B0004020202020204" pitchFamily="34" charset="0"/>
              </a:rPr>
              <a:t>Среди клиентов банка преобладают люди </a:t>
            </a:r>
            <a:r>
              <a:rPr lang="ru-RU" altLang="ru-RU" sz="2200" b="1" dirty="0">
                <a:latin typeface="Aptos" panose="020B0004020202020204" pitchFamily="34" charset="0"/>
              </a:rPr>
              <a:t>без страховки</a:t>
            </a:r>
            <a:r>
              <a:rPr lang="ru-RU" altLang="ru-RU" sz="2200" dirty="0">
                <a:latin typeface="Aptos" panose="020B0004020202020204" pitchFamily="34" charset="0"/>
              </a:rPr>
              <a:t> (61%) и </a:t>
            </a:r>
            <a:r>
              <a:rPr lang="ru-RU" altLang="ru-RU" sz="2200" b="1" dirty="0">
                <a:latin typeface="Aptos" panose="020B0004020202020204" pitchFamily="34" charset="0"/>
              </a:rPr>
              <a:t>без залога </a:t>
            </a:r>
            <a:r>
              <a:rPr lang="ru-RU" altLang="ru-RU" sz="2200" dirty="0">
                <a:latin typeface="Aptos" panose="020B0004020202020204" pitchFamily="34" charset="0"/>
              </a:rPr>
              <a:t>(66%) с просрочкой </a:t>
            </a:r>
            <a:r>
              <a:rPr lang="ru-RU" altLang="ru-RU" sz="2200" b="1" dirty="0">
                <a:latin typeface="Aptos" panose="020B0004020202020204" pitchFamily="34" charset="0"/>
              </a:rPr>
              <a:t>до 30 </a:t>
            </a:r>
            <a:r>
              <a:rPr lang="ru-RU" altLang="ru-RU" sz="2200" dirty="0">
                <a:latin typeface="Aptos" panose="020B0004020202020204" pitchFamily="34" charset="0"/>
              </a:rPr>
              <a:t>дней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2200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dirty="0">
                <a:latin typeface="Aptos" panose="020B0004020202020204" pitchFamily="34" charset="0"/>
              </a:rPr>
              <a:t>Доля клиентов, не имеющих просрочки по кредитам свыше 1 месяца, в текущем году составляет порядка </a:t>
            </a:r>
            <a:r>
              <a:rPr lang="ru-RU" altLang="ru-RU" sz="2200" b="1" dirty="0">
                <a:latin typeface="Aptos" panose="020B0004020202020204" pitchFamily="34" charset="0"/>
              </a:rPr>
              <a:t>85%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2200" b="1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dirty="0">
                <a:latin typeface="Aptos" panose="020B0004020202020204" pitchFamily="34" charset="0"/>
              </a:rPr>
              <a:t>Количество клиентов с просрочкой свыше 30 дней когда-либо минимально (меньше </a:t>
            </a:r>
            <a:r>
              <a:rPr lang="ru-RU" altLang="ru-RU" sz="2200" b="1" dirty="0">
                <a:latin typeface="Aptos" panose="020B0004020202020204" pitchFamily="34" charset="0"/>
              </a:rPr>
              <a:t>5%)</a:t>
            </a:r>
          </a:p>
        </p:txBody>
      </p:sp>
    </p:spTree>
    <p:extLst>
      <p:ext uri="{BB962C8B-B14F-4D97-AF65-F5344CB8AC3E}">
        <p14:creationId xmlns:p14="http://schemas.microsoft.com/office/powerpoint/2010/main" val="318806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5CA3-70B3-E5D8-F539-3C28D156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снимок экран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2C97F3-2032-DC0E-085C-ABFF50BF1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2" y="692454"/>
            <a:ext cx="9189808" cy="2587789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, текст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469F85-7C24-D1DE-C2D6-D35063FD0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02" y="3429000"/>
            <a:ext cx="7297789" cy="315336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A9407-BBE6-E2B6-F0A5-38A5F77449A1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количественных переменных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29BA5D-D021-B38F-CDF0-66F6F4DC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397" y="1885413"/>
            <a:ext cx="3398098" cy="2699580"/>
          </a:xfrm>
          <a:prstGeom prst="roundRect">
            <a:avLst>
              <a:gd name="adj" fmla="val 655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ptos" panose="020B0004020202020204" pitchFamily="34" charset="0"/>
              </a:rPr>
              <a:t>У большинства клиентов </a:t>
            </a:r>
            <a:r>
              <a:rPr lang="ru-RU" altLang="ru-RU" sz="2000" b="1" dirty="0">
                <a:latin typeface="Aptos" panose="020B0004020202020204" pitchFamily="34" charset="0"/>
              </a:rPr>
              <a:t>нет детей</a:t>
            </a:r>
            <a:r>
              <a:rPr lang="ru-RU" altLang="ru-RU" sz="2000" dirty="0">
                <a:latin typeface="Aptos" panose="020B0004020202020204" pitchFamily="34" charset="0"/>
              </a:rPr>
              <a:t>, только 1 клиент </a:t>
            </a:r>
            <a:r>
              <a:rPr lang="ru-RU" altLang="ru-RU" sz="2000" b="1" dirty="0">
                <a:latin typeface="Aptos" panose="020B0004020202020204" pitchFamily="34" charset="0"/>
              </a:rPr>
              <a:t>многодетный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1400" b="1" dirty="0">
              <a:latin typeface="Aptos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ptos" panose="020B0004020202020204" pitchFamily="34" charset="0"/>
              </a:rPr>
              <a:t>У клиентов с детьми в основном </a:t>
            </a:r>
            <a:r>
              <a:rPr lang="ru-RU" altLang="ru-RU" sz="2000" b="1" dirty="0">
                <a:latin typeface="Aptos" panose="020B0004020202020204" pitchFamily="34" charset="0"/>
              </a:rPr>
              <a:t>младенцы</a:t>
            </a:r>
            <a:r>
              <a:rPr lang="ru-RU" altLang="ru-RU" sz="2000" dirty="0">
                <a:latin typeface="Aptos" panose="020B0004020202020204" pitchFamily="34" charset="0"/>
              </a:rPr>
              <a:t>, самый старший возраст ребенка – 6 лет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C10B6-0F8F-F72E-35BE-DE590BE97305}"/>
              </a:ext>
            </a:extLst>
          </p:cNvPr>
          <p:cNvSpPr txBox="1"/>
          <p:nvPr/>
        </p:nvSpPr>
        <p:spPr>
          <a:xfrm>
            <a:off x="756849" y="950207"/>
            <a:ext cx="2319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altLang="ru-RU" sz="1400" b="1" dirty="0">
                <a:solidFill>
                  <a:schemeClr val="bg1"/>
                </a:solidFill>
              </a:rPr>
              <a:t>т.к. нет детей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A50C2B6-194D-AE7D-8B48-CAFCD6DAC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296" y="5005683"/>
            <a:ext cx="5791199" cy="1420849"/>
          </a:xfrm>
          <a:prstGeom prst="roundRect">
            <a:avLst>
              <a:gd name="adj" fmla="val 655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ptos" panose="020B0004020202020204" pitchFamily="34" charset="0"/>
              </a:rPr>
              <a:t>У большинства клиентов </a:t>
            </a:r>
            <a:r>
              <a:rPr lang="ru-RU" altLang="ru-RU" sz="2000" b="1" dirty="0">
                <a:latin typeface="Aptos" panose="020B0004020202020204" pitchFamily="34" charset="0"/>
              </a:rPr>
              <a:t>нет онлайн-аккаунта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400" dirty="0">
              <a:latin typeface="Aptos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ptos" panose="020B0004020202020204" pitchFamily="34" charset="0"/>
              </a:rPr>
              <a:t>Чаще всего у клиентов есть по </a:t>
            </a:r>
            <a:r>
              <a:rPr lang="ru-RU" altLang="ru-RU" sz="2000" b="1" dirty="0">
                <a:latin typeface="Aptos" panose="020B0004020202020204" pitchFamily="34" charset="0"/>
              </a:rPr>
              <a:t>1-2 </a:t>
            </a:r>
            <a:r>
              <a:rPr lang="ru-RU" altLang="ru-RU" sz="2000" dirty="0">
                <a:latin typeface="Aptos" panose="020B0004020202020204" pitchFamily="34" charset="0"/>
              </a:rPr>
              <a:t>кредитному счету, у многих их нет вообще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BEF66C-711B-65F8-5C62-1EBF7894A73B}"/>
              </a:ext>
            </a:extLst>
          </p:cNvPr>
          <p:cNvSpPr txBox="1"/>
          <p:nvPr/>
        </p:nvSpPr>
        <p:spPr>
          <a:xfrm>
            <a:off x="4936032" y="3730783"/>
            <a:ext cx="2319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altLang="ru-RU" sz="1400" b="1" dirty="0">
                <a:solidFill>
                  <a:schemeClr val="bg1"/>
                </a:solidFill>
              </a:rPr>
              <a:t>т.к. нет кредитов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529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8153-0F5D-9176-7F14-82C3D2A6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диаграмма, План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20A84F-A48D-ECAE-D41C-8326DA0C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7" y="566806"/>
            <a:ext cx="11066225" cy="4381012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C089CC9-D59E-4EF1-A18F-BCD43EDEB191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количественных переменных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92E88E1-71C2-B3F9-A15A-419F117F0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74" y="5033647"/>
            <a:ext cx="11951250" cy="1755617"/>
          </a:xfrm>
          <a:prstGeom prst="roundRect">
            <a:avLst>
              <a:gd name="adj" fmla="val 1343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Aptos" panose="020B0004020202020204" pitchFamily="34" charset="0"/>
              </a:rPr>
              <a:t>Клиенты в основном </a:t>
            </a:r>
            <a:r>
              <a:rPr lang="ru-RU" altLang="ru-RU" b="1" dirty="0">
                <a:latin typeface="Aptos" panose="020B0004020202020204" pitchFamily="34" charset="0"/>
              </a:rPr>
              <a:t>не обращаются в бюро кредитных историй</a:t>
            </a:r>
            <a:r>
              <a:rPr lang="ru-RU" altLang="ru-RU" dirty="0">
                <a:latin typeface="Aptos" panose="020B0004020202020204" pitchFamily="34" charset="0"/>
              </a:rPr>
              <a:t>. Чем меньше ретроспектива анализа количества обращений в, тем меньше людей попадают в выборку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900" dirty="0">
              <a:latin typeface="Aptos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Aptos" panose="020B0004020202020204" pitchFamily="34" charset="0"/>
              </a:rPr>
              <a:t>Аналогично больше клиентов имели &gt;1 активного счета </a:t>
            </a:r>
            <a:r>
              <a:rPr lang="ru-RU" altLang="ru-RU" b="1" dirty="0">
                <a:latin typeface="Aptos" panose="020B0004020202020204" pitchFamily="34" charset="0"/>
              </a:rPr>
              <a:t>в течение всего года</a:t>
            </a:r>
            <a:r>
              <a:rPr lang="ru-RU" altLang="ru-RU" dirty="0">
                <a:latin typeface="Aptos" panose="020B0004020202020204" pitchFamily="34" charset="0"/>
              </a:rPr>
              <a:t>, нежели в последние 2 месяца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00" dirty="0">
              <a:latin typeface="Aptos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Aptos" panose="020B0004020202020204" pitchFamily="34" charset="0"/>
              </a:rPr>
              <a:t>Активных</a:t>
            </a:r>
            <a:r>
              <a:rPr lang="ru-RU" altLang="ru-RU" dirty="0">
                <a:latin typeface="Aptos" panose="020B0004020202020204" pitchFamily="34" charset="0"/>
              </a:rPr>
              <a:t> счетов у клиентов больше, чем закрытых. У многих несколько открытых счетов и ни одного закрытого</a:t>
            </a:r>
          </a:p>
        </p:txBody>
      </p:sp>
    </p:spTree>
    <p:extLst>
      <p:ext uri="{BB962C8B-B14F-4D97-AF65-F5344CB8AC3E}">
        <p14:creationId xmlns:p14="http://schemas.microsoft.com/office/powerpoint/2010/main" val="3293709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0908-19C0-819F-7FCF-F2FC2E05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График, диаграмма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55E664-8A3E-4A22-802B-64C7BBEA5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80" y="616177"/>
            <a:ext cx="10151826" cy="2856513"/>
          </a:xfrm>
          <a:prstGeom prst="rect">
            <a:avLst/>
          </a:prstGeom>
        </p:spPr>
      </p:pic>
      <p:pic>
        <p:nvPicPr>
          <p:cNvPr id="7" name="Рисунок 6" descr="Изображение выглядит как линия, График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CC3229-0211-D71A-77CD-6C3EC27F91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362"/>
          <a:stretch>
            <a:fillRect/>
          </a:stretch>
        </p:blipFill>
        <p:spPr>
          <a:xfrm>
            <a:off x="2954580" y="3634075"/>
            <a:ext cx="8998340" cy="30525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D0AD6-5113-BD9B-282E-764F52818B58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количественных переменных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9115CA-1C93-538D-C975-BA895B4C9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952" y="1034569"/>
            <a:ext cx="2630967" cy="1964309"/>
          </a:xfrm>
          <a:prstGeom prst="roundRect">
            <a:avLst>
              <a:gd name="adj" fmla="val 75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Aptos" panose="020B0004020202020204" pitchFamily="34" charset="0"/>
              </a:rPr>
              <a:t>Выбросов нет. Медианный возраст – </a:t>
            </a:r>
            <a:r>
              <a:rPr lang="ru-RU" altLang="ru-RU" b="1" dirty="0">
                <a:latin typeface="Aptos" panose="020B0004020202020204" pitchFamily="34" charset="0"/>
              </a:rPr>
              <a:t>34 года</a:t>
            </a:r>
            <a:r>
              <a:rPr lang="ru-RU" altLang="ru-RU" dirty="0">
                <a:latin typeface="Aptos" panose="020B0004020202020204" pitchFamily="34" charset="0"/>
              </a:rPr>
              <a:t>.</a:t>
            </a:r>
            <a:r>
              <a:rPr lang="ru-RU" altLang="ru-RU" b="1" dirty="0">
                <a:latin typeface="Aptos" panose="020B0004020202020204" pitchFamily="34" charset="0"/>
              </a:rPr>
              <a:t> </a:t>
            </a:r>
            <a:r>
              <a:rPr lang="ru-RU" altLang="ru-RU" dirty="0">
                <a:latin typeface="Aptos" panose="020B0004020202020204" pitchFamily="34" charset="0"/>
              </a:rPr>
              <a:t>Большая часть клиентов – молодежь или люди среднего возраста.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0871AF-5C6D-7B58-1FE3-216C8FD13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80" y="4269866"/>
            <a:ext cx="2587247" cy="2252024"/>
          </a:xfrm>
          <a:prstGeom prst="roundRect">
            <a:avLst>
              <a:gd name="adj" fmla="val 75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Aptos" panose="020B0004020202020204" pitchFamily="34" charset="0"/>
              </a:rPr>
              <a:t>У большинства клиентов </a:t>
            </a:r>
            <a:r>
              <a:rPr lang="ru-RU" altLang="ru-RU" b="1" dirty="0">
                <a:latin typeface="Aptos" panose="020B0004020202020204" pitchFamily="34" charset="0"/>
              </a:rPr>
              <a:t>до 5 </a:t>
            </a:r>
            <a:r>
              <a:rPr lang="ru-RU" altLang="ru-RU" dirty="0">
                <a:latin typeface="Aptos" panose="020B0004020202020204" pitchFamily="34" charset="0"/>
              </a:rPr>
              <a:t>кредитов.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Aptos" panose="020B0004020202020204" pitchFamily="34" charset="0"/>
              </a:rPr>
              <a:t>Есть клиенты с 34 кредитами, из-за чего среднее смещено к 6 кредитам</a:t>
            </a:r>
          </a:p>
        </p:txBody>
      </p:sp>
    </p:spTree>
    <p:extLst>
      <p:ext uri="{BB962C8B-B14F-4D97-AF65-F5344CB8AC3E}">
        <p14:creationId xmlns:p14="http://schemas.microsoft.com/office/powerpoint/2010/main" val="711685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9683B-F3EA-ABFB-9842-04884373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диаграмма,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2010A6-2103-A260-C61D-838517E1EB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769"/>
          <a:stretch>
            <a:fillRect/>
          </a:stretch>
        </p:blipFill>
        <p:spPr>
          <a:xfrm>
            <a:off x="294502" y="705062"/>
            <a:ext cx="5191898" cy="587675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1E3A81-833F-1208-2B6D-522D25955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2689" y="1743401"/>
            <a:ext cx="5191898" cy="3371198"/>
          </a:xfrm>
          <a:prstGeom prst="roundRect">
            <a:avLst>
              <a:gd name="adj" fmla="val 557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b="1" dirty="0">
                <a:solidFill>
                  <a:srgbClr val="800000"/>
                </a:solidFill>
                <a:latin typeface="Aptos" panose="020B0004020202020204" pitchFamily="34" charset="0"/>
              </a:rPr>
              <a:t>Женщины</a:t>
            </a:r>
            <a:r>
              <a:rPr lang="ru-RU" altLang="ru-RU" sz="2200" dirty="0">
                <a:latin typeface="Aptos" panose="020B0004020202020204" pitchFamily="34" charset="0"/>
              </a:rPr>
              <a:t> занимают в основном средние позиции</a:t>
            </a:r>
            <a:r>
              <a:rPr lang="en-US" altLang="ru-RU" sz="2200" dirty="0">
                <a:latin typeface="Aptos" panose="020B0004020202020204" pitchFamily="34" charset="0"/>
              </a:rPr>
              <a:t>, </a:t>
            </a:r>
            <a:r>
              <a:rPr lang="ru-RU" altLang="ru-RU" sz="2200" dirty="0">
                <a:latin typeface="Aptos" panose="020B0004020202020204" pitchFamily="34" charset="0"/>
              </a:rPr>
              <a:t>а </a:t>
            </a:r>
            <a:r>
              <a:rPr lang="ru-RU" altLang="ru-RU" sz="2200" b="1" dirty="0">
                <a:latin typeface="Aptos" panose="020B0004020202020204" pitchFamily="34" charset="0"/>
              </a:rPr>
              <a:t>мужчины</a:t>
            </a:r>
            <a:r>
              <a:rPr lang="ru-RU" altLang="ru-RU" sz="2200" dirty="0">
                <a:latin typeface="Aptos" panose="020B0004020202020204" pitchFamily="34" charset="0"/>
              </a:rPr>
              <a:t> – высокие (менеджер) или наоборот низкие (рабочий).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ru-RU" sz="2200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b="1" dirty="0">
                <a:latin typeface="Aptos" panose="020B0004020202020204" pitchFamily="34" charset="0"/>
              </a:rPr>
              <a:t>Мужчины</a:t>
            </a:r>
            <a:r>
              <a:rPr lang="ru-RU" altLang="ru-RU" sz="2200" dirty="0">
                <a:latin typeface="Aptos" panose="020B0004020202020204" pitchFamily="34" charset="0"/>
              </a:rPr>
              <a:t> чаще женщин берут кредиты на ремонт, покупку автомобиля или недвижимости, но реже на отпуск или другие цели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27645-71BD-D8EA-353C-6FDAB57F6554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переменных по полу</a:t>
            </a:r>
          </a:p>
        </p:txBody>
      </p:sp>
    </p:spTree>
    <p:extLst>
      <p:ext uri="{BB962C8B-B14F-4D97-AF65-F5344CB8AC3E}">
        <p14:creationId xmlns:p14="http://schemas.microsoft.com/office/powerpoint/2010/main" val="3603258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CF8C-AA24-D739-9F11-4C097FBFE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диаграмма,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185583-6668-3D51-5E02-A51B3762C0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31"/>
          <a:stretch>
            <a:fillRect/>
          </a:stretch>
        </p:blipFill>
        <p:spPr>
          <a:xfrm>
            <a:off x="294501" y="584715"/>
            <a:ext cx="4679281" cy="60283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CBE21-0D4A-B73F-1BF7-D28ACFB873A6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переменных по полу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009C5D-28AA-1DA3-D535-FC4C43C8C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2689" y="872458"/>
            <a:ext cx="5191898" cy="5113082"/>
          </a:xfrm>
          <a:prstGeom prst="roundRect">
            <a:avLst>
              <a:gd name="adj" fmla="val 557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dirty="0">
                <a:latin typeface="Aptos" panose="020B0004020202020204" pitchFamily="34" charset="0"/>
              </a:rPr>
              <a:t>Зарплата </a:t>
            </a:r>
            <a:r>
              <a:rPr lang="ru-RU" altLang="ru-RU" sz="2200" b="1" dirty="0">
                <a:latin typeface="Aptos" panose="020B0004020202020204" pitchFamily="34" charset="0"/>
              </a:rPr>
              <a:t>мужчин</a:t>
            </a:r>
            <a:r>
              <a:rPr lang="ru-RU" altLang="ru-RU" sz="2200" dirty="0">
                <a:latin typeface="Aptos" panose="020B0004020202020204" pitchFamily="34" charset="0"/>
              </a:rPr>
              <a:t>, как правило, выше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2200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dirty="0">
                <a:latin typeface="Aptos" panose="020B0004020202020204" pitchFamily="34" charset="0"/>
              </a:rPr>
              <a:t>Среди работников с зарплатой меньше 250 распределение по гендерам одинаковое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2200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dirty="0">
                <a:latin typeface="Aptos" panose="020B0004020202020204" pitchFamily="34" charset="0"/>
              </a:rPr>
              <a:t>Больше </a:t>
            </a:r>
            <a:r>
              <a:rPr lang="ru-RU" altLang="ru-RU" sz="2200" b="1" dirty="0">
                <a:latin typeface="Aptos" panose="020B0004020202020204" pitchFamily="34" charset="0"/>
              </a:rPr>
              <a:t>мужчин</a:t>
            </a:r>
            <a:r>
              <a:rPr lang="ru-RU" altLang="ru-RU" sz="2200" dirty="0">
                <a:latin typeface="Aptos" panose="020B0004020202020204" pitchFamily="34" charset="0"/>
              </a:rPr>
              <a:t> в выборке состоят в браке, </a:t>
            </a:r>
            <a:r>
              <a:rPr lang="ru-RU" altLang="ru-RU" sz="2200" b="1" dirty="0">
                <a:solidFill>
                  <a:srgbClr val="800000"/>
                </a:solidFill>
                <a:latin typeface="Aptos" panose="020B0004020202020204" pitchFamily="34" charset="0"/>
              </a:rPr>
              <a:t>женщины</a:t>
            </a:r>
            <a:r>
              <a:rPr lang="ru-RU" altLang="ru-RU" sz="2200" dirty="0">
                <a:latin typeface="Aptos" panose="020B0004020202020204" pitchFamily="34" charset="0"/>
              </a:rPr>
              <a:t> чаще свободны (не состояли в браке вообще или разведены)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2200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200" dirty="0">
                <a:latin typeface="Aptos" panose="020B0004020202020204" pitchFamily="34" charset="0"/>
              </a:rPr>
              <a:t>Доля </a:t>
            </a:r>
            <a:r>
              <a:rPr lang="ru-RU" altLang="ru-RU" sz="2200" b="1" dirty="0">
                <a:latin typeface="Aptos" panose="020B0004020202020204" pitchFamily="34" charset="0"/>
              </a:rPr>
              <a:t>мужчин</a:t>
            </a:r>
            <a:r>
              <a:rPr lang="ru-RU" altLang="ru-RU" sz="2200" dirty="0">
                <a:latin typeface="Aptos" panose="020B0004020202020204" pitchFamily="34" charset="0"/>
              </a:rPr>
              <a:t> в повторном браке выше, чем женщин, а в гражданском браке, наоборот ниже</a:t>
            </a:r>
          </a:p>
        </p:txBody>
      </p:sp>
    </p:spTree>
    <p:extLst>
      <p:ext uri="{BB962C8B-B14F-4D97-AF65-F5344CB8AC3E}">
        <p14:creationId xmlns:p14="http://schemas.microsoft.com/office/powerpoint/2010/main" val="2980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4D80-EC28-1D27-F834-0A0389D9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диаграмма, График, линия, оригам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53A152-113D-6501-ED1E-C791CFE8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2" y="694369"/>
            <a:ext cx="11620406" cy="497784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8CA7A6A-A9D4-A101-5A21-5E2FE38EF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96" y="5871880"/>
            <a:ext cx="11620406" cy="828599"/>
          </a:xfrm>
          <a:prstGeom prst="roundRect">
            <a:avLst>
              <a:gd name="adj" fmla="val 2051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latin typeface="Aptos" panose="020B0004020202020204" pitchFamily="34" charset="0"/>
              </a:rPr>
              <a:t>Среди клиентов </a:t>
            </a:r>
            <a:r>
              <a:rPr lang="ru-RU" altLang="ru-RU" b="1" dirty="0">
                <a:latin typeface="Aptos" panose="020B0004020202020204" pitchFamily="34" charset="0"/>
              </a:rPr>
              <a:t>пожилого возраста </a:t>
            </a:r>
            <a:r>
              <a:rPr lang="ru-RU" altLang="ru-RU" dirty="0">
                <a:latin typeface="Aptos" panose="020B0004020202020204" pitchFamily="34" charset="0"/>
              </a:rPr>
              <a:t>превалируют мужчины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b="1" dirty="0">
                <a:latin typeface="Aptos" panose="020B0004020202020204" pitchFamily="34" charset="0"/>
              </a:rPr>
              <a:t>Количество кредитов </a:t>
            </a:r>
            <a:r>
              <a:rPr lang="ru-RU" altLang="ru-RU" dirty="0">
                <a:latin typeface="Aptos" panose="020B0004020202020204" pitchFamily="34" charset="0"/>
              </a:rPr>
              <a:t>у мужчин также существенно больше (примерно на 5 кредитов)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08BB7-D178-B7E5-CC5E-5FA54700757D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переменных по полу</a:t>
            </a:r>
          </a:p>
        </p:txBody>
      </p:sp>
    </p:spTree>
    <p:extLst>
      <p:ext uri="{BB962C8B-B14F-4D97-AF65-F5344CB8AC3E}">
        <p14:creationId xmlns:p14="http://schemas.microsoft.com/office/powerpoint/2010/main" val="4131359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A8CA-2D60-2AAC-F386-1F9FC16F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График, снимок экрана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CFF7C9-6004-D131-5EFA-E9173177A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857"/>
          <a:stretch>
            <a:fillRect/>
          </a:stretch>
        </p:blipFill>
        <p:spPr>
          <a:xfrm>
            <a:off x="320431" y="594562"/>
            <a:ext cx="5316590" cy="44163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59982-F1D8-2EA1-069C-449BDEAF49DE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переменных по наличию просрочки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2C7E2A-DF1E-08E8-2575-758BBA427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97" y="5090354"/>
            <a:ext cx="11620406" cy="1610125"/>
          </a:xfrm>
          <a:prstGeom prst="roundRect">
            <a:avLst>
              <a:gd name="adj" fmla="val 104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b="1" dirty="0">
                <a:latin typeface="Aptos" panose="020B0004020202020204" pitchFamily="34" charset="0"/>
              </a:rPr>
              <a:t>Долговая нагрузка </a:t>
            </a:r>
            <a:r>
              <a:rPr lang="ru-RU" altLang="ru-RU" dirty="0">
                <a:latin typeface="Aptos" panose="020B0004020202020204" pitchFamily="34" charset="0"/>
              </a:rPr>
              <a:t>существенно выше у клиентов с просрочкой, что подтверждает связь между кредитной нагрузкой и риском возникновения просрочек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1000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latin typeface="Aptos" panose="020B0004020202020204" pitchFamily="34" charset="0"/>
              </a:rPr>
              <a:t>У клиентов с просрочками </a:t>
            </a:r>
            <a:r>
              <a:rPr lang="ru-RU" altLang="ru-RU" b="1" dirty="0">
                <a:latin typeface="Aptos" panose="020B0004020202020204" pitchFamily="34" charset="0"/>
              </a:rPr>
              <a:t>больше кредитов</a:t>
            </a:r>
            <a:r>
              <a:rPr lang="ru-RU" altLang="ru-RU" dirty="0">
                <a:latin typeface="Aptos" panose="020B0004020202020204" pitchFamily="34" charset="0"/>
              </a:rPr>
              <a:t>, что может указывать на высокий риск возникновения финансовых затруднений при наличии большого числа кредитов</a:t>
            </a:r>
          </a:p>
        </p:txBody>
      </p:sp>
      <p:pic>
        <p:nvPicPr>
          <p:cNvPr id="7" name="Рисунок 6" descr="Изображение выглядит как График, снимок экрана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6AE5FE-369A-3CF9-77DA-C68A2FD1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42"/>
          <a:stretch>
            <a:fillRect/>
          </a:stretch>
        </p:blipFill>
        <p:spPr>
          <a:xfrm>
            <a:off x="6511638" y="594562"/>
            <a:ext cx="5079046" cy="44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02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C6FE7-D785-781C-622B-6AC267E51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диаграмма, График, оригам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D2D55E-6396-2016-42F0-EB4904F6D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1" y="590243"/>
            <a:ext cx="11578843" cy="48870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5E0A6-9EF4-793F-8000-2B6D6808A194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переменных по наличию просрочки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5DC9CD0-845A-02D6-86FC-D1F39CEFB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96" y="5796139"/>
            <a:ext cx="11620406" cy="904340"/>
          </a:xfrm>
          <a:prstGeom prst="roundRect">
            <a:avLst>
              <a:gd name="adj" fmla="val 1925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b="1" dirty="0">
                <a:latin typeface="Aptos" panose="020B0004020202020204" pitchFamily="34" charset="0"/>
              </a:rPr>
              <a:t>Молодежь</a:t>
            </a:r>
            <a:r>
              <a:rPr lang="ru-RU" altLang="ru-RU" dirty="0">
                <a:latin typeface="Aptos" panose="020B0004020202020204" pitchFamily="34" charset="0"/>
              </a:rPr>
              <a:t> реже допускает просрочку по кредитам, чем клиенты в возрасте от 30 лет и старше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latin typeface="Aptos" panose="020B0004020202020204" pitchFamily="34" charset="0"/>
              </a:rPr>
              <a:t>Чем больше у клиента </a:t>
            </a:r>
            <a:r>
              <a:rPr lang="ru-RU" altLang="ru-RU" b="1" dirty="0">
                <a:latin typeface="Aptos" panose="020B0004020202020204" pitchFamily="34" charset="0"/>
              </a:rPr>
              <a:t>закрытых кредитов</a:t>
            </a:r>
            <a:r>
              <a:rPr lang="ru-RU" altLang="ru-RU" dirty="0">
                <a:latin typeface="Aptos" panose="020B0004020202020204" pitchFamily="34" charset="0"/>
              </a:rPr>
              <a:t>, тем чаще он просрочивает платежи по ним</a:t>
            </a:r>
          </a:p>
        </p:txBody>
      </p:sp>
    </p:spTree>
    <p:extLst>
      <p:ext uri="{BB962C8B-B14F-4D97-AF65-F5344CB8AC3E}">
        <p14:creationId xmlns:p14="http://schemas.microsoft.com/office/powerpoint/2010/main" val="3006002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808F-6341-2BA8-4EE0-E44CDD0F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диаграмма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FAAD2C-55E4-988F-D78C-70BF6043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287"/>
          <a:stretch>
            <a:fillRect/>
          </a:stretch>
        </p:blipFill>
        <p:spPr>
          <a:xfrm>
            <a:off x="294502" y="604574"/>
            <a:ext cx="5912334" cy="495598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3EFF4-0A70-F583-C4C1-8A6B631989F9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Визуализация распределения переменных по наличию просрочки</a:t>
            </a:r>
          </a:p>
        </p:txBody>
      </p:sp>
      <p:pic>
        <p:nvPicPr>
          <p:cNvPr id="4" name="Рисунок 3" descr="Изображение выглядит как текст, диаграмма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2B3CA0-D8B6-E5A5-F3FE-30252B08B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71"/>
          <a:stretch>
            <a:fillRect/>
          </a:stretch>
        </p:blipFill>
        <p:spPr>
          <a:xfrm>
            <a:off x="6746048" y="604574"/>
            <a:ext cx="5151450" cy="495598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1D1E06B-2753-F011-1265-3B1271BBB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96" y="5812617"/>
            <a:ext cx="11620406" cy="881617"/>
          </a:xfrm>
          <a:prstGeom prst="roundRect">
            <a:avLst>
              <a:gd name="adj" fmla="val 1925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latin typeface="Aptos" panose="020B0004020202020204" pitchFamily="34" charset="0"/>
              </a:rPr>
              <a:t>Наличие имущества в </a:t>
            </a:r>
            <a:r>
              <a:rPr lang="ru-RU" altLang="ru-RU" b="1" dirty="0">
                <a:latin typeface="Aptos" panose="020B0004020202020204" pitchFamily="34" charset="0"/>
              </a:rPr>
              <a:t>залоге</a:t>
            </a:r>
            <a:r>
              <a:rPr lang="ru-RU" altLang="ru-RU" dirty="0">
                <a:latin typeface="Aptos" panose="020B0004020202020204" pitchFamily="34" charset="0"/>
              </a:rPr>
              <a:t> не останавливает людей от просрочки по кредитам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latin typeface="Aptos" panose="020B0004020202020204" pitchFamily="34" charset="0"/>
              </a:rPr>
              <a:t>Наличие </a:t>
            </a:r>
            <a:r>
              <a:rPr lang="ru-RU" altLang="ru-RU" b="1" dirty="0">
                <a:latin typeface="Aptos" panose="020B0004020202020204" pitchFamily="34" charset="0"/>
              </a:rPr>
              <a:t>страховки</a:t>
            </a:r>
            <a:r>
              <a:rPr lang="ru-RU" altLang="ru-RU" dirty="0">
                <a:latin typeface="Aptos" panose="020B0004020202020204" pitchFamily="34" charset="0"/>
              </a:rPr>
              <a:t> по кредиту также сподвигает людей чаще просрочивать платежи</a:t>
            </a:r>
          </a:p>
        </p:txBody>
      </p:sp>
    </p:spTree>
    <p:extLst>
      <p:ext uri="{BB962C8B-B14F-4D97-AF65-F5344CB8AC3E}">
        <p14:creationId xmlns:p14="http://schemas.microsoft.com/office/powerpoint/2010/main" val="319795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A958-2FAF-A309-13E7-F94FF692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7919E62-30D5-F484-F849-C12353F332D8}"/>
              </a:ext>
            </a:extLst>
          </p:cNvPr>
          <p:cNvSpPr txBox="1">
            <a:spLocks/>
          </p:cNvSpPr>
          <p:nvPr/>
        </p:nvSpPr>
        <p:spPr>
          <a:xfrm>
            <a:off x="230245" y="317159"/>
            <a:ext cx="9535297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800000"/>
                </a:solidFill>
                <a:latin typeface="Aptos" panose="020B0004020202020204" pitchFamily="34" charset="0"/>
              </a:rPr>
              <a:t>Риск-профиль клиента</a:t>
            </a:r>
          </a:p>
          <a:p>
            <a:pPr>
              <a:lnSpc>
                <a:spcPct val="100000"/>
              </a:lnSpc>
            </a:pPr>
            <a:r>
              <a:rPr lang="ru-RU" altLang="ru-RU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на основе модальных значений клиента с просрочкой в текущем месяце 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CF88B3A8-D89B-3CED-2318-7CD0A3360E88}"/>
              </a:ext>
            </a:extLst>
          </p:cNvPr>
          <p:cNvGrpSpPr/>
          <p:nvPr/>
        </p:nvGrpSpPr>
        <p:grpSpPr>
          <a:xfrm>
            <a:off x="710850" y="1582021"/>
            <a:ext cx="10801121" cy="4598719"/>
            <a:chOff x="1025119" y="1130158"/>
            <a:chExt cx="10801121" cy="4598719"/>
          </a:xfrm>
        </p:grpSpPr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D717C661-BCFC-3F38-2EFB-3FC840C3A5F7}"/>
                </a:ext>
              </a:extLst>
            </p:cNvPr>
            <p:cNvGrpSpPr/>
            <p:nvPr/>
          </p:nvGrpSpPr>
          <p:grpSpPr>
            <a:xfrm>
              <a:off x="1025119" y="1130158"/>
              <a:ext cx="10801121" cy="4598719"/>
              <a:chOff x="1025119" y="1130158"/>
              <a:chExt cx="10801121" cy="4598719"/>
            </a:xfrm>
          </p:grpSpPr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6B955AAD-5C26-F1C5-45E8-F91A17DBA7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0726" y="1130158"/>
                <a:ext cx="4950539" cy="5237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122199" rIns="0" bIns="122199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lvl1pPr marL="2286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ru-RU" altLang="ru-RU" sz="1800" dirty="0">
                    <a:solidFill>
                      <a:srgbClr val="0F1115"/>
                    </a:solidFill>
                    <a:latin typeface="Aptos" panose="020B0004020202020204" pitchFamily="34" charset="0"/>
                  </a:rPr>
                  <a:t>имеет 6 кредитов со страховкой и без залога</a:t>
                </a:r>
                <a:endParaRPr lang="en-US" altLang="ru-RU" sz="1800" dirty="0">
                  <a:solidFill>
                    <a:srgbClr val="0F1115"/>
                  </a:solidFill>
                  <a:latin typeface="Aptos" panose="020B0004020202020204" pitchFamily="34" charset="0"/>
                </a:endParaRPr>
              </a:p>
            </p:txBody>
          </p:sp>
          <p:grpSp>
            <p:nvGrpSpPr>
              <p:cNvPr id="20" name="Группа 19">
                <a:extLst>
                  <a:ext uri="{FF2B5EF4-FFF2-40B4-BE49-F238E27FC236}">
                    <a16:creationId xmlns:a16="http://schemas.microsoft.com/office/drawing/2014/main" id="{875DFAEE-F3E4-CBDD-2CAA-27F97EC697C9}"/>
                  </a:ext>
                </a:extLst>
              </p:cNvPr>
              <p:cNvGrpSpPr/>
              <p:nvPr/>
            </p:nvGrpSpPr>
            <p:grpSpPr>
              <a:xfrm>
                <a:off x="1025119" y="1759627"/>
                <a:ext cx="10801121" cy="3969250"/>
                <a:chOff x="1025119" y="1759627"/>
                <a:chExt cx="10801121" cy="3969250"/>
              </a:xfrm>
            </p:grpSpPr>
            <p:sp>
              <p:nvSpPr>
                <p:cNvPr id="13" name="Rectangle 1">
                  <a:extLst>
                    <a:ext uri="{FF2B5EF4-FFF2-40B4-BE49-F238E27FC236}">
                      <a16:creationId xmlns:a16="http://schemas.microsoft.com/office/drawing/2014/main" id="{C0370BC6-E076-0D68-0617-2116DC84CA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17564" y="2331222"/>
                  <a:ext cx="4108676" cy="8007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0" tIns="122199" rIns="0" bIns="122199" numCol="1" rtlCol="0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marL="2286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1pPr>
                  <a:lvl2pPr marL="6858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2pPr>
                  <a:lvl3pPr marL="11430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3pPr>
                  <a:lvl4pPr marL="16002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4pPr>
                  <a:lvl5pPr marL="20574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ct val="100000"/>
                    </a:lnSpc>
                    <a:buFont typeface="Arial" panose="020B0604020202020204" pitchFamily="34" charset="0"/>
                    <a:buNone/>
                  </a:pPr>
                  <a:r>
                    <a:rPr lang="ru-RU" altLang="ru-RU" sz="1800" dirty="0">
                      <a:solidFill>
                        <a:srgbClr val="0F1115"/>
                      </a:solidFill>
                      <a:latin typeface="Aptos" panose="020B0004020202020204" pitchFamily="34" charset="0"/>
                    </a:rPr>
                    <a:t>мужчина в возрасте 34 года с зарплатой больше 250 тысяч рублей</a:t>
                  </a:r>
                </a:p>
              </p:txBody>
            </p:sp>
            <p:sp>
              <p:nvSpPr>
                <p:cNvPr id="14" name="Rectangle 1">
                  <a:extLst>
                    <a:ext uri="{FF2B5EF4-FFF2-40B4-BE49-F238E27FC236}">
                      <a16:creationId xmlns:a16="http://schemas.microsoft.com/office/drawing/2014/main" id="{C1D6D7B4-636B-6D5E-F0D3-41C498BEFE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17564" y="3749884"/>
                  <a:ext cx="4108676" cy="8007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0" tIns="122199" rIns="0" bIns="122199" numCol="1" rtlCol="0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marL="2286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1pPr>
                  <a:lvl2pPr marL="6858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2pPr>
                  <a:lvl3pPr marL="11430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3pPr>
                  <a:lvl4pPr marL="16002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4pPr>
                  <a:lvl5pPr marL="20574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ct val="100000"/>
                    </a:lnSpc>
                    <a:buFont typeface="Arial" panose="020B0604020202020204" pitchFamily="34" charset="0"/>
                    <a:buNone/>
                  </a:pPr>
                  <a:r>
                    <a:rPr lang="ru-RU" altLang="ru-RU" sz="1800" dirty="0">
                      <a:solidFill>
                        <a:srgbClr val="0F1115"/>
                      </a:solidFill>
                      <a:latin typeface="Aptos" panose="020B0004020202020204" pitchFamily="34" charset="0"/>
                    </a:rPr>
                    <a:t>имеет умеренную долговую нагрузку (</a:t>
                  </a:r>
                  <a:r>
                    <a:rPr lang="en" altLang="ru-RU" sz="1800" dirty="0">
                      <a:solidFill>
                        <a:srgbClr val="0F1115"/>
                      </a:solidFill>
                      <a:latin typeface="Aptos" panose="020B0004020202020204" pitchFamily="34" charset="0"/>
                    </a:rPr>
                    <a:t>debt-to-income ratio) </a:t>
                  </a:r>
                </a:p>
              </p:txBody>
            </p:sp>
            <p:grpSp>
              <p:nvGrpSpPr>
                <p:cNvPr id="19" name="Группа 18">
                  <a:extLst>
                    <a:ext uri="{FF2B5EF4-FFF2-40B4-BE49-F238E27FC236}">
                      <a16:creationId xmlns:a16="http://schemas.microsoft.com/office/drawing/2014/main" id="{DB9A5194-D820-1F04-8A54-3AFDC6BB07C3}"/>
                    </a:ext>
                  </a:extLst>
                </p:cNvPr>
                <p:cNvGrpSpPr/>
                <p:nvPr/>
              </p:nvGrpSpPr>
              <p:grpSpPr>
                <a:xfrm>
                  <a:off x="1025119" y="1759627"/>
                  <a:ext cx="7895013" cy="3969250"/>
                  <a:chOff x="1025119" y="1759627"/>
                  <a:chExt cx="7895013" cy="3969250"/>
                </a:xfrm>
              </p:grpSpPr>
              <p:grpSp>
                <p:nvGrpSpPr>
                  <p:cNvPr id="18" name="Группа 17">
                    <a:extLst>
                      <a:ext uri="{FF2B5EF4-FFF2-40B4-BE49-F238E27FC236}">
                        <a16:creationId xmlns:a16="http://schemas.microsoft.com/office/drawing/2014/main" id="{07A8A43F-4919-6AD9-C0A6-2DCCEECBA2E6}"/>
                      </a:ext>
                    </a:extLst>
                  </p:cNvPr>
                  <p:cNvGrpSpPr/>
                  <p:nvPr/>
                </p:nvGrpSpPr>
                <p:grpSpPr>
                  <a:xfrm>
                    <a:off x="3271859" y="1759627"/>
                    <a:ext cx="5648273" cy="3969250"/>
                    <a:chOff x="3271859" y="1759627"/>
                    <a:chExt cx="5648273" cy="3969250"/>
                  </a:xfrm>
                </p:grpSpPr>
                <p:pic>
                  <p:nvPicPr>
                    <p:cNvPr id="3" name="Рисунок 2" descr="Изображение выглядит как Графика, круг, дизайн&#10;&#10;Содержимое, созданное искусственным интеллектом, может быть неверным.">
                      <a:extLst>
                        <a:ext uri="{FF2B5EF4-FFF2-40B4-BE49-F238E27FC236}">
                          <a16:creationId xmlns:a16="http://schemas.microsoft.com/office/drawing/2014/main" id="{5FCE1B82-FBC4-1011-397E-91E75CEB5F3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rcRect r="16626"/>
                    <a:stretch>
                      <a:fillRect/>
                    </a:stretch>
                  </p:blipFill>
                  <p:spPr>
                    <a:xfrm>
                      <a:off x="5399783" y="2584110"/>
                      <a:ext cx="1392424" cy="167009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6" name="Овал 5">
                      <a:extLst>
                        <a:ext uri="{FF2B5EF4-FFF2-40B4-BE49-F238E27FC236}">
                          <a16:creationId xmlns:a16="http://schemas.microsoft.com/office/drawing/2014/main" id="{0417726C-836D-DCB4-3D04-8785299E61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0574" y="2092000"/>
                      <a:ext cx="2670851" cy="2670851"/>
                    </a:xfrm>
                    <a:prstGeom prst="ellipse">
                      <a:avLst/>
                    </a:prstGeom>
                    <a:noFill/>
                    <a:ln w="76200">
                      <a:solidFill>
                        <a:srgbClr val="80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sp>
                  <p:nvSpPr>
                    <p:cNvPr id="7" name="Овал 6">
                      <a:extLst>
                        <a:ext uri="{FF2B5EF4-FFF2-40B4-BE49-F238E27FC236}">
                          <a16:creationId xmlns:a16="http://schemas.microsoft.com/office/drawing/2014/main" id="{7369720F-5EB3-D0FC-CEE2-F90158ED16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7067289" y="2488857"/>
                      <a:ext cx="485513" cy="485513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80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sp>
                  <p:nvSpPr>
                    <p:cNvPr id="8" name="Овал 7">
                      <a:extLst>
                        <a:ext uri="{FF2B5EF4-FFF2-40B4-BE49-F238E27FC236}">
                          <a16:creationId xmlns:a16="http://schemas.microsoft.com/office/drawing/2014/main" id="{60054C1C-E2FF-A1F7-BA30-BAA15D44BC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7087978" y="3907519"/>
                      <a:ext cx="485513" cy="485513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C4AAA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sp>
                  <p:nvSpPr>
                    <p:cNvPr id="9" name="Овал 8">
                      <a:extLst>
                        <a:ext uri="{FF2B5EF4-FFF2-40B4-BE49-F238E27FC236}">
                          <a16:creationId xmlns:a16="http://schemas.microsoft.com/office/drawing/2014/main" id="{F02E54F7-2040-9498-06D3-AA3190EDBB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5853239" y="4593171"/>
                      <a:ext cx="485513" cy="485513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80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sp>
                  <p:nvSpPr>
                    <p:cNvPr id="10" name="Овал 9">
                      <a:extLst>
                        <a:ext uri="{FF2B5EF4-FFF2-40B4-BE49-F238E27FC236}">
                          <a16:creationId xmlns:a16="http://schemas.microsoft.com/office/drawing/2014/main" id="{3A26D0B4-6303-298E-4181-94000CE927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5853239" y="1759627"/>
                      <a:ext cx="485513" cy="485513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C4AAA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 dirty="0"/>
                    </a:p>
                  </p:txBody>
                </p:sp>
                <p:sp>
                  <p:nvSpPr>
                    <p:cNvPr id="11" name="Овал 10">
                      <a:extLst>
                        <a:ext uri="{FF2B5EF4-FFF2-40B4-BE49-F238E27FC236}">
                          <a16:creationId xmlns:a16="http://schemas.microsoft.com/office/drawing/2014/main" id="{EEFEED0E-66C0-B709-6B81-04788C4D2B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581607" y="2488857"/>
                      <a:ext cx="485513" cy="485513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80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sp>
                  <p:nvSpPr>
                    <p:cNvPr id="12" name="Овал 11">
                      <a:extLst>
                        <a:ext uri="{FF2B5EF4-FFF2-40B4-BE49-F238E27FC236}">
                          <a16:creationId xmlns:a16="http://schemas.microsoft.com/office/drawing/2014/main" id="{16847497-C1E1-BA4C-6E1A-CD9ED090AE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602296" y="3907519"/>
                      <a:ext cx="485513" cy="485513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C4AAA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sp>
                  <p:nvSpPr>
                    <p:cNvPr id="16" name="Rectangle 1">
                      <a:extLst>
                        <a:ext uri="{FF2B5EF4-FFF2-40B4-BE49-F238E27FC236}">
                          <a16:creationId xmlns:a16="http://schemas.microsoft.com/office/drawing/2014/main" id="{E9120C5D-7B22-5559-9C65-0C3CD3F04A8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71859" y="5205093"/>
                      <a:ext cx="5648273" cy="5237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horz" wrap="square" lIns="0" tIns="122199" rIns="0" bIns="122199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>
                      <a:lvl1pPr marL="2286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1pPr>
                      <a:lvl2pPr marL="6858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11430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6002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20574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ru-RU" altLang="ru-RU" sz="1800" dirty="0">
                          <a:solidFill>
                            <a:srgbClr val="0F1115"/>
                          </a:solidFill>
                          <a:latin typeface="Aptos" panose="020B0004020202020204" pitchFamily="34" charset="0"/>
                        </a:rPr>
                        <a:t>имеет больше закрытых, чем открытых счетов (60%)</a:t>
                      </a:r>
                    </a:p>
                  </p:txBody>
                </p:sp>
              </p:grpSp>
              <p:sp>
                <p:nvSpPr>
                  <p:cNvPr id="17" name="Rectangle 1">
                    <a:extLst>
                      <a:ext uri="{FF2B5EF4-FFF2-40B4-BE49-F238E27FC236}">
                        <a16:creationId xmlns:a16="http://schemas.microsoft.com/office/drawing/2014/main" id="{B4A031FF-F21F-D71C-250F-9A8233E94E7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25119" y="2331222"/>
                    <a:ext cx="3439817" cy="80078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0" tIns="122199" rIns="0" bIns="122199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marL="2286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6858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24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11430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6002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20574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5146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9718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4290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886200" indent="-228600" algn="l" defTabSz="914400" rtl="0" eaLnBrk="0" fontAlgn="base" latinLnBrk="0" hangingPunct="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r">
                      <a:lnSpc>
                        <a:spcPct val="100000"/>
                      </a:lnSpc>
                      <a:buFont typeface="Arial" panose="020B0604020202020204" pitchFamily="34" charset="0"/>
                      <a:buNone/>
                    </a:pPr>
                    <a:r>
                      <a:rPr lang="ru-RU" altLang="ru-RU" sz="1800" dirty="0">
                        <a:solidFill>
                          <a:srgbClr val="0F1115"/>
                        </a:solidFill>
                        <a:latin typeface="Aptos" panose="020B0004020202020204" pitchFamily="34" charset="0"/>
                      </a:rPr>
                      <a:t>не пользуется услугами банка через онлайн-кабинет </a:t>
                    </a:r>
                  </a:p>
                </p:txBody>
              </p:sp>
            </p:grpSp>
          </p:grpSp>
        </p:grpSp>
        <p:sp>
          <p:nvSpPr>
            <p:cNvPr id="28" name="Rectangle 1">
              <a:extLst>
                <a:ext uri="{FF2B5EF4-FFF2-40B4-BE49-F238E27FC236}">
                  <a16:creationId xmlns:a16="http://schemas.microsoft.com/office/drawing/2014/main" id="{76F80046-F6AD-EF28-6996-61E771081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5119" y="3749884"/>
              <a:ext cx="3439817" cy="8007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lvl="0" indent="0" algn="r">
                <a:lnSpc>
                  <a:spcPct val="100000"/>
                </a:lnSpc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ежемесячно платит по кредитам </a:t>
              </a:r>
              <a:r>
                <a:rPr lang="en-US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~</a:t>
              </a: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90 тысяч рублей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7174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CF09D-2226-911A-2FB8-805A5B81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D4E460-E239-47E8-3BFA-3E00C6B39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2" y="836700"/>
            <a:ext cx="5514750" cy="58547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54CAD0-5D5D-7B4B-A763-CECD0C0F7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034" y="229201"/>
            <a:ext cx="5233464" cy="1615611"/>
          </a:xfrm>
          <a:prstGeom prst="roundRect">
            <a:avLst>
              <a:gd name="adj" fmla="val 1243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/>
              <a:t>Значение </a:t>
            </a:r>
            <a:r>
              <a:rPr lang="ru-RU" sz="2000" b="1" dirty="0"/>
              <a:t>-1 </a:t>
            </a:r>
            <a:r>
              <a:rPr lang="ru-RU" sz="2000" dirty="0"/>
              <a:t>в переменных количества месяцев с момента выдачи последнего / первого кредита означает, что кредит будет выдан клиенту в следующем месяце</a:t>
            </a: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9" name="Рисунок 8" descr="Изображение выглядит как линия, График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229C11-37B7-AA22-5703-4BDBA99D6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02" y="2594411"/>
            <a:ext cx="4596153" cy="1422618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164581A-D9F4-9E5E-702F-CF8B99EFFD8E}"/>
              </a:ext>
            </a:extLst>
          </p:cNvPr>
          <p:cNvSpPr txBox="1">
            <a:spLocks/>
          </p:cNvSpPr>
          <p:nvPr/>
        </p:nvSpPr>
        <p:spPr>
          <a:xfrm>
            <a:off x="294502" y="229201"/>
            <a:ext cx="6369533" cy="3238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Проверка качества данных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962B31F-C1A0-852B-61CB-5A07AA4816DB}"/>
              </a:ext>
            </a:extLst>
          </p:cNvPr>
          <p:cNvSpPr txBox="1">
            <a:spLocks/>
          </p:cNvSpPr>
          <p:nvPr/>
        </p:nvSpPr>
        <p:spPr>
          <a:xfrm>
            <a:off x="294501" y="2082781"/>
            <a:ext cx="6369533" cy="3238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Анализ выбросов</a:t>
            </a:r>
          </a:p>
        </p:txBody>
      </p:sp>
      <p:pic>
        <p:nvPicPr>
          <p:cNvPr id="11" name="Рисунок 10" descr="Изображение выглядит как диаграмма, линия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060548-CBB8-01F4-CC46-C3B3B538D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43" y="4380585"/>
            <a:ext cx="7519138" cy="2386692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DA8E73B2-763C-1C8F-777E-BF2C2A3C2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418" y="3108106"/>
            <a:ext cx="3460080" cy="2544958"/>
          </a:xfrm>
          <a:prstGeom prst="roundRect">
            <a:avLst>
              <a:gd name="adj" fmla="val 1007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/>
              <a:t>Значения </a:t>
            </a:r>
            <a:r>
              <a:rPr lang="ru-RU" sz="2000" b="1" dirty="0"/>
              <a:t>возраста</a:t>
            </a:r>
            <a:r>
              <a:rPr lang="ru-RU" sz="2000" dirty="0"/>
              <a:t> клиентов лежат в пределах нормы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/>
              <a:t>Среди значений </a:t>
            </a:r>
            <a:r>
              <a:rPr lang="ru-RU" sz="2000" b="1" dirty="0"/>
              <a:t>долей</a:t>
            </a:r>
            <a:r>
              <a:rPr lang="ru-RU" sz="2000" dirty="0"/>
              <a:t> тоже нет аномалий – значений &lt;0 и &gt;1</a:t>
            </a:r>
          </a:p>
        </p:txBody>
      </p:sp>
    </p:spTree>
    <p:extLst>
      <p:ext uri="{BB962C8B-B14F-4D97-AF65-F5344CB8AC3E}">
        <p14:creationId xmlns:p14="http://schemas.microsoft.com/office/powerpoint/2010/main" val="545387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DD3E-4D99-1FD9-DE6A-64FAA4A9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E90A8B2-482B-9A5C-C289-BC591E352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833" y="450985"/>
            <a:ext cx="5079205" cy="6291059"/>
          </a:xfrm>
          <a:prstGeom prst="roundRect">
            <a:avLst>
              <a:gd name="adj" fmla="val 245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00000"/>
                </a:solidFill>
              </a:rPr>
              <a:t>Из матрицы видна сильная корреляция платежей и количества</a:t>
            </a:r>
            <a:r>
              <a:rPr lang="ru-RU" altLang="ru-RU" sz="1600" b="1" dirty="0">
                <a:solidFill>
                  <a:srgbClr val="000000"/>
                </a:solidFill>
              </a:rPr>
              <a:t> </a:t>
            </a:r>
            <a:r>
              <a:rPr lang="ru-RU" altLang="ru-RU" sz="1600" dirty="0">
                <a:solidFill>
                  <a:srgbClr val="000000"/>
                </a:solidFill>
              </a:rPr>
              <a:t>кредитов</a:t>
            </a:r>
            <a:r>
              <a:rPr lang="ru-RU" altLang="ru-RU" sz="1600" b="1" dirty="0">
                <a:solidFill>
                  <a:srgbClr val="000000"/>
                </a:solidFill>
              </a:rPr>
              <a:t> </a:t>
            </a:r>
            <a:r>
              <a:rPr lang="ru-RU" altLang="ru-RU" sz="1600" dirty="0">
                <a:solidFill>
                  <a:srgbClr val="000000"/>
                </a:solidFill>
              </a:rPr>
              <a:t>(они тоже коррелируют между собой) с количеством открытых и закрытых счетов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00000"/>
                </a:solidFill>
              </a:rPr>
              <a:t>Количество активных кредитных счетов коррелирует с общим количеством открытых счетов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00000"/>
                </a:solidFill>
              </a:rPr>
              <a:t>Стаж работы зависит от возраста человека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00000"/>
                </a:solidFill>
              </a:rPr>
              <a:t>Высокая корреляция между количеством </a:t>
            </a:r>
            <a:r>
              <a:rPr lang="ru-RU" altLang="ru-RU" sz="1600" b="1" dirty="0">
                <a:solidFill>
                  <a:srgbClr val="000000"/>
                </a:solidFill>
              </a:rPr>
              <a:t>запросов в БКИ </a:t>
            </a:r>
            <a:r>
              <a:rPr lang="ru-RU" altLang="ru-RU" sz="1600" dirty="0">
                <a:solidFill>
                  <a:srgbClr val="000000"/>
                </a:solidFill>
              </a:rPr>
              <a:t>объяснима тем, что переменные показывают одно и то же, только за разные периоды времени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00000"/>
                </a:solidFill>
              </a:rPr>
              <a:t>Аналогичная ситуация с количеством</a:t>
            </a:r>
            <a:r>
              <a:rPr lang="ru-RU" altLang="ru-RU" sz="1600" b="1" dirty="0">
                <a:solidFill>
                  <a:srgbClr val="000000"/>
                </a:solidFill>
              </a:rPr>
              <a:t> активных счетов</a:t>
            </a:r>
            <a:r>
              <a:rPr lang="ru-RU" altLang="ru-RU" sz="1600" dirty="0">
                <a:solidFill>
                  <a:srgbClr val="000000"/>
                </a:solidFill>
              </a:rPr>
              <a:t> и </a:t>
            </a:r>
            <a:r>
              <a:rPr lang="ru-RU" altLang="ru-RU" sz="1600" b="1" dirty="0">
                <a:solidFill>
                  <a:srgbClr val="000000"/>
                </a:solidFill>
              </a:rPr>
              <a:t>просрочкой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00" b="1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b="1" dirty="0">
                <a:solidFill>
                  <a:srgbClr val="000000"/>
                </a:solidFill>
              </a:rPr>
              <a:t>Средняя задержка </a:t>
            </a:r>
            <a:r>
              <a:rPr lang="ru-RU" altLang="ru-RU" sz="1600" dirty="0">
                <a:solidFill>
                  <a:srgbClr val="000000"/>
                </a:solidFill>
              </a:rPr>
              <a:t>оплаты коррелирует с просрочкой в этом году или вообще когда-либо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00000"/>
                </a:solidFill>
              </a:rPr>
              <a:t>Отрицательная корреляция объема закрытых и доли открытых счетов тоже логична – количество закрытых счетов заложено в расчете доли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00000"/>
                </a:solidFill>
              </a:rPr>
              <a:t>Чем больше месяцев прошло с момента последнего взятия кредита, тем больше активных счетов есть у клиента, поскольку клиент дольше является клиентом банка и открывает счета под разные цели</a:t>
            </a:r>
            <a:endParaRPr lang="ru-RU" alt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B290D-6E65-79FD-1848-1F71BB37E059}"/>
              </a:ext>
            </a:extLst>
          </p:cNvPr>
          <p:cNvSpPr txBox="1">
            <a:spLocks/>
          </p:cNvSpPr>
          <p:nvPr/>
        </p:nvSpPr>
        <p:spPr>
          <a:xfrm>
            <a:off x="486687" y="157521"/>
            <a:ext cx="11218625" cy="29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Корреляционный анализ количественных переменных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90C0390-19CD-2BAA-0253-0D7190E326A6}"/>
              </a:ext>
            </a:extLst>
          </p:cNvPr>
          <p:cNvGrpSpPr/>
          <p:nvPr/>
        </p:nvGrpSpPr>
        <p:grpSpPr>
          <a:xfrm>
            <a:off x="86677" y="644234"/>
            <a:ext cx="6776736" cy="6083955"/>
            <a:chOff x="100532" y="616524"/>
            <a:chExt cx="6875031" cy="6172201"/>
          </a:xfrm>
        </p:grpSpPr>
        <p:pic>
          <p:nvPicPr>
            <p:cNvPr id="4" name="Рисунок 3" descr="Изображение выглядит как текст, линия, снимок экрана, диаграмм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E1D5FB5-2898-35BA-233F-0C7994530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0089"/>
            <a:stretch>
              <a:fillRect/>
            </a:stretch>
          </p:blipFill>
          <p:spPr>
            <a:xfrm>
              <a:off x="100532" y="616524"/>
              <a:ext cx="6414877" cy="6172201"/>
            </a:xfrm>
            <a:prstGeom prst="rect">
              <a:avLst/>
            </a:prstGeom>
          </p:spPr>
        </p:pic>
        <p:pic>
          <p:nvPicPr>
            <p:cNvPr id="3" name="Рисунок 2" descr="Изображение выглядит как текст, линия, снимок экрана, диаграмм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970AF65-4C3A-66A1-6A70-3BF3AE3F4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577"/>
            <a:stretch>
              <a:fillRect/>
            </a:stretch>
          </p:blipFill>
          <p:spPr>
            <a:xfrm>
              <a:off x="6445933" y="616524"/>
              <a:ext cx="529630" cy="61722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1354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5D43-646B-27DF-65E5-33FE8F59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линия, снимок экран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65EC25-A480-1D05-E8AB-6E2947ABD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696098"/>
            <a:ext cx="9047020" cy="6012015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C0C2A80-C3AA-E631-D411-84395CA3C73A}"/>
              </a:ext>
            </a:extLst>
          </p:cNvPr>
          <p:cNvSpPr txBox="1">
            <a:spLocks/>
          </p:cNvSpPr>
          <p:nvPr/>
        </p:nvSpPr>
        <p:spPr>
          <a:xfrm>
            <a:off x="294502" y="229201"/>
            <a:ext cx="9206337" cy="314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Очистка данных и обработка пропусков</a:t>
            </a:r>
          </a:p>
        </p:txBody>
      </p:sp>
      <p:pic>
        <p:nvPicPr>
          <p:cNvPr id="3" name="Рисунок 2" descr="Изображение выглядит как текст, Шрифт, бел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58A1BE-D7BF-5ACB-9CF2-40671B6FD1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4502" y="696097"/>
            <a:ext cx="3716688" cy="138208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5D8CA9F5-E84E-DDCE-FA25-8B3D22F46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02" y="2759021"/>
            <a:ext cx="2476407" cy="3402882"/>
          </a:xfrm>
          <a:prstGeom prst="roundRect">
            <a:avLst>
              <a:gd name="adj" fmla="val 100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solidFill>
                  <a:srgbClr val="000000"/>
                </a:solidFill>
              </a:rPr>
              <a:t>В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данных есть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систематические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пропуски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– у большинства клиентов не заполнена существенная часть информации</a:t>
            </a:r>
            <a:r>
              <a:rPr lang="ru-RU" altLang="ru-RU" dirty="0">
                <a:solidFill>
                  <a:srgbClr val="000000"/>
                </a:solidFill>
              </a:rPr>
              <a:t>: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форма компании, семейный статус и кредитная история</a:t>
            </a:r>
          </a:p>
        </p:txBody>
      </p:sp>
    </p:spTree>
    <p:extLst>
      <p:ext uri="{BB962C8B-B14F-4D97-AF65-F5344CB8AC3E}">
        <p14:creationId xmlns:p14="http://schemas.microsoft.com/office/powerpoint/2010/main" val="3818566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6979-1420-EF37-A71E-F0654207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D5DCB0F-D6CC-B5A5-F98F-D9B174465DC4}"/>
              </a:ext>
            </a:extLst>
          </p:cNvPr>
          <p:cNvSpPr txBox="1">
            <a:spLocks/>
          </p:cNvSpPr>
          <p:nvPr/>
        </p:nvSpPr>
        <p:spPr>
          <a:xfrm>
            <a:off x="294502" y="229201"/>
            <a:ext cx="9206337" cy="314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Очистка данных и обработка пропусков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1BB9904-FB67-C84F-B2AC-D0FEB97DF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02" y="4900623"/>
            <a:ext cx="11523425" cy="1819922"/>
          </a:xfrm>
          <a:prstGeom prst="roundRect">
            <a:avLst>
              <a:gd name="adj" fmla="val 1362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Е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сть паттерн, при котором все данные по клиенту заполнены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Е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сть два паттерна, при которых большое количество переменных не заполнены 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удалим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эти строки из датасета, так как по ним отсутствует большая часть информации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Е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сть два паттерна, при которых не заполнены отдельные столбцы – заполним их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средним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значением </a:t>
            </a:r>
          </a:p>
        </p:txBody>
      </p:sp>
      <p:pic>
        <p:nvPicPr>
          <p:cNvPr id="4" name="Рисунок 3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2DB13C-687A-D24F-40EC-88490E66EC9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992"/>
          <a:stretch>
            <a:fillRect/>
          </a:stretch>
        </p:blipFill>
        <p:spPr>
          <a:xfrm>
            <a:off x="294502" y="595741"/>
            <a:ext cx="8355787" cy="416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68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Графика, круг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F01F5B-A3BA-0DDB-8D22-8152D2863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20" y="2706536"/>
            <a:ext cx="1602079" cy="1602079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3D08FAF-BDF8-06D5-8329-287F65837846}"/>
              </a:ext>
            </a:extLst>
          </p:cNvPr>
          <p:cNvSpPr txBox="1">
            <a:spLocks/>
          </p:cNvSpPr>
          <p:nvPr/>
        </p:nvSpPr>
        <p:spPr>
          <a:xfrm>
            <a:off x="266794" y="-5725"/>
            <a:ext cx="8149418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Портрет клиента банка  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на основе модальных значений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234A5593-3133-3B2F-46D2-C7AA3AC773C0}"/>
              </a:ext>
            </a:extLst>
          </p:cNvPr>
          <p:cNvGrpSpPr/>
          <p:nvPr/>
        </p:nvGrpSpPr>
        <p:grpSpPr>
          <a:xfrm>
            <a:off x="2224207" y="777040"/>
            <a:ext cx="485514" cy="5918011"/>
            <a:chOff x="2224207" y="791328"/>
            <a:chExt cx="485514" cy="5918011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F654ED8C-BEA1-39C4-26C7-3EE540024B71}"/>
                </a:ext>
              </a:extLst>
            </p:cNvPr>
            <p:cNvCxnSpPr>
              <a:stCxn id="6" idx="4"/>
              <a:endCxn id="27" idx="0"/>
            </p:cNvCxnSpPr>
            <p:nvPr/>
          </p:nvCxnSpPr>
          <p:spPr>
            <a:xfrm>
              <a:off x="2466964" y="1276841"/>
              <a:ext cx="0" cy="4946985"/>
            </a:xfrm>
            <a:prstGeom prst="line">
              <a:avLst/>
            </a:prstGeom>
            <a:ln w="28575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4168A70D-3965-2477-FF2B-C1049F8F6F94}"/>
                </a:ext>
              </a:extLst>
            </p:cNvPr>
            <p:cNvGrpSpPr/>
            <p:nvPr/>
          </p:nvGrpSpPr>
          <p:grpSpPr>
            <a:xfrm>
              <a:off x="2224207" y="791328"/>
              <a:ext cx="485514" cy="5918011"/>
              <a:chOff x="2410817" y="828650"/>
              <a:chExt cx="485514" cy="5918011"/>
            </a:xfrm>
          </p:grpSpPr>
          <p:sp>
            <p:nvSpPr>
              <p:cNvPr id="2" name="Овал 1">
                <a:extLst>
                  <a:ext uri="{FF2B5EF4-FFF2-40B4-BE49-F238E27FC236}">
                    <a16:creationId xmlns:a16="http://schemas.microsoft.com/office/drawing/2014/main" id="{044D42D1-9E1C-B06A-79F0-67F2863DF8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7" y="1507712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4AA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B8401435-84E0-1180-D6A0-F02B6A56EE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7" y="828650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3ACA4DDD-829F-D369-FB96-765DE9141C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7" y="2865836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4AA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DD00A629-8BCC-427C-9475-0270EF68D9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7" y="2186774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18B2B2B2-D0B0-10E5-A090-4CE3AE1A40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7" y="4223960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4AA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B3A7BB76-9D4A-D96E-473C-84E150027A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7" y="3544898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B53A4353-596B-05CC-7433-6179A8A31D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7" y="5582084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4AA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D189C223-A500-C067-CE99-43320E2D38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8" y="4903022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7DD37D04-5F85-6D1E-9E58-7FCAD009B3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10817" y="6261148"/>
                <a:ext cx="485513" cy="4855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AD716DCC-4110-79B2-82DC-56338B454037}"/>
              </a:ext>
            </a:extLst>
          </p:cNvPr>
          <p:cNvGrpSpPr/>
          <p:nvPr/>
        </p:nvGrpSpPr>
        <p:grpSpPr>
          <a:xfrm>
            <a:off x="2976939" y="751680"/>
            <a:ext cx="10746602" cy="5962506"/>
            <a:chOff x="3144888" y="803290"/>
            <a:chExt cx="10746602" cy="5962506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57A7358C-0266-D0EC-696E-3739CCC30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803290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Мужчина, 30 лет, состоит в браке, без детей и иждивенцев</a:t>
              </a:r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806EA3DD-E237-EA21-BAA8-61F3724E9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3522650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Имеет 1 активный (не кредитная карта) и 1 закрытый счет (50% счетов активны)</a:t>
              </a:r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7AEAB787-BC58-26B5-1C29-B4AC33FCC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1483130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Работает специалистом в ООО в сфере торговли с зарплатой 250+ тыс. руб.</a:t>
              </a:r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2EBDCDA2-3C55-F7D4-9BBD-B6ACFC188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2162970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Имеет высшее образование, работает на текущем месте 6 дней</a:t>
              </a:r>
            </a:p>
          </p:txBody>
        </p:sp>
        <p:sp>
          <p:nvSpPr>
            <p:cNvPr id="21" name="Rectangle 1">
              <a:extLst>
                <a:ext uri="{FF2B5EF4-FFF2-40B4-BE49-F238E27FC236}">
                  <a16:creationId xmlns:a16="http://schemas.microsoft.com/office/drawing/2014/main" id="{864A6C9E-139D-7CD6-0FEF-ED71A4DD8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2842810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Может официально подтвердить доход через поступление зарплаты на счет </a:t>
              </a:r>
            </a:p>
          </p:txBody>
        </p:sp>
        <p:sp>
          <p:nvSpPr>
            <p:cNvPr id="22" name="Rectangle 1">
              <a:extLst>
                <a:ext uri="{FF2B5EF4-FFF2-40B4-BE49-F238E27FC236}">
                  <a16:creationId xmlns:a16="http://schemas.microsoft.com/office/drawing/2014/main" id="{99AB15D1-3A9D-D775-A629-105339101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6242012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В среднем оплачивает кредиты вовремя, имеет текущую просрочку до 30 дней</a:t>
              </a:r>
            </a:p>
          </p:txBody>
        </p:sp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794C703E-B387-C8ED-979C-2143376BB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4202490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Не пользуется онлайн-услугами банка через личный кабинет, редко обращается в БКИ</a:t>
              </a: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C0821940-FC79-9A30-CDA6-8D30A7E65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4882330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Имеет 3 кредита на ремонт со страховкой и без залога с платежом </a:t>
              </a:r>
              <a:r>
                <a:rPr lang="en-US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3</a:t>
              </a: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8</a:t>
              </a:r>
              <a:r>
                <a:rPr lang="en-US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 </a:t>
              </a: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тыс. руб. в месяц</a:t>
              </a:r>
            </a:p>
          </p:txBody>
        </p:sp>
        <p:sp>
          <p:nvSpPr>
            <p:cNvPr id="25" name="Rectangle 1">
              <a:extLst>
                <a:ext uri="{FF2B5EF4-FFF2-40B4-BE49-F238E27FC236}">
                  <a16:creationId xmlns:a16="http://schemas.microsoft.com/office/drawing/2014/main" id="{79DA69D3-C504-A130-EDF9-4608286CA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888" y="5562170"/>
              <a:ext cx="10746602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ru-RU" altLang="ru-RU" sz="1800" dirty="0">
                  <a:solidFill>
                    <a:srgbClr val="0F1115"/>
                  </a:solidFill>
                  <a:latin typeface="Aptos" panose="020B0004020202020204" pitchFamily="34" charset="0"/>
                </a:rPr>
                <a:t>Взял последний кредит полгода назад, всего имеет 7 лет кредитной истории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2634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68AE-0A5A-12ED-BFE7-FEAB8A96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 descr="Изображение выглядит как текст, снимок экрана, диаграмм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8BD546-ED05-F503-F0F3-D50DBF0A1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49" y="1720847"/>
            <a:ext cx="5355733" cy="3889639"/>
          </a:xfrm>
        </p:spPr>
      </p:pic>
      <p:pic>
        <p:nvPicPr>
          <p:cNvPr id="9" name="Рисунок 8" descr="Изображение выглядит как снимок экрана, текст, круг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4EDFC6-7AEC-0B5B-778F-A073EBA9E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144" y="1720847"/>
            <a:ext cx="6758803" cy="388963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CE18F-8266-D15A-9C1D-30E269891B9C}"/>
              </a:ext>
            </a:extLst>
          </p:cNvPr>
          <p:cNvSpPr txBox="1">
            <a:spLocks/>
          </p:cNvSpPr>
          <p:nvPr/>
        </p:nvSpPr>
        <p:spPr>
          <a:xfrm>
            <a:off x="294503" y="356336"/>
            <a:ext cx="5257800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</a:t>
            </a:r>
          </a:p>
          <a:p>
            <a:pPr>
              <a:lnSpc>
                <a:spcPct val="100000"/>
              </a:lnSpc>
            </a:pP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«Бизнес-правила»</a:t>
            </a:r>
          </a:p>
        </p:txBody>
      </p:sp>
    </p:spTree>
    <p:extLst>
      <p:ext uri="{BB962C8B-B14F-4D97-AF65-F5344CB8AC3E}">
        <p14:creationId xmlns:p14="http://schemas.microsoft.com/office/powerpoint/2010/main" val="1224075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780F0-6B54-827E-DFF1-E9552CBD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570BFA-866A-3DDC-BDEE-4074AE2FA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10" y="1208551"/>
            <a:ext cx="6649227" cy="5628014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DD212-1B07-BB2E-480C-47C68BE4B02C}"/>
              </a:ext>
            </a:extLst>
          </p:cNvPr>
          <p:cNvSpPr txBox="1">
            <a:spLocks/>
          </p:cNvSpPr>
          <p:nvPr/>
        </p:nvSpPr>
        <p:spPr>
          <a:xfrm>
            <a:off x="294502" y="246608"/>
            <a:ext cx="7532761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  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«Бизнес-правила»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E2E2DCEB-4449-A927-BD2C-1100FB58DA78}"/>
              </a:ext>
            </a:extLst>
          </p:cNvPr>
          <p:cNvSpPr/>
          <p:nvPr/>
        </p:nvSpPr>
        <p:spPr>
          <a:xfrm>
            <a:off x="7013807" y="2058088"/>
            <a:ext cx="4955132" cy="2827552"/>
          </a:xfrm>
          <a:prstGeom prst="roundRect">
            <a:avLst>
              <a:gd name="adj" fmla="val 78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F4B41-C2BC-0044-B250-5C16498AEAA6}"/>
              </a:ext>
            </a:extLst>
          </p:cNvPr>
          <p:cNvSpPr txBox="1"/>
          <p:nvPr/>
        </p:nvSpPr>
        <p:spPr>
          <a:xfrm>
            <a:off x="7240886" y="2242450"/>
            <a:ext cx="464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Ядро сегментации составляют 2 признака: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44A6CC11-33C7-7DE3-3714-07AA6E85B8EE}"/>
              </a:ext>
            </a:extLst>
          </p:cNvPr>
          <p:cNvGrpSpPr/>
          <p:nvPr/>
        </p:nvGrpSpPr>
        <p:grpSpPr>
          <a:xfrm>
            <a:off x="7240886" y="3801895"/>
            <a:ext cx="3373557" cy="827940"/>
            <a:chOff x="4740571" y="4159775"/>
            <a:chExt cx="3373557" cy="8279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9E40B-436E-F72A-AC76-6202A9E464E3}"/>
                </a:ext>
              </a:extLst>
            </p:cNvPr>
            <p:cNvSpPr txBox="1"/>
            <p:nvPr/>
          </p:nvSpPr>
          <p:spPr>
            <a:xfrm>
              <a:off x="4740571" y="4159775"/>
              <a:ext cx="33735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ru-RU" sz="2000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  <a:latin typeface="Helvetica Neue" panose="02000503000000020004" pitchFamily="2" charset="0"/>
                </a:rPr>
                <a:t>DTI</a:t>
              </a:r>
              <a:endParaRPr lang="ru-RU" sz="2000" dirty="0">
                <a:solidFill>
                  <a:srgbClr val="80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47850-FAA9-369A-B982-324319EFF89E}"/>
                </a:ext>
              </a:extLst>
            </p:cNvPr>
            <p:cNvSpPr txBox="1"/>
            <p:nvPr/>
          </p:nvSpPr>
          <p:spPr>
            <a:xfrm>
              <a:off x="4740571" y="4618383"/>
              <a:ext cx="21034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долговая нагрузка</a:t>
              </a: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605578E-8ADF-413D-F028-9109CAA4CBBD}"/>
              </a:ext>
            </a:extLst>
          </p:cNvPr>
          <p:cNvGrpSpPr/>
          <p:nvPr/>
        </p:nvGrpSpPr>
        <p:grpSpPr>
          <a:xfrm>
            <a:off x="7240886" y="2785313"/>
            <a:ext cx="3373557" cy="827940"/>
            <a:chOff x="4740571" y="3028890"/>
            <a:chExt cx="3373557" cy="8279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3B3222-0BB7-E24C-4B7E-ADD2471D233C}"/>
                </a:ext>
              </a:extLst>
            </p:cNvPr>
            <p:cNvSpPr txBox="1"/>
            <p:nvPr/>
          </p:nvSpPr>
          <p:spPr>
            <a:xfrm>
              <a:off x="4740571" y="3028890"/>
              <a:ext cx="33735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ru-RU" altLang="ru-RU" sz="2000" b="1" i="0" u="none" strike="noStrike" cap="none" normalizeH="0" baseline="0" dirty="0" err="1">
                  <a:ln>
                    <a:noFill/>
                  </a:ln>
                  <a:solidFill>
                    <a:srgbClr val="800000"/>
                  </a:solidFill>
                  <a:effectLst/>
                  <a:latin typeface="Helvetica Neue" panose="02000503000000020004" pitchFamily="2" charset="0"/>
                </a:rPr>
                <a:t>all_credits_group</a:t>
              </a:r>
              <a:r>
                <a:rPr kumimoji="0" lang="ru-RU" altLang="ru-RU" sz="2000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  <a:latin typeface="Helvetica Neue" panose="02000503000000020004" pitchFamily="2" charset="0"/>
                </a:rPr>
                <a:t> </a:t>
              </a:r>
              <a:endParaRPr lang="ru-RU" sz="2000" dirty="0">
                <a:solidFill>
                  <a:srgbClr val="80000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90C7B6-91A8-C40F-FBE0-4C7662D4B229}"/>
                </a:ext>
              </a:extLst>
            </p:cNvPr>
            <p:cNvSpPr txBox="1"/>
            <p:nvPr/>
          </p:nvSpPr>
          <p:spPr>
            <a:xfrm>
              <a:off x="4740571" y="3487498"/>
              <a:ext cx="2398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количество кредитов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7902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60E12-EB15-DF35-05C8-CB30FD2E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2A240-F189-EF71-7B9B-B4F37487FE3F}"/>
              </a:ext>
            </a:extLst>
          </p:cNvPr>
          <p:cNvSpPr txBox="1">
            <a:spLocks/>
          </p:cNvSpPr>
          <p:nvPr/>
        </p:nvSpPr>
        <p:spPr>
          <a:xfrm>
            <a:off x="294503" y="356336"/>
            <a:ext cx="5257800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</a:t>
            </a:r>
          </a:p>
          <a:p>
            <a:pPr>
              <a:lnSpc>
                <a:spcPct val="100000"/>
              </a:lnSpc>
            </a:pP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«Бизнес-правила»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163FD0B-19FC-9638-1628-B7378675421D}"/>
              </a:ext>
            </a:extLst>
          </p:cNvPr>
          <p:cNvGrpSpPr/>
          <p:nvPr/>
        </p:nvGrpSpPr>
        <p:grpSpPr>
          <a:xfrm>
            <a:off x="4695828" y="1103319"/>
            <a:ext cx="7287397" cy="5315482"/>
            <a:chOff x="3880665" y="910180"/>
            <a:chExt cx="7287397" cy="531548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D9AD231B-E3C3-C35D-D00D-356464A7F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0391"/>
            <a:stretch>
              <a:fillRect/>
            </a:stretch>
          </p:blipFill>
          <p:spPr>
            <a:xfrm>
              <a:off x="3880665" y="910180"/>
              <a:ext cx="4891860" cy="5315482"/>
            </a:xfrm>
            <a:prstGeom prst="rect">
              <a:avLst/>
            </a:prstGeom>
          </p:spPr>
        </p:pic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B5555451-5332-F125-6F35-D48C7CFFF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810"/>
            <a:stretch>
              <a:fillRect/>
            </a:stretch>
          </p:blipFill>
          <p:spPr>
            <a:xfrm>
              <a:off x="8772525" y="910180"/>
              <a:ext cx="2395537" cy="5315482"/>
            </a:xfrm>
            <a:prstGeom prst="rect">
              <a:avLst/>
            </a:prstGeom>
          </p:spPr>
        </p:pic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C67D98A6-C801-6AC4-F3D7-87230DCD3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03" y="1915763"/>
            <a:ext cx="3866680" cy="3690596"/>
          </a:xfrm>
          <a:prstGeom prst="roundRect">
            <a:avLst>
              <a:gd name="adj" fmla="val 668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С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амый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крупный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сегмент составляют клиенты с низкой долговой нагрузкой, имеющие до 3 кредитов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Самый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мелкий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сегмент –</a:t>
            </a:r>
            <a:endParaRPr kumimoji="0" lang="en-US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клиенты с низким </a:t>
            </a:r>
            <a:r>
              <a:rPr kumimoji="0" lang="en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DTI,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но количеством кредитов больше 10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 среднем все сегменты распределены примерно поровну (по ~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15%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клиентов в каждом)</a:t>
            </a:r>
          </a:p>
        </p:txBody>
      </p:sp>
    </p:spTree>
    <p:extLst>
      <p:ext uri="{BB962C8B-B14F-4D97-AF65-F5344CB8AC3E}">
        <p14:creationId xmlns:p14="http://schemas.microsoft.com/office/powerpoint/2010/main" val="3616281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51E0C-764B-E9AB-890F-02206616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A3BAE41-023E-781D-BCB0-811A78A7F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4" y="993591"/>
            <a:ext cx="7532760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№1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Клиенты с повышенной нагрузкой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lang="ru-RU" altLang="ru-RU" sz="1600" dirty="0">
                <a:solidFill>
                  <a:srgbClr val="0F1115"/>
                </a:solidFill>
              </a:rPr>
              <a:t>Женатый м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ужчина 33-х лет без детей. С</a:t>
            </a:r>
            <a:r>
              <a:rPr lang="ru-RU" altLang="ru-RU" sz="1600" dirty="0">
                <a:solidFill>
                  <a:srgbClr val="0F1115"/>
                </a:solidFill>
              </a:rPr>
              <a:t>пециалист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торговой компании со стажем 1 месяц с подтвержденным доходом выше 250 тыс. руб. </a:t>
            </a:r>
            <a:r>
              <a:rPr lang="ru-RU" altLang="ru-RU" sz="1600" dirty="0">
                <a:solidFill>
                  <a:srgbClr val="0F1115"/>
                </a:solidFill>
              </a:rPr>
              <a:t>О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бслуживает 3 кредита, на погашение которых уходит 30 тыс. руб. в месяц. Н</a:t>
            </a:r>
            <a:r>
              <a:rPr lang="ru-RU" altLang="ru-RU" sz="1600" dirty="0">
                <a:solidFill>
                  <a:srgbClr val="0F1115"/>
                </a:solidFill>
              </a:rPr>
              <a:t>е допускает 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просрочек, оформляет страховку и не берет кредиты под залог.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F5EBF9C-F5ED-DE1C-487B-0AA5626CA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1340848"/>
            <a:ext cx="3278896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высокая долговая нагрузка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высокая платежная дисциплина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9AD4E60-E1AC-C651-C582-831EC806A716}"/>
              </a:ext>
            </a:extLst>
          </p:cNvPr>
          <p:cNvSpPr>
            <a:spLocks/>
          </p:cNvSpPr>
          <p:nvPr/>
        </p:nvSpPr>
        <p:spPr bwMode="auto">
          <a:xfrm>
            <a:off x="374013" y="2842338"/>
            <a:ext cx="7532761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№2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Клиенты в зоне внимания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Мужчина 35-ти лет в браке без детей со стажем работы 1,5 месяца и «белой» зарплатой 250+ тыс. руб.  Имеет 7 кредитов на ремонт с общим платежом почти 100 тыс. руб. Высокая долговая нагрузка, подкрепленная наличием страховки и отсутствием залога, приводит к частым просрочкам по кредитам.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0BF369A-F4BA-0E6F-5D64-962740E86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3187738"/>
            <a:ext cx="3275488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высокая долговая нагрузка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повышенный риск просрочек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39CCFC7-5DFC-BF27-2E45-F5C3F2CE5E9C}"/>
              </a:ext>
            </a:extLst>
          </p:cNvPr>
          <p:cNvSpPr>
            <a:spLocks/>
          </p:cNvSpPr>
          <p:nvPr/>
        </p:nvSpPr>
        <p:spPr bwMode="auto">
          <a:xfrm>
            <a:off x="388191" y="4691084"/>
            <a:ext cx="7532760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№3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Риск-клиенты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37-ти летний мужчина в браке без детей. Последние 2 месяца работает специалистом в ООО и зарабатывает от 250 тыс. руб., что может подтвердить справкой 2НДФЛ. </a:t>
            </a:r>
            <a:r>
              <a:rPr lang="ru-RU" altLang="ru-RU" sz="1600" dirty="0">
                <a:solidFill>
                  <a:srgbClr val="0F1115"/>
                </a:solidFill>
              </a:rPr>
              <a:t>Н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аличие 14 кредитов без залога со средним платежом 192 тыс. руб. и текущая просрочка сигнализируют о высоком риске дефолта.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8F3774B-2774-CCF1-BDE6-6826CBBB9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7899" y="5036484"/>
            <a:ext cx="3275488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высокая долговая нагрузка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очень высокий риск просрочек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4C3D1DF6-E732-D13D-BD17-83724D01967B}"/>
              </a:ext>
            </a:extLst>
          </p:cNvPr>
          <p:cNvSpPr txBox="1">
            <a:spLocks/>
          </p:cNvSpPr>
          <p:nvPr/>
        </p:nvSpPr>
        <p:spPr>
          <a:xfrm>
            <a:off x="254746" y="246610"/>
            <a:ext cx="7532761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  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«Бизнес-правила»</a:t>
            </a:r>
          </a:p>
        </p:txBody>
      </p:sp>
    </p:spTree>
    <p:extLst>
      <p:ext uri="{BB962C8B-B14F-4D97-AF65-F5344CB8AC3E}">
        <p14:creationId xmlns:p14="http://schemas.microsoft.com/office/powerpoint/2010/main" val="2096110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2604-5C27-8FE9-B702-90853BC1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11469D7-912F-362F-F78F-45C05AFE2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4" y="993592"/>
            <a:ext cx="7391759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№4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Финансово-устойчивые клиенты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lang="ru-RU" altLang="ru-RU" sz="1600" dirty="0">
                <a:solidFill>
                  <a:srgbClr val="0F1115"/>
                </a:solidFill>
              </a:rPr>
              <a:t>Женщина в возрасте 33-х лет без детей. Занимает должность специалиста в ООО в течение последнего месяца и получает 250+ тыс. руб., из которых 28 тыс. руб. уходит на погашение 2-х кредитов на ремонт. Не допускает просрочек и оформляет страховку на кредит.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2967D0-1A39-DC7B-BABF-FD4ADADE5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1340848"/>
            <a:ext cx="3278896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умеренная долговая нагрузка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высокая платежная дисциплина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59AC29B-51AC-66A3-3835-D3032EC1E02F}"/>
              </a:ext>
            </a:extLst>
          </p:cNvPr>
          <p:cNvSpPr>
            <a:spLocks/>
          </p:cNvSpPr>
          <p:nvPr/>
        </p:nvSpPr>
        <p:spPr bwMode="auto">
          <a:xfrm>
            <a:off x="374013" y="2842339"/>
            <a:ext cx="7532761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№5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Активные благонадежные клиенты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34-х летняя женщина без детей  Последние 1,5 месяца работает в сфере торговли с зарплатой выше 250 тыс. руб.  Активно пользуется продуктами банка и имеет 6 активных кредитов с совокупным платежом 89 тыс. руб. Несмотря на невысокий </a:t>
            </a:r>
            <a:r>
              <a:rPr kumimoji="0" lang="en-US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DTI 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 кредитной истории присутствует просрочка, страховка оформлена.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58E7A33-3611-A734-67AD-80175FD39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3187739"/>
            <a:ext cx="3275488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умеренная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долговая нагрузка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повышенный риск просрочек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234857A-35A8-75D1-225D-EFF8A7242910}"/>
              </a:ext>
            </a:extLst>
          </p:cNvPr>
          <p:cNvSpPr>
            <a:spLocks/>
          </p:cNvSpPr>
          <p:nvPr/>
        </p:nvSpPr>
        <p:spPr bwMode="auto">
          <a:xfrm>
            <a:off x="388191" y="4691084"/>
            <a:ext cx="7532760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№6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Опытные заемщики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Женщина, 37 лет, состоит в браке и воспитывает 1 ребенка. Занимает позицию менеджера среднего звена в ООО в сфере торговли со стажем почти два месяца. Имеет 14 кредитов с платежом 177 тыс. руб., просрочкой и страховкой, не оформляет имущество под залог.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7397D78-E376-7D13-E016-8D2B8FAF4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7899" y="5036484"/>
            <a:ext cx="3275488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умеренная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долговая нагрузка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очень высокий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просрочек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269B4-4DB0-E722-D48C-8A70B1FE35A6}"/>
              </a:ext>
            </a:extLst>
          </p:cNvPr>
          <p:cNvSpPr txBox="1">
            <a:spLocks/>
          </p:cNvSpPr>
          <p:nvPr/>
        </p:nvSpPr>
        <p:spPr>
          <a:xfrm>
            <a:off x="254746" y="246610"/>
            <a:ext cx="7532761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  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«Бизнес-правила»</a:t>
            </a:r>
          </a:p>
        </p:txBody>
      </p:sp>
    </p:spTree>
    <p:extLst>
      <p:ext uri="{BB962C8B-B14F-4D97-AF65-F5344CB8AC3E}">
        <p14:creationId xmlns:p14="http://schemas.microsoft.com/office/powerpoint/2010/main" val="29299060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4164-DCC1-5B8A-DFA2-9F67E0CA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71D2AAB-3DB3-3AD8-5D9A-5B09CBFC1F6F}"/>
              </a:ext>
            </a:extLst>
          </p:cNvPr>
          <p:cNvSpPr txBox="1">
            <a:spLocks/>
          </p:cNvSpPr>
          <p:nvPr/>
        </p:nvSpPr>
        <p:spPr>
          <a:xfrm>
            <a:off x="254746" y="246610"/>
            <a:ext cx="7532761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  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«Бизнес-правила»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9ABC97-59D1-2885-4DD0-4E508986F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4" y="993593"/>
            <a:ext cx="7391759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№7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Финансово-устойчивые клиенты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32-х летний мужчина без детей</a:t>
            </a:r>
            <a:r>
              <a:rPr lang="ru-RU" altLang="ru-RU" sz="1600" dirty="0">
                <a:solidFill>
                  <a:srgbClr val="0F1115"/>
                </a:solidFill>
              </a:rPr>
              <a:t>, работающий специалистом в ООО в течение последнего месяца. Зарабатывает свыше 250 тыс. руб., из которых 29 тыс. руб. тратит на погашение 2 кредитов, взятых на ремонт  со страховкой и без залога. Несмотря на долговую нагрузку</a:t>
            </a:r>
            <a:r>
              <a:rPr lang="en-US" altLang="ru-RU" sz="1600" dirty="0">
                <a:solidFill>
                  <a:srgbClr val="0F1115"/>
                </a:solidFill>
              </a:rPr>
              <a:t> </a:t>
            </a:r>
            <a:r>
              <a:rPr lang="ru-RU" altLang="ru-RU" sz="1600" dirty="0">
                <a:solidFill>
                  <a:srgbClr val="0F1115"/>
                </a:solidFill>
              </a:rPr>
              <a:t>0,41, не имеет просрочек по кредитам.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1C09ED6-1972-D8D3-16CB-92D50CEF9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1338993"/>
            <a:ext cx="3278896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высокая долговая нагрузка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высокая платежная дисциплина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074228E-173C-20D2-DB73-2C958AEFD26C}"/>
              </a:ext>
            </a:extLst>
          </p:cNvPr>
          <p:cNvSpPr>
            <a:spLocks/>
          </p:cNvSpPr>
          <p:nvPr/>
        </p:nvSpPr>
        <p:spPr bwMode="auto">
          <a:xfrm>
            <a:off x="374013" y="2842339"/>
            <a:ext cx="7532761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№8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Активные благонадежные клиенты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Женщина в возрасте 34-х лет без детей. Работает специалистом в торговой компании с подтвержденным доходом 250+ тыс. руб. Имеет 7 кредитов с ежемесячным платежом 94 тыс. руб. Коэффициент </a:t>
            </a:r>
            <a:r>
              <a:rPr kumimoji="0" lang="en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DTI 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равен </a:t>
            </a:r>
            <a:r>
              <a:rPr kumimoji="0" lang="en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0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,</a:t>
            </a:r>
            <a:r>
              <a:rPr kumimoji="0" lang="en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42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и есть фактор риска в виде текущей просрочки. Страховка оформлена, имущества в залоге нет.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8063813-86AB-916A-BFE9-E37D2EE93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3187739"/>
            <a:ext cx="3275488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высокая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долговая нагрузка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повышенный риск просрочек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D71CCDF-62A3-8466-26A5-E5457E734184}"/>
              </a:ext>
            </a:extLst>
          </p:cNvPr>
          <p:cNvSpPr>
            <a:spLocks/>
          </p:cNvSpPr>
          <p:nvPr/>
        </p:nvSpPr>
        <p:spPr bwMode="auto">
          <a:xfrm>
            <a:off x="388191" y="4691084"/>
            <a:ext cx="7532760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№9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Опытные заемщики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lang="ru-RU" altLang="ru-RU" sz="1600" dirty="0">
                <a:solidFill>
                  <a:srgbClr val="0F1115"/>
                </a:solidFill>
              </a:rPr>
              <a:t>Замужняя и бездетная ж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енщина 35-ти лет. Совокупный платеж по 14 кредитам составляет 189 тыс. руб. в месяц.  </a:t>
            </a:r>
            <a:r>
              <a:rPr lang="ru-RU" altLang="ru-RU" sz="1600" dirty="0">
                <a:solidFill>
                  <a:srgbClr val="0F1115"/>
                </a:solidFill>
              </a:rPr>
              <a:t>Дохода от 250 тыс. руб. компенсирует больше 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количество обязательств, удерживая </a:t>
            </a:r>
            <a:r>
              <a:rPr kumimoji="0" lang="en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DTI 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на уровне 0,42, но просрочка все же есть  Страховка и залог не оформлены. 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EABE91E-ED55-2FBA-8D81-A4D9219F3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7899" y="5036484"/>
            <a:ext cx="3275488" cy="8178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высокая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долговая нагрузка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очень высокий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просрочек</a:t>
            </a:r>
          </a:p>
        </p:txBody>
      </p:sp>
    </p:spTree>
    <p:extLst>
      <p:ext uri="{BB962C8B-B14F-4D97-AF65-F5344CB8AC3E}">
        <p14:creationId xmlns:p14="http://schemas.microsoft.com/office/powerpoint/2010/main" val="3408818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B333-4D4C-1B8D-6CF8-46B141B8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26C74-86F3-BF87-D783-96A37AF8A8A9}"/>
              </a:ext>
            </a:extLst>
          </p:cNvPr>
          <p:cNvSpPr txBox="1">
            <a:spLocks/>
          </p:cNvSpPr>
          <p:nvPr/>
        </p:nvSpPr>
        <p:spPr>
          <a:xfrm>
            <a:off x="294503" y="356336"/>
            <a:ext cx="5257800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</a:t>
            </a:r>
          </a:p>
          <a:p>
            <a:pPr>
              <a:lnSpc>
                <a:spcPct val="100000"/>
              </a:lnSpc>
            </a:pP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«Квартили (</a:t>
            </a:r>
            <a:r>
              <a:rPr lang="en-US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RFM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)»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D97B3A3-FDBD-215D-C24B-59292ED9AE9B}"/>
              </a:ext>
            </a:extLst>
          </p:cNvPr>
          <p:cNvGrpSpPr/>
          <p:nvPr/>
        </p:nvGrpSpPr>
        <p:grpSpPr>
          <a:xfrm>
            <a:off x="6277509" y="1152483"/>
            <a:ext cx="5608812" cy="4553034"/>
            <a:chOff x="989890" y="1762888"/>
            <a:chExt cx="5608812" cy="4553034"/>
          </a:xfrm>
        </p:grpSpPr>
        <p:pic>
          <p:nvPicPr>
            <p:cNvPr id="4" name="Рисунок 3" descr="Изображение выглядит как текст, снимок экрана, Шрифт, диаграмм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1B3A2115-9A71-AC30-6F5F-649ED30B7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8646"/>
            <a:stretch>
              <a:fillRect/>
            </a:stretch>
          </p:blipFill>
          <p:spPr>
            <a:xfrm>
              <a:off x="5252503" y="1762889"/>
              <a:ext cx="1346199" cy="4553033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текст, снимок экрана, Шрифт, диаграмм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4C94AC6-CC19-4201-1F1B-6A8AB42B2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5827"/>
            <a:stretch>
              <a:fillRect/>
            </a:stretch>
          </p:blipFill>
          <p:spPr>
            <a:xfrm>
              <a:off x="989890" y="1762888"/>
              <a:ext cx="4045584" cy="4553033"/>
            </a:xfrm>
            <a:prstGeom prst="rect">
              <a:avLst/>
            </a:prstGeom>
          </p:spPr>
        </p:pic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0DB646FF-75D7-581A-6A14-2DAF0FCB1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03" y="1720813"/>
            <a:ext cx="4966611" cy="4266026"/>
          </a:xfrm>
          <a:prstGeom prst="roundRect">
            <a:avLst>
              <a:gd name="adj" fmla="val 575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158700" rIns="9144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Сегменты распределены примерно поровну, большая часть клиентов стабильна и заинтересована в продуктах банка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Наименее популярный сегмент – </a:t>
            </a:r>
            <a:r>
              <a:rPr lang="en" altLang="ru-RU" b="1" dirty="0"/>
              <a:t>At Risk</a:t>
            </a:r>
            <a:r>
              <a:rPr lang="en" altLang="ru-RU" dirty="0"/>
              <a:t>, </a:t>
            </a:r>
            <a:r>
              <a:rPr lang="ru-RU" altLang="ru-RU" dirty="0"/>
              <a:t>что хорошо, поскольку небольшое количество клиентов подвержены оттоку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Большинство клиентов сконцентрированы в сегменте </a:t>
            </a:r>
            <a:r>
              <a:rPr lang="en" altLang="ru-RU" b="1" dirty="0"/>
              <a:t>Lost</a:t>
            </a:r>
            <a:r>
              <a:rPr lang="ru-RU" altLang="ru-RU" b="1" dirty="0"/>
              <a:t> </a:t>
            </a:r>
            <a:r>
              <a:rPr lang="ru-RU" altLang="ru-RU" dirty="0"/>
              <a:t>– требуется провести дополнительный анализ данной категории клиентов, выяснить причину снижения их активности и постараться ее восстановить</a:t>
            </a:r>
          </a:p>
        </p:txBody>
      </p:sp>
    </p:spTree>
    <p:extLst>
      <p:ext uri="{BB962C8B-B14F-4D97-AF65-F5344CB8AC3E}">
        <p14:creationId xmlns:p14="http://schemas.microsoft.com/office/powerpoint/2010/main" val="932066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C2F75-22FE-3C66-632B-AA8C96BC1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FBD94-C86F-17CA-49E2-ECF726E15B76}"/>
              </a:ext>
            </a:extLst>
          </p:cNvPr>
          <p:cNvSpPr txBox="1">
            <a:spLocks/>
          </p:cNvSpPr>
          <p:nvPr/>
        </p:nvSpPr>
        <p:spPr>
          <a:xfrm>
            <a:off x="294503" y="356336"/>
            <a:ext cx="5257800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</a:t>
            </a:r>
          </a:p>
          <a:p>
            <a:pPr>
              <a:lnSpc>
                <a:spcPct val="100000"/>
              </a:lnSpc>
            </a:pP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«Квартили (</a:t>
            </a:r>
            <a:r>
              <a:rPr lang="en-US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RFM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)»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91FC6A-DCF4-C52E-69FB-F1681F0D0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1399342"/>
            <a:ext cx="5178289" cy="107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VIP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Часто берут кредиты, вносят большие платежи Основная цель </a:t>
            </a:r>
            <a:r>
              <a:rPr kumimoji="0" lang="en-US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удержание и стимулирование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05C0E0-0270-DBCB-F523-16ADE6630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2573478"/>
            <a:ext cx="3189897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600" dirty="0">
                <a:solidFill>
                  <a:srgbClr val="0F1115"/>
                </a:solidFill>
              </a:rPr>
              <a:t>л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учшие клиенты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8F8AF3C-7862-32E1-B4F2-52427990957F}"/>
              </a:ext>
            </a:extLst>
          </p:cNvPr>
          <p:cNvGrpSpPr/>
          <p:nvPr/>
        </p:nvGrpSpPr>
        <p:grpSpPr>
          <a:xfrm>
            <a:off x="6337115" y="1509067"/>
            <a:ext cx="5466695" cy="968056"/>
            <a:chOff x="6640449" y="1399342"/>
            <a:chExt cx="5466695" cy="968056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5817F8B7-21DF-C2F9-903A-C272ABCDD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Recency</a:t>
              </a:r>
            </a:p>
          </p:txBody>
        </p:sp>
        <p:sp>
          <p:nvSpPr>
            <p:cNvPr id="12" name="Rectangle 1">
              <a:extLst>
                <a:ext uri="{FF2B5EF4-FFF2-40B4-BE49-F238E27FC236}">
                  <a16:creationId xmlns:a16="http://schemas.microsoft.com/office/drawing/2014/main" id="{971DBEB6-60D6-D622-399F-BA1ABC75C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5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Frequency</a:t>
              </a:r>
            </a:p>
          </p:txBody>
        </p: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EABA4F4C-208C-DC5A-DC36-8BCE0C22C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40" y="1399342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" altLang="ru-RU" b="1" dirty="0">
                  <a:solidFill>
                    <a:srgbClr val="800000"/>
                  </a:solidFill>
                </a:rPr>
                <a:t>Monetary</a:t>
              </a:r>
              <a:endParaRPr kumimoji="0" lang="ru-RU" altLang="ru-RU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endParaRPr>
            </a:p>
          </p:txBody>
        </p:sp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2C3F4FC9-2923-AC23-6BC2-9A8D5D33B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3,5 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мес.</a:t>
              </a:r>
            </a:p>
          </p:txBody>
        </p:sp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ABE760CD-2926-7562-CA20-D207981AF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4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11,6 шт. </a:t>
              </a:r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9E7E1E58-1ECB-BE1A-D801-FA1444326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3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164,6 тыс. руб. </a:t>
              </a:r>
            </a:p>
          </p:txBody>
        </p:sp>
      </p:grpSp>
      <p:sp>
        <p:nvSpPr>
          <p:cNvPr id="19" name="Rectangle 1">
            <a:extLst>
              <a:ext uri="{FF2B5EF4-FFF2-40B4-BE49-F238E27FC236}">
                <a16:creationId xmlns:a16="http://schemas.microsoft.com/office/drawing/2014/main" id="{9BB95101-0EEE-0D93-2AF0-3C610B9F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3805871"/>
            <a:ext cx="5178289" cy="107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Loyal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lang="ru-RU" altLang="ru-RU" dirty="0">
                <a:solidFill>
                  <a:srgbClr val="0F1115"/>
                </a:solidFill>
              </a:rPr>
              <a:t>Стабильные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и прибыльные</a:t>
            </a:r>
            <a:r>
              <a:rPr kumimoji="0" lang="en-US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клиенты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Надо поддерживать и поощрять их активность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81366A3E-6E99-264F-9463-72728E64B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4980008"/>
            <a:ext cx="3189897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600" dirty="0">
                <a:solidFill>
                  <a:srgbClr val="0F1115"/>
                </a:solidFill>
              </a:rPr>
              <a:t>хорошие постоянные клиенты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B2ABDF58-99FD-A01C-B404-6C8BD56F48CF}"/>
              </a:ext>
            </a:extLst>
          </p:cNvPr>
          <p:cNvGrpSpPr/>
          <p:nvPr/>
        </p:nvGrpSpPr>
        <p:grpSpPr>
          <a:xfrm>
            <a:off x="6337115" y="3915597"/>
            <a:ext cx="5466695" cy="968056"/>
            <a:chOff x="6640449" y="1399342"/>
            <a:chExt cx="5466695" cy="968056"/>
          </a:xfrm>
        </p:grpSpPr>
        <p:sp>
          <p:nvSpPr>
            <p:cNvPr id="22" name="Rectangle 1">
              <a:extLst>
                <a:ext uri="{FF2B5EF4-FFF2-40B4-BE49-F238E27FC236}">
                  <a16:creationId xmlns:a16="http://schemas.microsoft.com/office/drawing/2014/main" id="{41C17D90-4E47-7C97-F90F-AE4019790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Recency</a:t>
              </a:r>
            </a:p>
          </p:txBody>
        </p:sp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B9C07EF2-04E3-9E77-08F6-5702567A1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5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Frequency</a:t>
              </a: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9BBA0138-E3C0-347F-9CDF-22B5FA9E0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40" y="1399342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" altLang="ru-RU" b="1" dirty="0">
                  <a:solidFill>
                    <a:srgbClr val="800000"/>
                  </a:solidFill>
                </a:rPr>
                <a:t>Monetary</a:t>
              </a:r>
              <a:endParaRPr kumimoji="0" lang="ru-RU" altLang="ru-RU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endParaRPr>
            </a:p>
          </p:txBody>
        </p:sp>
        <p:sp>
          <p:nvSpPr>
            <p:cNvPr id="25" name="Rectangle 1">
              <a:extLst>
                <a:ext uri="{FF2B5EF4-FFF2-40B4-BE49-F238E27FC236}">
                  <a16:creationId xmlns:a16="http://schemas.microsoft.com/office/drawing/2014/main" id="{7CA234DF-B5FB-91D8-1752-D9208DEA9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dirty="0">
                  <a:solidFill>
                    <a:srgbClr val="0F1115"/>
                  </a:solidFill>
                </a:rPr>
                <a:t>6</a:t>
              </a:r>
              <a:r>
                <a:rPr kumimoji="0" lang="en-US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,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9</a:t>
              </a:r>
              <a:r>
                <a:rPr kumimoji="0" lang="en-US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 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мес.</a:t>
              </a:r>
            </a:p>
          </p:txBody>
        </p:sp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6451AF70-CA58-19BB-18AB-BEFDD71EF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4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dirty="0">
                  <a:solidFill>
                    <a:srgbClr val="0F1115"/>
                  </a:solidFill>
                </a:rPr>
                <a:t>7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,6 шт. </a:t>
              </a:r>
            </a:p>
          </p:txBody>
        </p:sp>
        <p:sp>
          <p:nvSpPr>
            <p:cNvPr id="27" name="Rectangle 1">
              <a:extLst>
                <a:ext uri="{FF2B5EF4-FFF2-40B4-BE49-F238E27FC236}">
                  <a16:creationId xmlns:a16="http://schemas.microsoft.com/office/drawing/2014/main" id="{707CB169-55AB-AF7A-8C26-F2FC4C50F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3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105,1 тыс. руб. </a:t>
              </a:r>
            </a:p>
          </p:txBody>
        </p:sp>
      </p:grpSp>
      <p:sp>
        <p:nvSpPr>
          <p:cNvPr id="28" name="Rectangle 1">
            <a:extLst>
              <a:ext uri="{FF2B5EF4-FFF2-40B4-BE49-F238E27FC236}">
                <a16:creationId xmlns:a16="http://schemas.microsoft.com/office/drawing/2014/main" id="{37F5C67D-764B-A681-C315-94BB9A922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89" y="6298506"/>
            <a:ext cx="12320645" cy="462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Recency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– средняя давность последнего кредита, </a:t>
            </a:r>
            <a:r>
              <a:rPr kumimoji="0" lang="en" altLang="ru-RU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Frequency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– среднее количество кредитов, </a:t>
            </a:r>
            <a:r>
              <a:rPr kumimoji="0" lang="en" altLang="ru-RU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Monetary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– средняя сумма последнего платежа   </a:t>
            </a:r>
          </a:p>
        </p:txBody>
      </p:sp>
    </p:spTree>
    <p:extLst>
      <p:ext uri="{BB962C8B-B14F-4D97-AF65-F5344CB8AC3E}">
        <p14:creationId xmlns:p14="http://schemas.microsoft.com/office/powerpoint/2010/main" val="3864528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29618-98E8-4728-8F60-C12150FF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FA0EA-7E45-8600-B1C4-21D81E2D1618}"/>
              </a:ext>
            </a:extLst>
          </p:cNvPr>
          <p:cNvSpPr txBox="1">
            <a:spLocks/>
          </p:cNvSpPr>
          <p:nvPr/>
        </p:nvSpPr>
        <p:spPr>
          <a:xfrm>
            <a:off x="294503" y="356336"/>
            <a:ext cx="5257800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</a:t>
            </a:r>
          </a:p>
          <a:p>
            <a:pPr>
              <a:lnSpc>
                <a:spcPct val="100000"/>
              </a:lnSpc>
            </a:pP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«Квартили (</a:t>
            </a:r>
            <a:r>
              <a:rPr lang="en-US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RFM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)»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3B4020-B31D-568B-5145-476DA2065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1399342"/>
            <a:ext cx="5178289" cy="107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Core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Имеют средние показатели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F1115"/>
                </a:solidFill>
              </a:rPr>
              <a:t>Т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ребуется удержание и стимулирование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2737FB-57EA-F337-4D6B-CF229CE8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2573478"/>
            <a:ext cx="3189897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600" dirty="0">
                <a:solidFill>
                  <a:srgbClr val="0F1115"/>
                </a:solidFill>
              </a:rPr>
              <a:t>основная клиентская база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7067036-14A9-104C-3913-85E1474FE975}"/>
              </a:ext>
            </a:extLst>
          </p:cNvPr>
          <p:cNvGrpSpPr/>
          <p:nvPr/>
        </p:nvGrpSpPr>
        <p:grpSpPr>
          <a:xfrm>
            <a:off x="6337115" y="1509067"/>
            <a:ext cx="5466695" cy="968056"/>
            <a:chOff x="6640449" y="1399342"/>
            <a:chExt cx="5466695" cy="968056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7B1B175C-6799-56C1-3807-84D360552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Recency</a:t>
              </a:r>
            </a:p>
          </p:txBody>
        </p:sp>
        <p:sp>
          <p:nvSpPr>
            <p:cNvPr id="12" name="Rectangle 1">
              <a:extLst>
                <a:ext uri="{FF2B5EF4-FFF2-40B4-BE49-F238E27FC236}">
                  <a16:creationId xmlns:a16="http://schemas.microsoft.com/office/drawing/2014/main" id="{CA8F26D4-91EC-7776-C108-378ACEF61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5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Frequency</a:t>
              </a:r>
            </a:p>
          </p:txBody>
        </p: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42801970-05AC-6493-DB17-233D39FD2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40" y="1399342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" altLang="ru-RU" b="1" dirty="0">
                  <a:solidFill>
                    <a:srgbClr val="800000"/>
                  </a:solidFill>
                </a:rPr>
                <a:t>Monetary</a:t>
              </a:r>
              <a:endParaRPr kumimoji="0" lang="ru-RU" altLang="ru-RU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endParaRPr>
            </a:p>
          </p:txBody>
        </p:sp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A8FF4365-BCA1-AAD7-0B39-CA789F344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3,5 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мес.</a:t>
              </a:r>
            </a:p>
          </p:txBody>
        </p:sp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89FCE295-9DAF-DEA0-1655-8E97D511F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4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dirty="0">
                  <a:solidFill>
                    <a:srgbClr val="0F1115"/>
                  </a:solidFill>
                </a:rPr>
                <a:t>3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,5 шт. </a:t>
              </a:r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ED433D91-E441-D380-221C-2051D5658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3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dirty="0">
                  <a:solidFill>
                    <a:srgbClr val="0F1115"/>
                  </a:solidFill>
                </a:rPr>
                <a:t>30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,3 тыс. руб. </a:t>
              </a:r>
            </a:p>
          </p:txBody>
        </p:sp>
      </p:grpSp>
      <p:sp>
        <p:nvSpPr>
          <p:cNvPr id="19" name="Rectangle 1">
            <a:extLst>
              <a:ext uri="{FF2B5EF4-FFF2-40B4-BE49-F238E27FC236}">
                <a16:creationId xmlns:a16="http://schemas.microsoft.com/office/drawing/2014/main" id="{75B1B26F-835B-288F-3214-E3AD20B51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3805870"/>
            <a:ext cx="5178289" cy="107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Lost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Д</a:t>
            </a:r>
            <a:r>
              <a:rPr lang="ru-RU" altLang="ru-RU" dirty="0">
                <a:solidFill>
                  <a:srgbClr val="0F1115"/>
                </a:solidFill>
              </a:rPr>
              <a:t>авно не брали кредиты, минимальные платежи Привлечение невыгодно для банка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C1CDC5D-1061-A41F-3E49-23ADBFB1F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4980008"/>
            <a:ext cx="3189897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600" dirty="0">
                <a:solidFill>
                  <a:srgbClr val="0F1115"/>
                </a:solidFill>
              </a:rPr>
              <a:t>потерянные клиенты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068C503F-73C2-FC32-A89E-6DEE76D1DEB1}"/>
              </a:ext>
            </a:extLst>
          </p:cNvPr>
          <p:cNvGrpSpPr/>
          <p:nvPr/>
        </p:nvGrpSpPr>
        <p:grpSpPr>
          <a:xfrm>
            <a:off x="6337115" y="3915597"/>
            <a:ext cx="5466695" cy="968056"/>
            <a:chOff x="6640449" y="1399342"/>
            <a:chExt cx="5466695" cy="968056"/>
          </a:xfrm>
        </p:grpSpPr>
        <p:sp>
          <p:nvSpPr>
            <p:cNvPr id="22" name="Rectangle 1">
              <a:extLst>
                <a:ext uri="{FF2B5EF4-FFF2-40B4-BE49-F238E27FC236}">
                  <a16:creationId xmlns:a16="http://schemas.microsoft.com/office/drawing/2014/main" id="{919E8A21-1217-C1EB-4C0D-C64F57049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Recency</a:t>
              </a:r>
            </a:p>
          </p:txBody>
        </p:sp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C1A7C4AB-FCF7-0808-F113-CE030F865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5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Frequency</a:t>
              </a: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63351ED4-0487-671F-0E43-3E3698EDF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40" y="1399342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" altLang="ru-RU" b="1" dirty="0">
                  <a:solidFill>
                    <a:srgbClr val="800000"/>
                  </a:solidFill>
                </a:rPr>
                <a:t>Monetary</a:t>
              </a:r>
              <a:endParaRPr kumimoji="0" lang="ru-RU" altLang="ru-RU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endParaRPr>
            </a:p>
          </p:txBody>
        </p:sp>
        <p:sp>
          <p:nvSpPr>
            <p:cNvPr id="25" name="Rectangle 1">
              <a:extLst>
                <a:ext uri="{FF2B5EF4-FFF2-40B4-BE49-F238E27FC236}">
                  <a16:creationId xmlns:a16="http://schemas.microsoft.com/office/drawing/2014/main" id="{9DF62180-4C16-16D6-802A-E74E300C3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23</a:t>
              </a:r>
              <a:r>
                <a:rPr kumimoji="0" lang="en-US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,</a:t>
              </a:r>
              <a:r>
                <a:rPr lang="ru-RU" altLang="ru-RU" dirty="0">
                  <a:solidFill>
                    <a:srgbClr val="0F1115"/>
                  </a:solidFill>
                </a:rPr>
                <a:t>8</a:t>
              </a:r>
              <a:r>
                <a:rPr kumimoji="0" lang="en-US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 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мес.</a:t>
              </a:r>
            </a:p>
          </p:txBody>
        </p:sp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7315F7AC-2C33-F1BF-A682-9FEF31724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4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2,8 шт. </a:t>
              </a:r>
            </a:p>
          </p:txBody>
        </p:sp>
        <p:sp>
          <p:nvSpPr>
            <p:cNvPr id="27" name="Rectangle 1">
              <a:extLst>
                <a:ext uri="{FF2B5EF4-FFF2-40B4-BE49-F238E27FC236}">
                  <a16:creationId xmlns:a16="http://schemas.microsoft.com/office/drawing/2014/main" id="{458F2F4F-B995-014D-D57F-D073DAAC2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3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dirty="0">
                  <a:solidFill>
                    <a:srgbClr val="0F1115"/>
                  </a:solidFill>
                </a:rPr>
                <a:t>36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,9 тыс. руб.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366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8434-1DE7-9FD2-63C0-C307A0463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BBB5B-63D4-67E8-FE87-46BFAA6B85EE}"/>
              </a:ext>
            </a:extLst>
          </p:cNvPr>
          <p:cNvSpPr txBox="1">
            <a:spLocks/>
          </p:cNvSpPr>
          <p:nvPr/>
        </p:nvSpPr>
        <p:spPr>
          <a:xfrm>
            <a:off x="294503" y="356336"/>
            <a:ext cx="5257800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</a:t>
            </a:r>
          </a:p>
          <a:p>
            <a:pPr>
              <a:lnSpc>
                <a:spcPct val="100000"/>
              </a:lnSpc>
            </a:pP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«Квартили (</a:t>
            </a:r>
            <a:r>
              <a:rPr lang="en-US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RFM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)»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24528-EAFB-5284-F9AE-41E9CE1AF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1399342"/>
            <a:ext cx="5178289" cy="107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At Risk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lang="ru-RU" altLang="ru-RU" dirty="0">
                <a:solidFill>
                  <a:srgbClr val="0F1115"/>
                </a:solidFill>
              </a:rPr>
              <a:t>А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ктивность снижается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F1115"/>
                </a:solidFill>
              </a:rPr>
              <a:t>Цель –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выяснить причины и попытаться вернуть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F17D66-BC5E-C04E-828D-9A4183B05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90" y="2573478"/>
            <a:ext cx="3189897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600" dirty="0">
                <a:solidFill>
                  <a:srgbClr val="0F1115"/>
                </a:solidFill>
              </a:rPr>
              <a:t>клиенты с признаками оттока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D6FAE5B5-51AA-5592-D4FA-831F31677DED}"/>
              </a:ext>
            </a:extLst>
          </p:cNvPr>
          <p:cNvGrpSpPr/>
          <p:nvPr/>
        </p:nvGrpSpPr>
        <p:grpSpPr>
          <a:xfrm>
            <a:off x="6337115" y="1509067"/>
            <a:ext cx="5466695" cy="968056"/>
            <a:chOff x="6640449" y="1399342"/>
            <a:chExt cx="5466695" cy="968056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C20DE621-53C2-45B9-AB31-DB1C5EF69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Recency</a:t>
              </a:r>
            </a:p>
          </p:txBody>
        </p:sp>
        <p:sp>
          <p:nvSpPr>
            <p:cNvPr id="12" name="Rectangle 1">
              <a:extLst>
                <a:ext uri="{FF2B5EF4-FFF2-40B4-BE49-F238E27FC236}">
                  <a16:creationId xmlns:a16="http://schemas.microsoft.com/office/drawing/2014/main" id="{3F2C1017-302A-CCC1-F186-059D5263C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5" y="1433603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" altLang="ru-RU" b="1" i="0" u="none" strike="noStrike" cap="none" normalizeH="0" baseline="0" dirty="0">
                  <a:ln>
                    <a:noFill/>
                  </a:ln>
                  <a:solidFill>
                    <a:srgbClr val="800000"/>
                  </a:solidFill>
                  <a:effectLst/>
                </a:rPr>
                <a:t>Frequency</a:t>
              </a:r>
            </a:p>
          </p:txBody>
        </p: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4DCD4F01-9B33-CF79-D187-5132FC828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40" y="1399342"/>
              <a:ext cx="1153298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" altLang="ru-RU" b="1" dirty="0">
                  <a:solidFill>
                    <a:srgbClr val="800000"/>
                  </a:solidFill>
                </a:rPr>
                <a:t>Monetary</a:t>
              </a:r>
              <a:endParaRPr kumimoji="0" lang="ru-RU" altLang="ru-RU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endParaRPr>
            </a:p>
          </p:txBody>
        </p:sp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CD7A4825-7D48-6224-5B06-398380B2B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44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22</a:t>
              </a:r>
              <a:r>
                <a:rPr kumimoji="0" lang="en-US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,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4</a:t>
              </a:r>
              <a:r>
                <a:rPr kumimoji="0" lang="en-US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 </a:t>
              </a: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мес.</a:t>
              </a:r>
            </a:p>
          </p:txBody>
        </p:sp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EEC7D23D-EC4A-AF81-E219-F38431351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94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6,9 шт. </a:t>
              </a:r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809B1D52-67D5-E319-6782-C2FD3C056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739" y="1843614"/>
              <a:ext cx="1602405" cy="523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122199" rIns="0" bIns="122199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ru-RU" altLang="ru-RU" i="0" u="none" strike="noStrike" cap="none" normalizeH="0" baseline="0" dirty="0">
                  <a:ln>
                    <a:noFill/>
                  </a:ln>
                  <a:solidFill>
                    <a:srgbClr val="0F1115"/>
                  </a:solidFill>
                  <a:effectLst/>
                </a:rPr>
                <a:t>134,5 тыс. руб.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09808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7F2AD-393B-3624-68FC-687D63AD2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1F1DD1B-1590-E9B2-7655-393D60E88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4" y="993594"/>
            <a:ext cx="7391759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1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VIP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lang="ru-RU" altLang="ru-RU" sz="1600" dirty="0">
                <a:solidFill>
                  <a:srgbClr val="0F1115"/>
                </a:solidFill>
              </a:rPr>
              <a:t>М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ужчина </a:t>
            </a:r>
            <a:r>
              <a:rPr kumimoji="0" lang="en-US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36-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ти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лет в браке без детей. Работает </a:t>
            </a:r>
            <a:r>
              <a:rPr lang="ru-RU" altLang="ru-RU" sz="1600" dirty="0">
                <a:solidFill>
                  <a:srgbClr val="0F1115"/>
                </a:solidFill>
              </a:rPr>
              <a:t>специалистом в ООО и зарабатывает от 250 тыс. руб., что может подтвердить справкой по форме банка.  Имеет 11 кредитов на ремонт с подключением страховки и без залога. Совокупный ежемесячный платеж составляет 144 тыс. руб., бывают просрочки.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6D8D70-6C87-4A8E-1B9A-55EBF129C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1477055"/>
            <a:ext cx="3278896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лучший клиент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469C3D6-A76D-BFC2-AB02-93A954E12A84}"/>
              </a:ext>
            </a:extLst>
          </p:cNvPr>
          <p:cNvSpPr txBox="1">
            <a:spLocks/>
          </p:cNvSpPr>
          <p:nvPr/>
        </p:nvSpPr>
        <p:spPr>
          <a:xfrm>
            <a:off x="254746" y="246610"/>
            <a:ext cx="7532761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  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«Квартили </a:t>
            </a:r>
            <a:r>
              <a:rPr lang="en-US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(RFM)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»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ABEEACD-AA8E-BBDF-85ED-2BC9B124EBCE}"/>
              </a:ext>
            </a:extLst>
          </p:cNvPr>
          <p:cNvSpPr>
            <a:spLocks/>
          </p:cNvSpPr>
          <p:nvPr/>
        </p:nvSpPr>
        <p:spPr bwMode="auto">
          <a:xfrm>
            <a:off x="374013" y="2842340"/>
            <a:ext cx="7532761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№2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Loyal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34-х летняя</a:t>
            </a:r>
            <a:r>
              <a:rPr kumimoji="0" lang="en-US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замужняя женщина без детей. Работает в ООО в сфере торговли на должности специалиста. Доход составляет 250+ тыс. руб., из которых 83 тыс. руб. уходят на погашение 7 кредитов со страховкой и без залога. В кредитной истории присутствуют просрочки. 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C9E5F4A-3E90-937D-F9CD-09D3A791F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3323948"/>
            <a:ext cx="3275488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хороший постоянный клиент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558BF05-A21D-76D3-5B95-DD2E52E2A5B1}"/>
              </a:ext>
            </a:extLst>
          </p:cNvPr>
          <p:cNvSpPr>
            <a:spLocks/>
          </p:cNvSpPr>
          <p:nvPr/>
        </p:nvSpPr>
        <p:spPr bwMode="auto">
          <a:xfrm>
            <a:off x="388191" y="4691084"/>
            <a:ext cx="7532760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№3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Core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Мужчина, 37 лет, состоит в браке и не имеет детей. Зарабатывает свыше 250 тыс. руб. в торговой компании на должности специалиста. Имеет 3 кредита на ремонт, с подключенной страховкой и без залогового обеспечения. Общий платеж составляет 29 тыс. руб. в месяц. Просрочек по кредитам не допускает.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453CD627-88C7-49B3-EABA-F51014FB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7899" y="5172692"/>
            <a:ext cx="3275488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основной клиент</a:t>
            </a:r>
          </a:p>
        </p:txBody>
      </p:sp>
    </p:spTree>
    <p:extLst>
      <p:ext uri="{BB962C8B-B14F-4D97-AF65-F5344CB8AC3E}">
        <p14:creationId xmlns:p14="http://schemas.microsoft.com/office/powerpoint/2010/main" val="2234830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14DDF-7EA7-D2F7-7417-93B4EBC7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719060A-0236-6A2D-4414-80CC37D64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4" y="993593"/>
            <a:ext cx="7391759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</a:t>
            </a:r>
            <a:r>
              <a:rPr lang="ru-RU" altLang="ru-RU" b="1" dirty="0">
                <a:solidFill>
                  <a:srgbClr val="0F1115"/>
                </a:solidFill>
              </a:rPr>
              <a:t>4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Lost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33-х летняя женщина в браке без детей. Трудоустроена специалистом в торговую компанию. Доход от 250 тыс. руб., может быть подтвержден выпиской по счету. Является заемщиком по 3 кредитам со страховкой и без залога. Общий платеж составляет </a:t>
            </a:r>
            <a:r>
              <a:rPr lang="ru-RU" altLang="ru-RU" sz="1600" dirty="0">
                <a:solidFill>
                  <a:srgbClr val="0F1115"/>
                </a:solidFill>
              </a:rPr>
              <a:t>34 тыс. руб.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, просрочек нет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DAE6C4-F66C-5316-DE7B-ED4DC0E04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1475201"/>
            <a:ext cx="3278896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потерянный клиент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13A72CE-7897-F2DF-7A75-801C9A0853AA}"/>
              </a:ext>
            </a:extLst>
          </p:cNvPr>
          <p:cNvSpPr txBox="1">
            <a:spLocks/>
          </p:cNvSpPr>
          <p:nvPr/>
        </p:nvSpPr>
        <p:spPr>
          <a:xfrm>
            <a:off x="254746" y="246610"/>
            <a:ext cx="7532761" cy="74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400" b="1" dirty="0">
                <a:solidFill>
                  <a:srgbClr val="800000"/>
                </a:solidFill>
                <a:latin typeface="Aptos" panose="020B0004020202020204" pitchFamily="34" charset="0"/>
              </a:rPr>
              <a:t>Сегментация клиентов  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методом «Квартили </a:t>
            </a:r>
            <a:r>
              <a:rPr lang="en-US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(RFM)</a:t>
            </a:r>
            <a:r>
              <a:rPr lang="ru-RU" altLang="ru-RU" sz="1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»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0178A51-2FF7-C50E-AF96-7C440C6FCDA7}"/>
              </a:ext>
            </a:extLst>
          </p:cNvPr>
          <p:cNvSpPr>
            <a:spLocks/>
          </p:cNvSpPr>
          <p:nvPr/>
        </p:nvSpPr>
        <p:spPr bwMode="auto">
          <a:xfrm>
            <a:off x="374013" y="2842340"/>
            <a:ext cx="7532761" cy="150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Сегмент №5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–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At Risk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Замужняя женщина 37-и лет, не имеющая детей. Занята в ООО в сфере торговли. Ежемесячный доход превышает 250 тыс. руб., и может быть подтвержден справкой по форме банка. Имеет 6 кредитов на ремонт с ежемесячным платежом188 тыс. руб. Допускает просрочки, есть страховка, залог не оформлен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BFB7DD2-7361-6D12-8A80-F19A523F3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3722" y="3323948"/>
            <a:ext cx="3275488" cy="54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122199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solidFill>
                  <a:srgbClr val="0F1115"/>
                </a:solidFill>
              </a:rPr>
              <a:t>клиент с признаком оттока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59229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5594</TotalTime>
  <Words>2674</Words>
  <Application>Microsoft Macintosh PowerPoint</Application>
  <PresentationFormat>Широкоэкранный</PresentationFormat>
  <Paragraphs>322</Paragraphs>
  <Slides>39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Aptos Narrow</vt:lpstr>
      <vt:lpstr>Arial</vt:lpstr>
      <vt:lpstr>Helvetica Neue</vt:lpstr>
      <vt:lpstr>Тема Office</vt:lpstr>
      <vt:lpstr>КЛИЕНТСКАЯ АНАЛИТИКА</vt:lpstr>
      <vt:lpstr>Статистика по уникальным, нулевым и пустым значениям</vt:lpstr>
      <vt:lpstr>Социально-демографические характеристики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Арина Катышева</dc:creator>
  <cp:lastModifiedBy>Арина Катышева</cp:lastModifiedBy>
  <cp:revision>228</cp:revision>
  <dcterms:created xsi:type="dcterms:W3CDTF">2025-12-26T15:43:44Z</dcterms:created>
  <dcterms:modified xsi:type="dcterms:W3CDTF">2026-03-04T22:35:01Z</dcterms:modified>
</cp:coreProperties>
</file>