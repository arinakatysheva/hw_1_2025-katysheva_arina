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72" r:id="rId3"/>
    <p:sldId id="273" r:id="rId4"/>
    <p:sldId id="274" r:id="rId5"/>
    <p:sldId id="275" r:id="rId6"/>
    <p:sldId id="279" r:id="rId7"/>
    <p:sldId id="282" r:id="rId8"/>
    <p:sldId id="283" r:id="rId9"/>
    <p:sldId id="284" r:id="rId10"/>
    <p:sldId id="285" r:id="rId11"/>
    <p:sldId id="289" r:id="rId12"/>
    <p:sldId id="290" r:id="rId13"/>
    <p:sldId id="291" r:id="rId14"/>
    <p:sldId id="298" r:id="rId15"/>
    <p:sldId id="300" r:id="rId16"/>
    <p:sldId id="299" r:id="rId17"/>
    <p:sldId id="295" r:id="rId18"/>
    <p:sldId id="296" r:id="rId19"/>
    <p:sldId id="297" r:id="rId20"/>
    <p:sldId id="287" r:id="rId21"/>
    <p:sldId id="292" r:id="rId22"/>
    <p:sldId id="293" r:id="rId23"/>
    <p:sldId id="294" r:id="rId24"/>
    <p:sldId id="301" r:id="rId25"/>
    <p:sldId id="302" r:id="rId26"/>
    <p:sldId id="303" r:id="rId27"/>
    <p:sldId id="304" r:id="rId28"/>
    <p:sldId id="308" r:id="rId29"/>
    <p:sldId id="307" r:id="rId30"/>
    <p:sldId id="309" r:id="rId31"/>
    <p:sldId id="311" r:id="rId32"/>
    <p:sldId id="310" r:id="rId33"/>
    <p:sldId id="312" r:id="rId34"/>
    <p:sldId id="313" r:id="rId35"/>
    <p:sldId id="314" r:id="rId3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37F"/>
    <a:srgbClr val="1F1543"/>
    <a:srgbClr val="BDF711"/>
    <a:srgbClr val="6F63B6"/>
    <a:srgbClr val="A193C8"/>
    <a:srgbClr val="453D76"/>
    <a:srgbClr val="489100"/>
    <a:srgbClr val="BDF611"/>
    <a:srgbClr val="D7E20B"/>
    <a:srgbClr val="7ED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/>
    <p:restoredTop sz="94614"/>
  </p:normalViewPr>
  <p:slideViewPr>
    <p:cSldViewPr snapToGrid="0">
      <p:cViewPr>
        <p:scale>
          <a:sx n="60" d="100"/>
          <a:sy n="60" d="100"/>
        </p:scale>
        <p:origin x="2512" y="10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67BBC-7584-274E-8D87-94A44F9C4265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25BDB-2B85-4243-B1BB-DD522C501B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64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678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41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C6E4F-BA2B-76BB-4505-3F82AC0E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DF0EF3-777C-FA60-FB06-DC804B9C4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5B9438-1553-3352-4B68-D41B4D8B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C1F2C7-E3DF-8CD9-BBEA-A83855110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71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38B2-6009-68C5-43D8-2F66133D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7C4F4C-E1BB-EE39-270A-BD3B8B80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6867DF-5F6E-40EC-D6C6-43BBA2DD6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869219-7087-A3D0-B654-412E18F86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068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7572-AA25-D491-43FA-0D400FA6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5E3A1B-F721-FF5D-DE94-A1DFCC87D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F5B605-EC79-CA73-A4AF-2F385F2DF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85FEF0-A781-4DFD-C4AB-65A0D2AE9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53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4D03-4C7A-C50F-F798-FF95C328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FD9EAB-697F-97F5-A1F3-06BF4DC4B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3D0DF1-191D-6A0B-DC07-4F1CAEC8D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1C3F36-F756-AC04-B123-4D1811D12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22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83BC-6042-B522-2017-68DBE79A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39A2F0-D0C4-D40E-3070-7F129863B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9C1608-B339-0932-8E17-3A8E7A080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83E465-09E0-023E-5D3A-905098676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325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4208-D75C-4BCA-7660-7BB905D3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05826F-539D-DE60-3C1E-4322B34CF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B0A68AB-95F2-1937-4A8C-1A87DC2F3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9FF67B-1ACE-3BE9-2D93-6FB7832C1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985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3BD-96F9-F3C7-6A91-FF5EA9CB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AEF6FB-7138-7FEE-CC23-477BC5D63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F8AF18-A2C2-3433-92BD-D369FB135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291A4D-BD80-CACD-9ECA-20B2C14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11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5723-E6EB-23D2-B6A4-D303377E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D6BFCB-3D04-3480-3C09-F15D4C05C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9E113C-9756-2295-2C59-C9228A2F9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E868B9-4D9F-3A57-AEBF-E36A79C63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555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D634-95B0-0AAF-AC7B-4919E5BF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5C9F1D-C102-15A2-CCFD-6E7523A3A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C90EED-583B-5218-4DF1-5DF7347C7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32FCFA-A4B9-3561-AFB6-A6F60CB12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310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8FF8-2DB9-6E2B-E039-C6CEA81A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4882EA-0A01-6983-8864-A75C19242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FD9808-63D1-FFBD-01F6-06764505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E799F0-4224-5FE2-F16A-D667C7623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551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55A1-9FA4-05BC-0CA5-53BFFE05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9E7B77-94CF-DE79-880E-89B0A7954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C4C99F-7F32-A065-C05E-4B5602C38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B2CA23-A6D0-5803-3D06-CDA2A37EC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83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7E36-7924-9EF7-22C8-470AD46A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A654C5-EF03-2B0B-574B-1335C965C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5EC637-848F-3C79-ED4D-D0A0FEC58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BE608D-7ED1-D17A-F297-437A4EC30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649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E9514-F3C0-6FA8-8F3D-07BD98CB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7897C18-D468-3AC1-6547-096BBFA41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4D4346-B299-1D24-18D6-3DDEE67CF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30AD19-ED95-FB26-F7A6-AEF70C5AA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211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37B4-2903-D52F-2AA0-CCA0A8DF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C5A9829-E030-DB6B-7CB9-F6145F7A3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F951DA-55D7-92AD-9146-CFD45EBB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3D7A22-4AD6-B187-9CB1-B1D67B16F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375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445D-2B0E-6C77-BE13-FAF09752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BBC9B24-456A-8DC7-F141-5B0AE851C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232413-21A7-E72A-B3A0-7773C191C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B52725-0C8D-D949-7AD9-51B66985E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494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5CD7-C373-9C5F-0D3B-ECAD012A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CC55F0-37AA-6CF8-0D08-4EA149BE4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862749-D80B-DEFA-06A9-DC1F1FFB5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6A032C-ECF0-B7CF-5091-87CE0404F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023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12D5-EDB7-AF30-5EFA-6AFC8A62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8561FAB-2DEC-DAAD-1FE9-D5556042C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D5D7B8-34EF-860D-B769-FAD2A757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49A700-3D86-8927-1F6A-6E33B5C3D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075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5755-85FF-D662-F746-BD1E1776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C7D28D-16B9-EC2F-735F-F890E6317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FC190-7DCC-5406-1E8D-E02EF0FF3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0AEC68-0829-B978-EE5B-E844E7B4A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427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E289-00AD-193D-966E-4FCEC89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16223B-19FC-8BAA-5C36-21AFF674A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C90B6F2-6D78-8E38-C505-474063127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B75147-7AF8-6FEB-6861-D17EEA5D3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25BDB-2B85-4243-B1BB-DD522C501B1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72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A2DAC8-3F51-4A6D-A8F7-F4AFC13D4DC9}" type="datetimeFigureOut">
              <a:rPr lang="ru-RU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3C2FD41-59D4-4DC0-961A-FAE9C385C79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20000"/>
              </a:srgbClr>
            </a:gs>
            <a:gs pos="21000">
              <a:srgbClr val="3E337F">
                <a:alpha val="40000"/>
              </a:srgbClr>
            </a:gs>
            <a:gs pos="79000">
              <a:srgbClr val="3E337F">
                <a:alpha val="65000"/>
              </a:srgbClr>
            </a:gs>
            <a:gs pos="100000">
              <a:srgbClr val="3E337F">
                <a:alpha val="7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AEE35F0-A84A-A12F-2162-8B16F2CA0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627" y="1571419"/>
            <a:ext cx="12279682" cy="2387600"/>
          </a:xfrm>
        </p:spPr>
        <p:txBody>
          <a:bodyPr>
            <a:normAutofit/>
          </a:bodyPr>
          <a:lstStyle/>
          <a:p>
            <a:pPr algn="l"/>
            <a:r>
              <a:rPr lang="ru-RU" sz="10200" b="1" spc="600" dirty="0">
                <a:solidFill>
                  <a:srgbClr val="BDF611"/>
                </a:solidFill>
                <a:latin typeface="Century Gothic" panose="020B0502020202020204" pitchFamily="34" charset="0"/>
              </a:rPr>
              <a:t>АНАЛИТИКА</a:t>
            </a:r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6E7D0DD9-C89A-705D-E645-614ED096694F}"/>
              </a:ext>
            </a:extLst>
          </p:cNvPr>
          <p:cNvSpPr txBox="1">
            <a:spLocks/>
          </p:cNvSpPr>
          <p:nvPr/>
        </p:nvSpPr>
        <p:spPr bwMode="auto">
          <a:xfrm>
            <a:off x="43542" y="157968"/>
            <a:ext cx="12191999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4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ТЕКСТОВАЯ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ACC1F-D1F2-17AA-09E6-CEBF2D7C464F}"/>
              </a:ext>
            </a:extLst>
          </p:cNvPr>
          <p:cNvSpPr txBox="1"/>
          <p:nvPr/>
        </p:nvSpPr>
        <p:spPr>
          <a:xfrm>
            <a:off x="8098971" y="6139543"/>
            <a:ext cx="3887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BDF611"/>
                </a:solidFill>
                <a:latin typeface="Century Gothic" panose="020B0502020202020204" pitchFamily="34" charset="0"/>
              </a:rPr>
              <a:t>Катышева Арина</a:t>
            </a:r>
            <a:r>
              <a:rPr lang="ru-RU" sz="2000" dirty="0">
                <a:solidFill>
                  <a:srgbClr val="BDF611"/>
                </a:solidFill>
                <a:latin typeface="Century Gothic" panose="020B0502020202020204" pitchFamily="34" charset="0"/>
              </a:rPr>
              <a:t>, МСМТ 243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40000"/>
              </a:srgbClr>
            </a:gs>
            <a:gs pos="43000">
              <a:srgbClr val="3E337F">
                <a:alpha val="50000"/>
              </a:srgbClr>
            </a:gs>
            <a:gs pos="79000">
              <a:srgbClr val="3E337F">
                <a:alpha val="70000"/>
              </a:srgbClr>
            </a:gs>
            <a:gs pos="100000">
              <a:srgbClr val="3E337F">
                <a:alpha val="8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2F6BB-3A5C-F47C-DCEA-AE6AE4A76B1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6002B4F-DC6C-DBA9-CBF9-BCA0AF1A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BDF611"/>
                </a:solidFill>
                <a:latin typeface="Century Gothic" panose="020B0502020202020204" pitchFamily="34" charset="0"/>
              </a:rPr>
              <a:t>ПЕСНИ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5681BF4-1A7A-7FAB-2407-2B4D9A942920}"/>
              </a:ext>
            </a:extLst>
          </p:cNvPr>
          <p:cNvGrpSpPr/>
          <p:nvPr/>
        </p:nvGrpSpPr>
        <p:grpSpPr>
          <a:xfrm>
            <a:off x="2041719" y="752480"/>
            <a:ext cx="9245167" cy="5353038"/>
            <a:chOff x="2230689" y="543802"/>
            <a:chExt cx="9245167" cy="535303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1BECD10C-0773-F00D-B987-5C5AFE35535B}"/>
                </a:ext>
              </a:extLst>
            </p:cNvPr>
            <p:cNvGrpSpPr/>
            <p:nvPr/>
          </p:nvGrpSpPr>
          <p:grpSpPr>
            <a:xfrm>
              <a:off x="2230689" y="543802"/>
              <a:ext cx="9245167" cy="1152000"/>
              <a:chOff x="2230689" y="586332"/>
              <a:chExt cx="9245167" cy="1152000"/>
            </a:xfrm>
          </p:grpSpPr>
          <p:pic>
            <p:nvPicPr>
              <p:cNvPr id="4" name="Рисунок 3" descr="Музыкальная нота со сплошной заливкой">
                <a:extLst>
                  <a:ext uri="{FF2B5EF4-FFF2-40B4-BE49-F238E27FC236}">
                    <a16:creationId xmlns:a16="http://schemas.microsoft.com/office/drawing/2014/main" id="{F71163C7-968E-BBD0-9448-C21F46173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230689" y="766332"/>
                <a:ext cx="792000" cy="792000"/>
              </a:xfrm>
              <a:prstGeom prst="rect">
                <a:avLst/>
              </a:prstGeom>
            </p:spPr>
          </p:pic>
          <p:sp>
            <p:nvSpPr>
              <p:cNvPr id="10" name="Заголовок 4">
                <a:extLst>
                  <a:ext uri="{FF2B5EF4-FFF2-40B4-BE49-F238E27FC236}">
                    <a16:creationId xmlns:a16="http://schemas.microsoft.com/office/drawing/2014/main" id="{176CA292-0965-CF00-8899-E750A58586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62862" y="586332"/>
                <a:ext cx="8112994" cy="115200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ctr" defTabSz="914400">
                  <a:lnSpc>
                    <a:spcPct val="90000"/>
                  </a:lnSpc>
                  <a:spcBef>
                    <a:spcPts val="0"/>
                  </a:spcBef>
                  <a:buNone/>
                  <a:defRPr sz="60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ru-RU" sz="3600" dirty="0">
                    <a:latin typeface="Century Gothic" panose="020B0502020202020204" pitchFamily="34" charset="0"/>
                  </a:rPr>
                  <a:t>Женя Трофимов &amp; Комната культуры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ru-RU" sz="3600" b="1" dirty="0">
                    <a:solidFill>
                      <a:srgbClr val="BDF611"/>
                    </a:solidFill>
                    <a:latin typeface="Century Gothic" panose="020B0502020202020204" pitchFamily="34" charset="0"/>
                  </a:rPr>
                  <a:t>Поезда</a:t>
                </a:r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A680FB1-3F56-D0CF-E150-5388ADD945D7}"/>
                </a:ext>
              </a:extLst>
            </p:cNvPr>
            <p:cNvGrpSpPr/>
            <p:nvPr/>
          </p:nvGrpSpPr>
          <p:grpSpPr>
            <a:xfrm>
              <a:off x="2230689" y="2644321"/>
              <a:ext cx="9245167" cy="1152000"/>
              <a:chOff x="2230689" y="2495344"/>
              <a:chExt cx="9245167" cy="1152000"/>
            </a:xfrm>
          </p:grpSpPr>
          <p:pic>
            <p:nvPicPr>
              <p:cNvPr id="8" name="Рисунок 7" descr="Музыкальная нота со сплошной заливкой">
                <a:extLst>
                  <a:ext uri="{FF2B5EF4-FFF2-40B4-BE49-F238E27FC236}">
                    <a16:creationId xmlns:a16="http://schemas.microsoft.com/office/drawing/2014/main" id="{7DFC961A-ED57-1895-1624-93679AB31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230689" y="2675344"/>
                <a:ext cx="792000" cy="792000"/>
              </a:xfrm>
              <a:prstGeom prst="rect">
                <a:avLst/>
              </a:prstGeom>
            </p:spPr>
          </p:pic>
          <p:sp>
            <p:nvSpPr>
              <p:cNvPr id="11" name="Заголовок 4">
                <a:extLst>
                  <a:ext uri="{FF2B5EF4-FFF2-40B4-BE49-F238E27FC236}">
                    <a16:creationId xmlns:a16="http://schemas.microsoft.com/office/drawing/2014/main" id="{9F9D9BA8-4C76-C5AF-E352-C203A269B98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62862" y="2495344"/>
                <a:ext cx="8112994" cy="115200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lnSpcReduction="10000"/>
              </a:bodyPr>
              <a:lstStyle>
                <a:lvl1pPr algn="ctr" defTabSz="914400">
                  <a:lnSpc>
                    <a:spcPct val="90000"/>
                  </a:lnSpc>
                  <a:spcBef>
                    <a:spcPts val="0"/>
                  </a:spcBef>
                  <a:buNone/>
                  <a:defRPr sz="60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" sz="3600" dirty="0">
                    <a:latin typeface="Century Gothic" panose="020B0502020202020204" pitchFamily="34" charset="0"/>
                  </a:rPr>
                  <a:t>Beautiful Boys</a:t>
                </a:r>
                <a:endParaRPr lang="ru-RU" sz="3600" dirty="0">
                  <a:latin typeface="Century Gothic" panose="020B05020202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ru-RU" sz="3600" b="1" dirty="0">
                    <a:solidFill>
                      <a:srgbClr val="BDF611"/>
                    </a:solidFill>
                    <a:latin typeface="Century Gothic" panose="020B0502020202020204" pitchFamily="34" charset="0"/>
                  </a:rPr>
                  <a:t>Ниоткуда с любовью</a:t>
                </a:r>
              </a:p>
            </p:txBody>
          </p:sp>
        </p:grp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438430C7-8015-45A9-A138-565CC199AB48}"/>
                </a:ext>
              </a:extLst>
            </p:cNvPr>
            <p:cNvGrpSpPr/>
            <p:nvPr/>
          </p:nvGrpSpPr>
          <p:grpSpPr>
            <a:xfrm>
              <a:off x="2230689" y="4744840"/>
              <a:ext cx="9245167" cy="1152000"/>
              <a:chOff x="2230689" y="4851165"/>
              <a:chExt cx="9245167" cy="1152000"/>
            </a:xfrm>
          </p:grpSpPr>
          <p:pic>
            <p:nvPicPr>
              <p:cNvPr id="9" name="Рисунок 8" descr="Музыкальная нота со сплошной заливкой">
                <a:extLst>
                  <a:ext uri="{FF2B5EF4-FFF2-40B4-BE49-F238E27FC236}">
                    <a16:creationId xmlns:a16="http://schemas.microsoft.com/office/drawing/2014/main" id="{9E4C4720-AC54-3470-6ACE-4AE825309B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230689" y="5031165"/>
                <a:ext cx="792000" cy="792000"/>
              </a:xfrm>
              <a:prstGeom prst="rect">
                <a:avLst/>
              </a:prstGeom>
            </p:spPr>
          </p:pic>
          <p:sp>
            <p:nvSpPr>
              <p:cNvPr id="12" name="Заголовок 4">
                <a:extLst>
                  <a:ext uri="{FF2B5EF4-FFF2-40B4-BE49-F238E27FC236}">
                    <a16:creationId xmlns:a16="http://schemas.microsoft.com/office/drawing/2014/main" id="{55B49AC7-5FD0-75BF-0EED-0413B14D75B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62862" y="4851165"/>
                <a:ext cx="8112994" cy="115200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lnSpcReduction="10000"/>
              </a:bodyPr>
              <a:lstStyle>
                <a:lvl1pPr algn="ctr" defTabSz="914400">
                  <a:lnSpc>
                    <a:spcPct val="90000"/>
                  </a:lnSpc>
                  <a:spcBef>
                    <a:spcPts val="0"/>
                  </a:spcBef>
                  <a:buNone/>
                  <a:defRPr sz="60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" sz="3600" dirty="0">
                    <a:latin typeface="Century Gothic" panose="020B0502020202020204" pitchFamily="34" charset="0"/>
                  </a:rPr>
                  <a:t>Basta, </a:t>
                </a:r>
                <a:r>
                  <a:rPr lang="en" sz="3600" dirty="0" err="1">
                    <a:latin typeface="Century Gothic" panose="020B0502020202020204" pitchFamily="34" charset="0"/>
                  </a:rPr>
                  <a:t>HammAli</a:t>
                </a:r>
                <a:r>
                  <a:rPr lang="en" sz="3600" dirty="0">
                    <a:latin typeface="Century Gothic" panose="020B0502020202020204" pitchFamily="34" charset="0"/>
                  </a:rPr>
                  <a:t> &amp; Navai </a:t>
                </a:r>
                <a:endParaRPr lang="ru-RU" sz="3600" dirty="0">
                  <a:latin typeface="Century Gothic" panose="020B05020202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ru-RU" sz="3600" b="1" dirty="0">
                    <a:solidFill>
                      <a:srgbClr val="BDF611"/>
                    </a:solidFill>
                    <a:latin typeface="Century Gothic" panose="020B0502020202020204" pitchFamily="34" charset="0"/>
                  </a:rPr>
                  <a:t>Эта песня твоя бессонница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637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60000"/>
              </a:srgbClr>
            </a:gs>
            <a:gs pos="38000">
              <a:srgbClr val="3E337F">
                <a:alpha val="40000"/>
              </a:srgbClr>
            </a:gs>
            <a:gs pos="62000">
              <a:srgbClr val="3E337F">
                <a:alpha val="30000"/>
              </a:srgbClr>
            </a:gs>
            <a:gs pos="99000">
              <a:srgbClr val="3E337F">
                <a:alpha val="2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5B5D2-947E-9455-5153-28F60B5DBB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69951B-A3A6-58AF-CB6A-AEB8FBB6A5AB}"/>
              </a:ext>
            </a:extLst>
          </p:cNvPr>
          <p:cNvSpPr txBox="1"/>
          <p:nvPr/>
        </p:nvSpPr>
        <p:spPr>
          <a:xfrm>
            <a:off x="2967945" y="-74229"/>
            <a:ext cx="9180718" cy="6402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sz="3400" dirty="0">
                <a:latin typeface="Century Gothic" panose="020B0502020202020204" pitchFamily="34" charset="0"/>
              </a:rPr>
              <a:t>переводим все слова в нижний регистр </a:t>
            </a:r>
          </a:p>
          <a:p>
            <a:pPr>
              <a:lnSpc>
                <a:spcPct val="250000"/>
              </a:lnSpc>
            </a:pPr>
            <a:r>
              <a:rPr lang="ru-RU" sz="3400" dirty="0">
                <a:latin typeface="Century Gothic" panose="020B0502020202020204" pitchFamily="34" charset="0"/>
              </a:rPr>
              <a:t>удаляем переносы и знаки пунктуации</a:t>
            </a:r>
          </a:p>
          <a:p>
            <a:pPr>
              <a:lnSpc>
                <a:spcPct val="250000"/>
              </a:lnSpc>
            </a:pPr>
            <a:r>
              <a:rPr lang="ru-RU" sz="3400" dirty="0">
                <a:latin typeface="Century Gothic" panose="020B0502020202020204" pitchFamily="34" charset="0"/>
              </a:rPr>
              <a:t>делаем токенизацию </a:t>
            </a:r>
          </a:p>
          <a:p>
            <a:pPr>
              <a:lnSpc>
                <a:spcPct val="250000"/>
              </a:lnSpc>
            </a:pPr>
            <a:r>
              <a:rPr lang="ru-RU" sz="3400" dirty="0">
                <a:latin typeface="Century Gothic" panose="020B0502020202020204" pitchFamily="34" charset="0"/>
              </a:rPr>
              <a:t>делаем </a:t>
            </a:r>
            <a:r>
              <a:rPr lang="ru-RU" sz="3400" dirty="0" err="1">
                <a:latin typeface="Century Gothic" panose="020B0502020202020204" pitchFamily="34" charset="0"/>
              </a:rPr>
              <a:t>леммантизацию</a:t>
            </a:r>
            <a:r>
              <a:rPr lang="ru-RU" sz="3400" dirty="0">
                <a:latin typeface="Century Gothic" panose="020B0502020202020204" pitchFamily="34" charset="0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ru-RU" sz="3400" dirty="0">
                <a:latin typeface="Century Gothic" panose="020B0502020202020204" pitchFamily="34" charset="0"/>
              </a:rPr>
              <a:t>удаляем стоп-слова</a:t>
            </a:r>
          </a:p>
        </p:txBody>
      </p:sp>
      <p:sp>
        <p:nvSpPr>
          <p:cNvPr id="7" name="Заголовок 4">
            <a:extLst>
              <a:ext uri="{FF2B5EF4-FFF2-40B4-BE49-F238E27FC236}">
                <a16:creationId xmlns:a16="http://schemas.microsoft.com/office/drawing/2014/main" id="{F147F158-E29E-ACE0-3987-BA004D9FDE6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BDF611"/>
                </a:solidFill>
                <a:latin typeface="Century Gothic" panose="020B0502020202020204" pitchFamily="34" charset="0"/>
              </a:rPr>
              <a:t>ОБРАБОТКА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F001FAB-4791-DCF6-D28D-2020C8D4A12D}"/>
              </a:ext>
            </a:extLst>
          </p:cNvPr>
          <p:cNvGrpSpPr/>
          <p:nvPr/>
        </p:nvGrpSpPr>
        <p:grpSpPr>
          <a:xfrm>
            <a:off x="1832477" y="459270"/>
            <a:ext cx="659218" cy="5868766"/>
            <a:chOff x="2003927" y="459270"/>
            <a:chExt cx="659218" cy="5868766"/>
          </a:xfrm>
        </p:grpSpPr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694E7928-123C-54C5-2884-B286CB0B57C0}"/>
                </a:ext>
              </a:extLst>
            </p:cNvPr>
            <p:cNvCxnSpPr>
              <a:stCxn id="17" idx="4"/>
              <a:endCxn id="18" idx="0"/>
            </p:cNvCxnSpPr>
            <p:nvPr/>
          </p:nvCxnSpPr>
          <p:spPr>
            <a:xfrm>
              <a:off x="2333536" y="1118488"/>
              <a:ext cx="0" cy="4550330"/>
            </a:xfrm>
            <a:prstGeom prst="line">
              <a:avLst/>
            </a:prstGeom>
            <a:ln w="38100">
              <a:solidFill>
                <a:srgbClr val="3E33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6BFFE9D4-68A0-7204-CC8D-3F304184CDE8}"/>
                </a:ext>
              </a:extLst>
            </p:cNvPr>
            <p:cNvSpPr/>
            <p:nvPr/>
          </p:nvSpPr>
          <p:spPr>
            <a:xfrm>
              <a:off x="2003927" y="459270"/>
              <a:ext cx="659218" cy="659218"/>
            </a:xfrm>
            <a:prstGeom prst="ellipse">
              <a:avLst/>
            </a:prstGeom>
            <a:solidFill>
              <a:srgbClr val="3E3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rgbClr val="BDF61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A4A70BF3-407E-F5F0-0FCF-7CA2FE26BA79}"/>
                </a:ext>
              </a:extLst>
            </p:cNvPr>
            <p:cNvSpPr/>
            <p:nvPr/>
          </p:nvSpPr>
          <p:spPr>
            <a:xfrm>
              <a:off x="2003927" y="5668818"/>
              <a:ext cx="659218" cy="659218"/>
            </a:xfrm>
            <a:prstGeom prst="ellipse">
              <a:avLst/>
            </a:prstGeom>
            <a:solidFill>
              <a:srgbClr val="3E3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rgbClr val="BDF61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AD01406B-8B59-6500-F4BF-4C3C3CFBB3E5}"/>
                </a:ext>
              </a:extLst>
            </p:cNvPr>
            <p:cNvSpPr/>
            <p:nvPr/>
          </p:nvSpPr>
          <p:spPr>
            <a:xfrm>
              <a:off x="2003927" y="4366431"/>
              <a:ext cx="659218" cy="659218"/>
            </a:xfrm>
            <a:prstGeom prst="ellipse">
              <a:avLst/>
            </a:prstGeom>
            <a:solidFill>
              <a:srgbClr val="3E3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rgbClr val="BDF61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7B2F49FA-7F55-4B6D-1830-30F86E9A039E}"/>
                </a:ext>
              </a:extLst>
            </p:cNvPr>
            <p:cNvSpPr/>
            <p:nvPr/>
          </p:nvSpPr>
          <p:spPr>
            <a:xfrm>
              <a:off x="2003927" y="3064044"/>
              <a:ext cx="659218" cy="659218"/>
            </a:xfrm>
            <a:prstGeom prst="ellipse">
              <a:avLst/>
            </a:prstGeom>
            <a:solidFill>
              <a:srgbClr val="3E3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rgbClr val="BDF61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3FE338A0-5AD5-7739-5900-9508DDFA1A7A}"/>
                </a:ext>
              </a:extLst>
            </p:cNvPr>
            <p:cNvSpPr/>
            <p:nvPr/>
          </p:nvSpPr>
          <p:spPr>
            <a:xfrm>
              <a:off x="2003927" y="1761657"/>
              <a:ext cx="659218" cy="659218"/>
            </a:xfrm>
            <a:prstGeom prst="ellipse">
              <a:avLst/>
            </a:prstGeom>
            <a:solidFill>
              <a:srgbClr val="3E3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rgbClr val="BDF61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07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50000"/>
              </a:srgbClr>
            </a:gs>
            <a:gs pos="18000">
              <a:srgbClr val="3E337F">
                <a:alpha val="40000"/>
              </a:srgbClr>
            </a:gs>
            <a:gs pos="38000">
              <a:srgbClr val="3E337F">
                <a:alpha val="30000"/>
              </a:srgbClr>
            </a:gs>
            <a:gs pos="100000">
              <a:srgbClr val="3E337F">
                <a:alpha val="2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3C7AA-5E20-ACB1-9AB3-1367383BB22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4">
            <a:extLst>
              <a:ext uri="{FF2B5EF4-FFF2-40B4-BE49-F238E27FC236}">
                <a16:creationId xmlns:a16="http://schemas.microsoft.com/office/drawing/2014/main" id="{C1690DDE-5444-731B-2191-477F7C5E1E3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5265693" y="-258618"/>
            <a:ext cx="1660614" cy="1380835"/>
          </a:xfrm>
        </p:spPr>
        <p:txBody>
          <a:bodyPr>
            <a:normAutofit/>
          </a:bodyPr>
          <a:lstStyle/>
          <a:p>
            <a:r>
              <a:rPr lang="en-US" sz="7200" b="1" spc="600" dirty="0">
                <a:solidFill>
                  <a:srgbClr val="BDF611"/>
                </a:solidFill>
                <a:latin typeface="Century Gothic" panose="020B0502020202020204" pitchFamily="34" charset="0"/>
              </a:rPr>
              <a:t>VS</a:t>
            </a:r>
            <a:endParaRPr lang="ru-RU" sz="7200" b="1" spc="600" dirty="0">
              <a:solidFill>
                <a:srgbClr val="BDF61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E6788-4B32-568E-5EB9-B6F0B6A76BCD}"/>
              </a:ext>
            </a:extLst>
          </p:cNvPr>
          <p:cNvSpPr txBox="1"/>
          <p:nvPr/>
        </p:nvSpPr>
        <p:spPr>
          <a:xfrm>
            <a:off x="166256" y="271898"/>
            <a:ext cx="456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3E337F"/>
                </a:solidFill>
                <a:latin typeface="Century Gothic" panose="020B0502020202020204" pitchFamily="34" charset="0"/>
              </a:rPr>
              <a:t>Оригинальный код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36AC4-40F1-8B7B-9AC3-F6340E0470D8}"/>
              </a:ext>
            </a:extLst>
          </p:cNvPr>
          <p:cNvSpPr txBox="1"/>
          <p:nvPr/>
        </p:nvSpPr>
        <p:spPr>
          <a:xfrm>
            <a:off x="7285001" y="271898"/>
            <a:ext cx="4602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200" b="1" dirty="0">
                <a:solidFill>
                  <a:srgbClr val="3E337F"/>
                </a:solidFill>
                <a:latin typeface="Century Gothic" panose="020B0502020202020204" pitchFamily="34" charset="0"/>
              </a:rPr>
              <a:t>Обработанный код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2985B-B822-A49B-CC68-D4E569934984}"/>
              </a:ext>
            </a:extLst>
          </p:cNvPr>
          <p:cNvSpPr txBox="1"/>
          <p:nvPr/>
        </p:nvSpPr>
        <p:spPr>
          <a:xfrm>
            <a:off x="166256" y="1350819"/>
            <a:ext cx="571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>
                <a:latin typeface="Century Gothic" panose="020B0502020202020204" pitchFamily="34" charset="0"/>
              </a:rPr>
              <a:t>\n</a:t>
            </a:r>
            <a:r>
              <a:rPr lang="ru-RU" sz="2000" dirty="0">
                <a:latin typeface="Century Gothic" panose="020B0502020202020204" pitchFamily="34" charset="0"/>
              </a:rPr>
              <a:t>Тяни лотерейный билет\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Чтоб тамбур прокуренным был\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У нас с тобой выигравших нет\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Лишь бы просто дорогу к тебе не забыл, и…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6C9E6-27A6-FB63-6668-1A426F67EB3A}"/>
              </a:ext>
            </a:extLst>
          </p:cNvPr>
          <p:cNvSpPr txBox="1"/>
          <p:nvPr/>
        </p:nvSpPr>
        <p:spPr>
          <a:xfrm>
            <a:off x="166256" y="3268603"/>
            <a:ext cx="571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>
                <a:latin typeface="Century Gothic" panose="020B0502020202020204" pitchFamily="34" charset="0"/>
              </a:rPr>
              <a:t>\n</a:t>
            </a:r>
            <a:r>
              <a:rPr lang="ru-RU" sz="2000" dirty="0">
                <a:latin typeface="Century Gothic" panose="020B0502020202020204" pitchFamily="34" charset="0"/>
              </a:rPr>
              <a:t>Я забыл, что значит ночь\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Я забыл, что значит сон\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Я забыл тебя совсем\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Я устал от всех речей\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Ты исчезла в небытии\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Ты застыла в синеве…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AC2A1-8A39-7472-4B8C-D79DD3D551B6}"/>
              </a:ext>
            </a:extLst>
          </p:cNvPr>
          <p:cNvSpPr txBox="1"/>
          <p:nvPr/>
        </p:nvSpPr>
        <p:spPr>
          <a:xfrm>
            <a:off x="6601692" y="1350818"/>
            <a:ext cx="55556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тянуть лотерейный билет тамбур прокурить выиграть просто дорога забыть…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14A26-3CF1-1E45-80EA-FA094E13EF24}"/>
              </a:ext>
            </a:extLst>
          </p:cNvPr>
          <p:cNvSpPr txBox="1"/>
          <p:nvPr/>
        </p:nvSpPr>
        <p:spPr>
          <a:xfrm>
            <a:off x="6601692" y="3268603"/>
            <a:ext cx="55556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забыть значит ночь забыть значит сон забыть устать речь исчезнуть небытие застылый синева…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75454-B8BC-456D-BD2D-9E1399179DB2}"/>
              </a:ext>
            </a:extLst>
          </p:cNvPr>
          <p:cNvSpPr txBox="1"/>
          <p:nvPr/>
        </p:nvSpPr>
        <p:spPr>
          <a:xfrm>
            <a:off x="166256" y="5186387"/>
            <a:ext cx="571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>
                <a:latin typeface="Century Gothic" panose="020B0502020202020204" pitchFamily="34" charset="0"/>
              </a:rPr>
              <a:t>\n</a:t>
            </a:r>
            <a:r>
              <a:rPr lang="ru-RU" sz="2000" dirty="0">
                <a:latin typeface="Century Gothic" panose="020B0502020202020204" pitchFamily="34" charset="0"/>
              </a:rPr>
              <a:t>И то, что было между нами, теперь спрятано во тьме\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Я кричу тебе: «Прости меня», но тишина в ответ\</a:t>
            </a:r>
            <a:r>
              <a:rPr lang="en" sz="2000" dirty="0">
                <a:latin typeface="Century Gothic" panose="020B0502020202020204" pitchFamily="34" charset="0"/>
              </a:rPr>
              <a:t>n</a:t>
            </a:r>
            <a:r>
              <a:rPr lang="ru-RU" sz="2000" dirty="0">
                <a:latin typeface="Century Gothic" panose="020B0502020202020204" pitchFamily="34" charset="0"/>
              </a:rPr>
              <a:t>Если можно было бы всё отмотать и не болеть…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87FF3-BF41-EB1E-E78A-58862B9F088E}"/>
              </a:ext>
            </a:extLst>
          </p:cNvPr>
          <p:cNvSpPr txBox="1"/>
          <p:nvPr/>
        </p:nvSpPr>
        <p:spPr>
          <a:xfrm>
            <a:off x="6601692" y="5186387"/>
            <a:ext cx="5555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спрятать тьма кричать простить тишина ответ отмотать болеть…</a:t>
            </a:r>
          </a:p>
        </p:txBody>
      </p:sp>
    </p:spTree>
    <p:extLst>
      <p:ext uri="{BB962C8B-B14F-4D97-AF65-F5344CB8AC3E}">
        <p14:creationId xmlns:p14="http://schemas.microsoft.com/office/powerpoint/2010/main" val="12863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40000"/>
              </a:srgbClr>
            </a:gs>
            <a:gs pos="43000">
              <a:srgbClr val="3E337F">
                <a:alpha val="50000"/>
              </a:srgbClr>
            </a:gs>
            <a:gs pos="75000">
              <a:srgbClr val="3E337F">
                <a:alpha val="65000"/>
              </a:srgbClr>
            </a:gs>
            <a:gs pos="100000">
              <a:srgbClr val="3E337F">
                <a:alpha val="7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4ECC-C655-DE4E-171D-F1F0F67296B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F547C70-9B99-BAD0-CCD1-B5CE7B471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600" dirty="0">
                <a:solidFill>
                  <a:srgbClr val="BDF611"/>
                </a:solidFill>
                <a:latin typeface="Century Gothic" panose="020B0502020202020204" pitchFamily="34" charset="0"/>
              </a:rPr>
              <a:t>TF-IDF</a:t>
            </a:r>
            <a:endParaRPr lang="ru-RU" sz="7200" b="1" spc="600" dirty="0">
              <a:solidFill>
                <a:srgbClr val="BDF61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B01E409E-E0C8-B950-4C70-3131296BA557}"/>
              </a:ext>
            </a:extLst>
          </p:cNvPr>
          <p:cNvSpPr txBox="1">
            <a:spLocks/>
          </p:cNvSpPr>
          <p:nvPr/>
        </p:nvSpPr>
        <p:spPr bwMode="auto">
          <a:xfrm>
            <a:off x="4046726" y="788888"/>
            <a:ext cx="9336763" cy="1558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ru-RU" sz="3600" dirty="0">
                <a:latin typeface="Century Gothic" panose="020B0502020202020204" pitchFamily="34" charset="0"/>
              </a:rPr>
              <a:t>Время вычисления</a:t>
            </a:r>
          </a:p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BDF611"/>
                </a:solidFill>
                <a:latin typeface="Century Gothic" panose="020B0502020202020204" pitchFamily="34" charset="0"/>
              </a:rPr>
              <a:t>0.123754 </a:t>
            </a:r>
            <a:r>
              <a:rPr lang="ru-RU" sz="3600" dirty="0">
                <a:solidFill>
                  <a:srgbClr val="BDF611"/>
                </a:solidFill>
                <a:latin typeface="Century Gothic" panose="020B0502020202020204" pitchFamily="34" charset="0"/>
              </a:rPr>
              <a:t>секунд</a:t>
            </a:r>
            <a:r>
              <a:rPr lang="ru-RU" sz="3600" b="1" dirty="0">
                <a:solidFill>
                  <a:srgbClr val="BDF61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D15E9298-BB6A-09C1-E0B9-B09F5510BCB8}"/>
              </a:ext>
            </a:extLst>
          </p:cNvPr>
          <p:cNvSpPr txBox="1">
            <a:spLocks/>
          </p:cNvSpPr>
          <p:nvPr/>
        </p:nvSpPr>
        <p:spPr bwMode="auto">
          <a:xfrm>
            <a:off x="4046726" y="3699162"/>
            <a:ext cx="9336763" cy="1558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ru-RU" sz="3600" dirty="0">
                <a:latin typeface="Century Gothic" panose="020B0502020202020204" pitchFamily="34" charset="0"/>
              </a:rPr>
              <a:t>Размер </a:t>
            </a:r>
            <a:r>
              <a:rPr lang="en-US" sz="3600" dirty="0">
                <a:latin typeface="Century Gothic" panose="020B0502020202020204" pitchFamily="34" charset="0"/>
              </a:rPr>
              <a:t>TF-IDF </a:t>
            </a:r>
            <a:r>
              <a:rPr lang="ru-RU" sz="3600" dirty="0">
                <a:latin typeface="Century Gothic" panose="020B0502020202020204" pitchFamily="34" charset="0"/>
              </a:rPr>
              <a:t>матрицы</a:t>
            </a:r>
          </a:p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BDF611"/>
                </a:solidFill>
                <a:latin typeface="Century Gothic" panose="020B0502020202020204" pitchFamily="34" charset="0"/>
              </a:rPr>
              <a:t>(3, 232)</a:t>
            </a:r>
          </a:p>
        </p:txBody>
      </p:sp>
      <p:pic>
        <p:nvPicPr>
          <p:cNvPr id="6" name="Рисунок 5" descr="База данных со сплошной заливкой">
            <a:extLst>
              <a:ext uri="{FF2B5EF4-FFF2-40B4-BE49-F238E27FC236}">
                <a16:creationId xmlns:a16="http://schemas.microsoft.com/office/drawing/2014/main" id="{00809E7E-8EF3-394B-A35C-1454E34C6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4664" y="4208318"/>
            <a:ext cx="795600" cy="795600"/>
          </a:xfrm>
          <a:prstGeom prst="rect">
            <a:avLst/>
          </a:prstGeom>
        </p:spPr>
      </p:pic>
      <p:pic>
        <p:nvPicPr>
          <p:cNvPr id="17" name="Рисунок 16" descr="Часы со сплошной заливкой">
            <a:extLst>
              <a:ext uri="{FF2B5EF4-FFF2-40B4-BE49-F238E27FC236}">
                <a16:creationId xmlns:a16="http://schemas.microsoft.com/office/drawing/2014/main" id="{CF57A8BA-479D-CD98-6504-313316022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4664" y="1253534"/>
            <a:ext cx="795600" cy="795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836931-3780-C37A-1931-4C45AAAFDD64}"/>
              </a:ext>
            </a:extLst>
          </p:cNvPr>
          <p:cNvSpPr txBox="1"/>
          <p:nvPr/>
        </p:nvSpPr>
        <p:spPr>
          <a:xfrm>
            <a:off x="5194208" y="5406201"/>
            <a:ext cx="5527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*в трех документах 232 уникальных слова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2303B1-5506-D871-BB8A-EF9FFC21211B}"/>
              </a:ext>
            </a:extLst>
          </p:cNvPr>
          <p:cNvSpPr txBox="1"/>
          <p:nvPr/>
        </p:nvSpPr>
        <p:spPr>
          <a:xfrm>
            <a:off x="5194207" y="2495927"/>
            <a:ext cx="6074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Century Gothic" panose="020B0502020202020204" pitchFamily="34" charset="0"/>
              </a:rPr>
              <a:t>*быстро за счет небольшого корпуса текстов</a:t>
            </a:r>
          </a:p>
        </p:txBody>
      </p:sp>
    </p:spTree>
    <p:extLst>
      <p:ext uri="{BB962C8B-B14F-4D97-AF65-F5344CB8AC3E}">
        <p14:creationId xmlns:p14="http://schemas.microsoft.com/office/powerpoint/2010/main" val="34603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60000"/>
              </a:srgbClr>
            </a:gs>
            <a:gs pos="20000">
              <a:srgbClr val="BDF611">
                <a:alpha val="50000"/>
              </a:srgbClr>
            </a:gs>
            <a:gs pos="41000">
              <a:srgbClr val="BDF611">
                <a:alpha val="40000"/>
              </a:srgbClr>
            </a:gs>
            <a:gs pos="100000">
              <a:srgbClr val="BDF611">
                <a:alpha val="3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BBA6B-6254-3B82-B00E-7A24AD3E57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8F3CDC89-6755-8EC3-B845-7CCC0D26C5FC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ru-RU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РАСПРЕДЕЛЕНИЕ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C72BD0-2897-5054-0ABF-A0DC2D8A8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835"/>
          <a:stretch>
            <a:fillRect/>
          </a:stretch>
        </p:blipFill>
        <p:spPr bwMode="auto">
          <a:xfrm>
            <a:off x="1256147" y="547564"/>
            <a:ext cx="10651835" cy="4904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0F9F4F-4718-7F83-A7F3-8B334E705E41}"/>
              </a:ext>
            </a:extLst>
          </p:cNvPr>
          <p:cNvSpPr txBox="1"/>
          <p:nvPr/>
        </p:nvSpPr>
        <p:spPr bwMode="auto">
          <a:xfrm>
            <a:off x="1646667" y="5754046"/>
            <a:ext cx="10085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Ненулевые значения </a:t>
            </a:r>
            <a:r>
              <a:rPr lang="en-US" dirty="0">
                <a:latin typeface="Century Gothic" panose="020B0502020202020204" pitchFamily="34" charset="0"/>
              </a:rPr>
              <a:t>TF-IDF </a:t>
            </a:r>
            <a:r>
              <a:rPr lang="ru-RU" dirty="0">
                <a:latin typeface="Century Gothic" panose="020B0502020202020204" pitchFamily="34" charset="0"/>
              </a:rPr>
              <a:t>в основном лежат в диапазоне от </a:t>
            </a:r>
            <a:r>
              <a:rPr lang="ru-RU" b="1" dirty="0">
                <a:latin typeface="Century Gothic" panose="020B0502020202020204" pitchFamily="34" charset="0"/>
              </a:rPr>
              <a:t>0,5 </a:t>
            </a:r>
            <a:r>
              <a:rPr lang="ru-RU" dirty="0">
                <a:latin typeface="Century Gothic" panose="020B0502020202020204" pitchFamily="34" charset="0"/>
              </a:rPr>
              <a:t>до </a:t>
            </a:r>
            <a:r>
              <a:rPr lang="ru-RU" b="1" dirty="0">
                <a:latin typeface="Century Gothic" panose="020B0502020202020204" pitchFamily="34" charset="0"/>
              </a:rPr>
              <a:t>1</a:t>
            </a:r>
            <a:r>
              <a:rPr lang="ru-RU" dirty="0">
                <a:latin typeface="Century Gothic" panose="020B0502020202020204" pitchFamily="34" charset="0"/>
              </a:rPr>
              <a:t>, что характерно для небольших корпусов документов. Максимальное значение </a:t>
            </a:r>
            <a:r>
              <a:rPr lang="en-US" dirty="0">
                <a:latin typeface="Century Gothic" panose="020B0502020202020204" pitchFamily="34" charset="0"/>
              </a:rPr>
              <a:t>TF-IDF</a:t>
            </a:r>
            <a:r>
              <a:rPr lang="ru-RU" dirty="0">
                <a:latin typeface="Century Gothic" panose="020B0502020202020204" pitchFamily="34" charset="0"/>
              </a:rPr>
              <a:t> составляет </a:t>
            </a:r>
            <a:r>
              <a:rPr lang="en-US" b="1" dirty="0">
                <a:latin typeface="Century Gothic" panose="020B0502020202020204" pitchFamily="34" charset="0"/>
              </a:rPr>
              <a:t>~</a:t>
            </a:r>
            <a:r>
              <a:rPr lang="ru-RU" b="1" dirty="0">
                <a:latin typeface="Century Gothic" panose="020B0502020202020204" pitchFamily="34" charset="0"/>
              </a:rPr>
              <a:t>0,32 </a:t>
            </a:r>
            <a:r>
              <a:rPr lang="ru-RU" dirty="0">
                <a:latin typeface="Century Gothic" panose="020B0502020202020204" pitchFamily="34" charset="0"/>
              </a:rPr>
              <a:t>– наиболее характерные слова для конкретной песни</a:t>
            </a:r>
            <a:endParaRPr lang="ru-RU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45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20000"/>
              </a:srgbClr>
            </a:gs>
            <a:gs pos="52000">
              <a:srgbClr val="BDF611">
                <a:alpha val="50000"/>
              </a:srgbClr>
            </a:gs>
            <a:gs pos="75000">
              <a:srgbClr val="BDF611">
                <a:alpha val="65000"/>
              </a:srgbClr>
            </a:gs>
            <a:gs pos="100000">
              <a:srgbClr val="BDF611">
                <a:alpha val="7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A8658-F8DD-9544-E188-09D78364883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A77CF89-9556-C667-906E-7240814CD52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ru-RU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РАСПРЕДЕЛЕНИЕ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8CFF4C-8916-470C-0B62-EF761A315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42" b="-1325"/>
          <a:stretch>
            <a:fillRect/>
          </a:stretch>
        </p:blipFill>
        <p:spPr bwMode="auto">
          <a:xfrm>
            <a:off x="1256147" y="852055"/>
            <a:ext cx="10651835" cy="554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0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80000"/>
              </a:srgbClr>
            </a:gs>
            <a:gs pos="19000">
              <a:srgbClr val="BDF611">
                <a:alpha val="70000"/>
              </a:srgbClr>
            </a:gs>
            <a:gs pos="56000">
              <a:srgbClr val="BDF611">
                <a:alpha val="50000"/>
              </a:srgbClr>
            </a:gs>
            <a:gs pos="100000">
              <a:srgbClr val="BDF611">
                <a:alpha val="3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E9F80-1382-9D27-2412-96AA1331FA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D551903B-AACA-91AF-5017-18D67F2B299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ru-RU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ТОП-10 СЛОВ</a:t>
            </a:r>
          </a:p>
        </p:txBody>
      </p:sp>
      <p:pic>
        <p:nvPicPr>
          <p:cNvPr id="3" name="Рисунок 2" descr="Изображение выглядит как снимок экрана, 3D-модел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BAA6C2-D49F-B6C3-7200-804D44F9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7" r="68815"/>
          <a:stretch>
            <a:fillRect/>
          </a:stretch>
        </p:blipFill>
        <p:spPr>
          <a:xfrm>
            <a:off x="3418373" y="375301"/>
            <a:ext cx="6953353" cy="6336000"/>
          </a:xfrm>
          <a:prstGeom prst="rect">
            <a:avLst/>
          </a:prstGeom>
        </p:spPr>
      </p:pic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E7211D69-4F4D-97BD-3B8C-48ED448C41EB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613892" y="2613892"/>
            <a:ext cx="7086602" cy="1858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spc="300" dirty="0">
                <a:latin typeface="Century Gothic" panose="020B0502020202020204" pitchFamily="34" charset="0"/>
              </a:rPr>
              <a:t>ПЕСНЯ №1</a:t>
            </a:r>
          </a:p>
        </p:txBody>
      </p:sp>
    </p:spTree>
    <p:extLst>
      <p:ext uri="{BB962C8B-B14F-4D97-AF65-F5344CB8AC3E}">
        <p14:creationId xmlns:p14="http://schemas.microsoft.com/office/powerpoint/2010/main" val="396783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80000"/>
              </a:srgbClr>
            </a:gs>
            <a:gs pos="27000">
              <a:srgbClr val="BDF611">
                <a:alpha val="60000"/>
              </a:srgbClr>
            </a:gs>
            <a:gs pos="67000">
              <a:srgbClr val="BDF611">
                <a:alpha val="40000"/>
              </a:srgbClr>
            </a:gs>
            <a:gs pos="99000">
              <a:srgbClr val="BDF611">
                <a:alpha val="2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0B78B-C945-75FE-973A-A1A7894FF38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8D16955-8BAA-2562-D4C1-B73C17271F69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ru-RU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ТОП-10 СЛОВ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6AE766-63C1-D570-78D1-9A9B6BF91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t="5997" r="1227"/>
          <a:stretch>
            <a:fillRect/>
          </a:stretch>
        </p:blipFill>
        <p:spPr>
          <a:xfrm>
            <a:off x="3418373" y="375301"/>
            <a:ext cx="6855463" cy="6336000"/>
          </a:xfrm>
          <a:prstGeom prst="rect">
            <a:avLst/>
          </a:prstGeom>
        </p:spPr>
      </p:pic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FAAD6C08-CB97-2CAF-8D7D-8A9C31E03C5B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613892" y="2613892"/>
            <a:ext cx="7086602" cy="1858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spc="300" dirty="0">
                <a:latin typeface="Century Gothic" panose="020B0502020202020204" pitchFamily="34" charset="0"/>
              </a:rPr>
              <a:t>ПЕСНЯ №2</a:t>
            </a:r>
          </a:p>
        </p:txBody>
      </p:sp>
    </p:spTree>
    <p:extLst>
      <p:ext uri="{BB962C8B-B14F-4D97-AF65-F5344CB8AC3E}">
        <p14:creationId xmlns:p14="http://schemas.microsoft.com/office/powerpoint/2010/main" val="192200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40000"/>
              </a:srgbClr>
            </a:gs>
            <a:gs pos="68000">
              <a:srgbClr val="BDF611">
                <a:alpha val="50000"/>
              </a:srgbClr>
            </a:gs>
            <a:gs pos="86000">
              <a:srgbClr val="BDF611">
                <a:alpha val="60000"/>
              </a:srgbClr>
            </a:gs>
            <a:gs pos="100000">
              <a:srgbClr val="BDF611">
                <a:alpha val="7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D3A6F-57F0-1311-F394-382E6E5FE8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6B539522-D582-3B92-5459-BDF01C6E50F3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ru-RU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ТОП-10 СЛОВ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9BFBB-32EB-620B-A4E1-8CDA57EC3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t="7321" r="5262"/>
          <a:stretch>
            <a:fillRect/>
          </a:stretch>
        </p:blipFill>
        <p:spPr>
          <a:xfrm>
            <a:off x="3397592" y="375301"/>
            <a:ext cx="6953353" cy="6336000"/>
          </a:xfrm>
          <a:prstGeom prst="rect">
            <a:avLst/>
          </a:prstGeom>
        </p:spPr>
      </p:pic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F30EB10C-1620-69DF-1315-2585BAAE2DC1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613892" y="2613892"/>
            <a:ext cx="7086602" cy="1858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spc="300" dirty="0">
                <a:latin typeface="Century Gothic" panose="020B0502020202020204" pitchFamily="34" charset="0"/>
              </a:rPr>
              <a:t>ПЕСНЯ №3</a:t>
            </a:r>
          </a:p>
        </p:txBody>
      </p:sp>
    </p:spTree>
    <p:extLst>
      <p:ext uri="{BB962C8B-B14F-4D97-AF65-F5344CB8AC3E}">
        <p14:creationId xmlns:p14="http://schemas.microsoft.com/office/powerpoint/2010/main" val="156226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20000"/>
              </a:srgbClr>
            </a:gs>
            <a:gs pos="15000">
              <a:srgbClr val="BDF711">
                <a:alpha val="30000"/>
              </a:srgbClr>
            </a:gs>
            <a:gs pos="38000">
              <a:srgbClr val="BDF711">
                <a:alpha val="40000"/>
              </a:srgbClr>
            </a:gs>
            <a:gs pos="100000">
              <a:srgbClr val="BDF711">
                <a:alpha val="5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6E7FE-1FE4-5B3B-0EF4-2C61B444090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1C5FE69-AF3A-F71A-B139-0370F1C98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СРАВНЕНИЕ</a:t>
            </a:r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556FDB05-579B-785D-1FB7-6DF64984D46E}"/>
              </a:ext>
            </a:extLst>
          </p:cNvPr>
          <p:cNvSpPr txBox="1">
            <a:spLocks/>
          </p:cNvSpPr>
          <p:nvPr/>
        </p:nvSpPr>
        <p:spPr bwMode="auto">
          <a:xfrm>
            <a:off x="4299949" y="462779"/>
            <a:ext cx="2269668" cy="688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вычислительная сложность</a:t>
            </a: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09D1FFE3-8D34-97DA-2C86-73DEFCA610DC}"/>
              </a:ext>
            </a:extLst>
          </p:cNvPr>
          <p:cNvSpPr txBox="1">
            <a:spLocks/>
          </p:cNvSpPr>
          <p:nvPr/>
        </p:nvSpPr>
        <p:spPr bwMode="auto">
          <a:xfrm>
            <a:off x="6998600" y="462779"/>
            <a:ext cx="2269668" cy="688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качество представления</a:t>
            </a: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3E831CF-200F-BC1E-A7EF-53AB78398E57}"/>
              </a:ext>
            </a:extLst>
          </p:cNvPr>
          <p:cNvSpPr txBox="1">
            <a:spLocks/>
          </p:cNvSpPr>
          <p:nvPr/>
        </p:nvSpPr>
        <p:spPr bwMode="auto">
          <a:xfrm>
            <a:off x="9697250" y="462779"/>
            <a:ext cx="2269668" cy="688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dirty="0" err="1">
                <a:solidFill>
                  <a:srgbClr val="3E337F"/>
                </a:solidFill>
                <a:latin typeface="Century Gothic" panose="020B0502020202020204" pitchFamily="34" charset="0"/>
              </a:rPr>
              <a:t>интерпрети-руемость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E5F9F53-8480-3E7F-3739-BB9EE973E758}"/>
              </a:ext>
            </a:extLst>
          </p:cNvPr>
          <p:cNvCxnSpPr>
            <a:cxnSpLocks/>
          </p:cNvCxnSpPr>
          <p:nvPr/>
        </p:nvCxnSpPr>
        <p:spPr>
          <a:xfrm flipH="1">
            <a:off x="1629547" y="2470640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9C29E64-E868-6C5B-0C43-1CC9C00ADBE1}"/>
              </a:ext>
            </a:extLst>
          </p:cNvPr>
          <p:cNvCxnSpPr>
            <a:cxnSpLocks/>
          </p:cNvCxnSpPr>
          <p:nvPr/>
        </p:nvCxnSpPr>
        <p:spPr>
          <a:xfrm flipH="1">
            <a:off x="1629547" y="3635328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E8A82AB4-C705-72AF-2FBB-3F7E7BAC2841}"/>
              </a:ext>
            </a:extLst>
          </p:cNvPr>
          <p:cNvSpPr txBox="1">
            <a:spLocks/>
          </p:cNvSpPr>
          <p:nvPr/>
        </p:nvSpPr>
        <p:spPr bwMode="auto">
          <a:xfrm>
            <a:off x="1733637" y="1684588"/>
            <a:ext cx="2328925" cy="4074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TF-IDF</a:t>
            </a:r>
            <a:endParaRPr lang="ru-RU" sz="2200" b="1" dirty="0">
              <a:latin typeface="Century Gothic" panose="020B0502020202020204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622574D2-5376-00C7-80D1-86F342E78911}"/>
              </a:ext>
            </a:extLst>
          </p:cNvPr>
          <p:cNvSpPr txBox="1">
            <a:spLocks/>
          </p:cNvSpPr>
          <p:nvPr/>
        </p:nvSpPr>
        <p:spPr bwMode="auto">
          <a:xfrm>
            <a:off x="1733636" y="2849277"/>
            <a:ext cx="2796161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200" b="1" dirty="0" err="1">
                <a:latin typeface="Century Gothic" panose="020B0502020202020204" pitchFamily="34" charset="0"/>
              </a:rPr>
              <a:t>CountVectorizer</a:t>
            </a:r>
            <a:endParaRPr lang="ru-RU" sz="2200" b="1" dirty="0">
              <a:latin typeface="Century Gothic" panose="020B0502020202020204" pitchFamily="34" charset="0"/>
            </a:endParaRPr>
          </a:p>
        </p:txBody>
      </p:sp>
      <p:sp>
        <p:nvSpPr>
          <p:cNvPr id="21" name="Заголовок 4">
            <a:extLst>
              <a:ext uri="{FF2B5EF4-FFF2-40B4-BE49-F238E27FC236}">
                <a16:creationId xmlns:a16="http://schemas.microsoft.com/office/drawing/2014/main" id="{F38B97E8-679F-BD30-4D5B-B6FCD0CDDEFF}"/>
              </a:ext>
            </a:extLst>
          </p:cNvPr>
          <p:cNvSpPr txBox="1">
            <a:spLocks/>
          </p:cNvSpPr>
          <p:nvPr/>
        </p:nvSpPr>
        <p:spPr bwMode="auto">
          <a:xfrm>
            <a:off x="1733636" y="4013965"/>
            <a:ext cx="2796161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Word2Vec</a:t>
            </a:r>
            <a:endParaRPr lang="ru-RU" sz="2200" b="1" dirty="0">
              <a:latin typeface="Century Gothic" panose="020B0502020202020204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042D22EE-270C-A326-CD7D-344254900511}"/>
              </a:ext>
            </a:extLst>
          </p:cNvPr>
          <p:cNvCxnSpPr>
            <a:cxnSpLocks/>
          </p:cNvCxnSpPr>
          <p:nvPr/>
        </p:nvCxnSpPr>
        <p:spPr>
          <a:xfrm flipH="1">
            <a:off x="1629547" y="1305951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C356096-DB87-9518-19C3-9A79A9B5D1BA}"/>
              </a:ext>
            </a:extLst>
          </p:cNvPr>
          <p:cNvCxnSpPr>
            <a:cxnSpLocks/>
          </p:cNvCxnSpPr>
          <p:nvPr/>
        </p:nvCxnSpPr>
        <p:spPr>
          <a:xfrm flipH="1">
            <a:off x="1629547" y="5964701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DC256F9C-C746-1E23-AF27-F62E8C321738}"/>
              </a:ext>
            </a:extLst>
          </p:cNvPr>
          <p:cNvCxnSpPr>
            <a:cxnSpLocks/>
          </p:cNvCxnSpPr>
          <p:nvPr/>
        </p:nvCxnSpPr>
        <p:spPr>
          <a:xfrm flipH="1">
            <a:off x="1629547" y="328246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D83193D-39D6-50E7-0658-140312A5EDBC}"/>
              </a:ext>
            </a:extLst>
          </p:cNvPr>
          <p:cNvCxnSpPr>
            <a:cxnSpLocks/>
          </p:cNvCxnSpPr>
          <p:nvPr/>
        </p:nvCxnSpPr>
        <p:spPr>
          <a:xfrm flipV="1">
            <a:off x="1629547" y="327101"/>
            <a:ext cx="0" cy="5637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3897ED25-1533-0DC0-D894-C2A7A009AE7C}"/>
              </a:ext>
            </a:extLst>
          </p:cNvPr>
          <p:cNvCxnSpPr>
            <a:cxnSpLocks/>
          </p:cNvCxnSpPr>
          <p:nvPr/>
        </p:nvCxnSpPr>
        <p:spPr>
          <a:xfrm flipV="1">
            <a:off x="11889547" y="328245"/>
            <a:ext cx="0" cy="5637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1AB424B-A889-C0F4-E494-B7C64932AC7C}"/>
              </a:ext>
            </a:extLst>
          </p:cNvPr>
          <p:cNvCxnSpPr>
            <a:cxnSpLocks/>
          </p:cNvCxnSpPr>
          <p:nvPr/>
        </p:nvCxnSpPr>
        <p:spPr>
          <a:xfrm flipH="1">
            <a:off x="1629547" y="4800016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0A9B43ED-6AFA-6602-6828-C84728712812}"/>
              </a:ext>
            </a:extLst>
          </p:cNvPr>
          <p:cNvSpPr txBox="1">
            <a:spLocks/>
          </p:cNvSpPr>
          <p:nvPr/>
        </p:nvSpPr>
        <p:spPr bwMode="auto">
          <a:xfrm>
            <a:off x="1733636" y="5178653"/>
            <a:ext cx="2796161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Word2Vec</a:t>
            </a:r>
            <a:endParaRPr lang="ru-RU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F9BEEBA-BCB5-AF4F-720E-C55D6F3B8FBE}"/>
              </a:ext>
            </a:extLst>
          </p:cNvPr>
          <p:cNvSpPr>
            <a:spLocks noChangeAspect="1"/>
          </p:cNvSpPr>
          <p:nvPr/>
        </p:nvSpPr>
        <p:spPr bwMode="auto">
          <a:xfrm>
            <a:off x="5146783" y="1600295"/>
            <a:ext cx="576000" cy="576000"/>
          </a:xfrm>
          <a:prstGeom prst="ellipse">
            <a:avLst/>
          </a:prstGeom>
          <a:solidFill>
            <a:srgbClr val="A19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F49585F-D573-3C58-B23D-9257C493F5AA}"/>
              </a:ext>
            </a:extLst>
          </p:cNvPr>
          <p:cNvSpPr>
            <a:spLocks noChangeAspect="1"/>
          </p:cNvSpPr>
          <p:nvPr/>
        </p:nvSpPr>
        <p:spPr bwMode="auto">
          <a:xfrm>
            <a:off x="5146783" y="2764983"/>
            <a:ext cx="576000" cy="576000"/>
          </a:xfrm>
          <a:prstGeom prst="ellipse">
            <a:avLst/>
          </a:prstGeom>
          <a:solidFill>
            <a:srgbClr val="6F6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5FC7ABF-DFED-3C59-A7DB-F7630F5D6433}"/>
              </a:ext>
            </a:extLst>
          </p:cNvPr>
          <p:cNvSpPr>
            <a:spLocks noChangeAspect="1"/>
          </p:cNvSpPr>
          <p:nvPr/>
        </p:nvSpPr>
        <p:spPr bwMode="auto">
          <a:xfrm>
            <a:off x="5146783" y="3929671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23F1796C-93F8-5A04-5F8A-67CA83A2EA3B}"/>
              </a:ext>
            </a:extLst>
          </p:cNvPr>
          <p:cNvSpPr>
            <a:spLocks noChangeAspect="1"/>
          </p:cNvSpPr>
          <p:nvPr/>
        </p:nvSpPr>
        <p:spPr bwMode="auto">
          <a:xfrm>
            <a:off x="5146783" y="5094359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7D4DF53-A1F1-5A87-F439-9A878B09355D}"/>
              </a:ext>
            </a:extLst>
          </p:cNvPr>
          <p:cNvSpPr>
            <a:spLocks noChangeAspect="1"/>
          </p:cNvSpPr>
          <p:nvPr/>
        </p:nvSpPr>
        <p:spPr bwMode="auto">
          <a:xfrm>
            <a:off x="7845434" y="1600295"/>
            <a:ext cx="576000" cy="576000"/>
          </a:xfrm>
          <a:prstGeom prst="ellipse">
            <a:avLst/>
          </a:prstGeom>
          <a:solidFill>
            <a:srgbClr val="A19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BA002B3-CB34-999E-17A1-B2A813273FC3}"/>
              </a:ext>
            </a:extLst>
          </p:cNvPr>
          <p:cNvSpPr>
            <a:spLocks noChangeAspect="1"/>
          </p:cNvSpPr>
          <p:nvPr/>
        </p:nvSpPr>
        <p:spPr bwMode="auto">
          <a:xfrm>
            <a:off x="7845434" y="2764983"/>
            <a:ext cx="576000" cy="576000"/>
          </a:xfrm>
          <a:prstGeom prst="ellipse">
            <a:avLst/>
          </a:prstGeom>
          <a:solidFill>
            <a:srgbClr val="6F6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EFC88566-F76B-9937-CEC5-2AD80288B282}"/>
              </a:ext>
            </a:extLst>
          </p:cNvPr>
          <p:cNvSpPr>
            <a:spLocks noChangeAspect="1"/>
          </p:cNvSpPr>
          <p:nvPr/>
        </p:nvSpPr>
        <p:spPr bwMode="auto">
          <a:xfrm>
            <a:off x="7845434" y="3929671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4E34D08-872F-B87E-7062-1C01BF56C144}"/>
              </a:ext>
            </a:extLst>
          </p:cNvPr>
          <p:cNvSpPr>
            <a:spLocks noChangeAspect="1"/>
          </p:cNvSpPr>
          <p:nvPr/>
        </p:nvSpPr>
        <p:spPr bwMode="auto">
          <a:xfrm>
            <a:off x="7845434" y="5094359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7E16024-F7F0-E3AC-ECB6-D239633BB822}"/>
              </a:ext>
            </a:extLst>
          </p:cNvPr>
          <p:cNvSpPr>
            <a:spLocks noChangeAspect="1"/>
          </p:cNvSpPr>
          <p:nvPr/>
        </p:nvSpPr>
        <p:spPr bwMode="auto">
          <a:xfrm>
            <a:off x="10544084" y="1600295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7CA29A89-71BA-B794-A973-D60A02E1242B}"/>
              </a:ext>
            </a:extLst>
          </p:cNvPr>
          <p:cNvSpPr>
            <a:spLocks noChangeAspect="1"/>
          </p:cNvSpPr>
          <p:nvPr/>
        </p:nvSpPr>
        <p:spPr bwMode="auto">
          <a:xfrm>
            <a:off x="10544084" y="2764983"/>
            <a:ext cx="576000" cy="576000"/>
          </a:xfrm>
          <a:prstGeom prst="ellipse">
            <a:avLst/>
          </a:prstGeom>
          <a:solidFill>
            <a:srgbClr val="1F1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1C1FD5B8-0460-732F-3C5D-0E270EDBABA8}"/>
              </a:ext>
            </a:extLst>
          </p:cNvPr>
          <p:cNvSpPr>
            <a:spLocks noChangeAspect="1"/>
          </p:cNvSpPr>
          <p:nvPr/>
        </p:nvSpPr>
        <p:spPr bwMode="auto">
          <a:xfrm>
            <a:off x="10544084" y="3929671"/>
            <a:ext cx="576000" cy="576000"/>
          </a:xfrm>
          <a:prstGeom prst="ellipse">
            <a:avLst/>
          </a:prstGeom>
          <a:solidFill>
            <a:srgbClr val="A19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464F9EC9-B25D-255C-82B1-C430056A43BF}"/>
              </a:ext>
            </a:extLst>
          </p:cNvPr>
          <p:cNvSpPr>
            <a:spLocks noChangeAspect="1"/>
          </p:cNvSpPr>
          <p:nvPr/>
        </p:nvSpPr>
        <p:spPr bwMode="auto">
          <a:xfrm>
            <a:off x="10544084" y="5094359"/>
            <a:ext cx="576000" cy="576000"/>
          </a:xfrm>
          <a:prstGeom prst="ellipse">
            <a:avLst/>
          </a:prstGeom>
          <a:solidFill>
            <a:srgbClr val="A19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5E106AEC-3C3E-4675-4E59-23B8DBC5AECE}"/>
              </a:ext>
            </a:extLst>
          </p:cNvPr>
          <p:cNvGrpSpPr/>
          <p:nvPr/>
        </p:nvGrpSpPr>
        <p:grpSpPr>
          <a:xfrm>
            <a:off x="2028572" y="6216382"/>
            <a:ext cx="1769032" cy="384561"/>
            <a:chOff x="2028572" y="6223997"/>
            <a:chExt cx="1769032" cy="38456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7261AA-B85F-B23B-3E30-5D0F55424F08}"/>
                </a:ext>
              </a:extLst>
            </p:cNvPr>
            <p:cNvSpPr txBox="1"/>
            <p:nvPr/>
          </p:nvSpPr>
          <p:spPr bwMode="auto">
            <a:xfrm>
              <a:off x="2424668" y="6223997"/>
              <a:ext cx="1372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entury Gothic" panose="020B0502020202020204" pitchFamily="34" charset="0"/>
                </a:rPr>
                <a:t>низкий</a:t>
              </a: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53367622-3B81-B823-0AE0-DE9B09AC4D0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28572" y="6248558"/>
              <a:ext cx="360000" cy="360000"/>
            </a:xfrm>
            <a:prstGeom prst="ellipse">
              <a:avLst/>
            </a:prstGeom>
            <a:solidFill>
              <a:srgbClr val="A193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F73C5D1-842C-FF15-A26A-BBD109EAF35F}"/>
              </a:ext>
            </a:extLst>
          </p:cNvPr>
          <p:cNvGrpSpPr/>
          <p:nvPr/>
        </p:nvGrpSpPr>
        <p:grpSpPr>
          <a:xfrm>
            <a:off x="6020859" y="6223997"/>
            <a:ext cx="1769032" cy="384561"/>
            <a:chOff x="5977726" y="6223997"/>
            <a:chExt cx="1769032" cy="38456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5F5D5E-2A23-4556-EEAB-A3DE73062024}"/>
                </a:ext>
              </a:extLst>
            </p:cNvPr>
            <p:cNvSpPr txBox="1"/>
            <p:nvPr/>
          </p:nvSpPr>
          <p:spPr bwMode="auto">
            <a:xfrm>
              <a:off x="6373822" y="6223997"/>
              <a:ext cx="1372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entury Gothic" panose="020B0502020202020204" pitchFamily="34" charset="0"/>
                </a:rPr>
                <a:t>средний</a:t>
              </a:r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BE4128D-1EEC-EC33-34FE-E823D8D2F8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77726" y="6248558"/>
              <a:ext cx="360000" cy="360000"/>
            </a:xfrm>
            <a:prstGeom prst="ellipse">
              <a:avLst/>
            </a:prstGeom>
            <a:solidFill>
              <a:srgbClr val="6F63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2CE5B9C1-1671-1BE8-D110-E3B09AD2F902}"/>
              </a:ext>
            </a:extLst>
          </p:cNvPr>
          <p:cNvGrpSpPr/>
          <p:nvPr/>
        </p:nvGrpSpPr>
        <p:grpSpPr>
          <a:xfrm>
            <a:off x="10013145" y="6223997"/>
            <a:ext cx="1769032" cy="369332"/>
            <a:chOff x="10013145" y="6223997"/>
            <a:chExt cx="17690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317537-91AA-DCCF-18FD-A17D6F42050C}"/>
                </a:ext>
              </a:extLst>
            </p:cNvPr>
            <p:cNvSpPr txBox="1"/>
            <p:nvPr/>
          </p:nvSpPr>
          <p:spPr bwMode="auto">
            <a:xfrm>
              <a:off x="10409241" y="6223997"/>
              <a:ext cx="1372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entury Gothic" panose="020B0502020202020204" pitchFamily="34" charset="0"/>
                </a:rPr>
                <a:t>высокий</a:t>
              </a:r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4DA95C77-1BE7-C46D-4043-30C5A9F4C5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013145" y="6228663"/>
              <a:ext cx="360000" cy="360000"/>
            </a:xfrm>
            <a:prstGeom prst="ellipse">
              <a:avLst/>
            </a:prstGeom>
            <a:solidFill>
              <a:srgbClr val="1F1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511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22000">
              <a:srgbClr val="3E337F">
                <a:alpha val="65000"/>
              </a:srgbClr>
            </a:gs>
            <a:gs pos="68000">
              <a:srgbClr val="3E337F">
                <a:alpha val="50000"/>
              </a:srgbClr>
            </a:gs>
            <a:gs pos="100000">
              <a:srgbClr val="3E337F">
                <a:alpha val="4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D2FA9-E034-15F4-3236-B27CEAD68C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4A9ABF9-10A2-2C76-93BA-43E54B1B6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BDF711"/>
                </a:solidFill>
                <a:latin typeface="Century Gothic" panose="020B0502020202020204" pitchFamily="34" charset="0"/>
              </a:rPr>
              <a:t>ВРЕМЯ</a:t>
            </a: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758A1968-244D-3F90-4668-9A0BF4A468EA}"/>
              </a:ext>
            </a:extLst>
          </p:cNvPr>
          <p:cNvSpPr txBox="1">
            <a:spLocks/>
          </p:cNvSpPr>
          <p:nvPr/>
        </p:nvSpPr>
        <p:spPr bwMode="auto">
          <a:xfrm>
            <a:off x="3311862" y="2652676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 err="1">
                <a:latin typeface="Century Gothic" panose="020B0502020202020204" pitchFamily="34" charset="0"/>
              </a:rPr>
              <a:t>CountVectorizer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978E59C-5A8B-A9CC-DE21-4ADD81DCB516}"/>
              </a:ext>
            </a:extLst>
          </p:cNvPr>
          <p:cNvSpPr>
            <a:spLocks noChangeAspect="1"/>
          </p:cNvSpPr>
          <p:nvPr/>
        </p:nvSpPr>
        <p:spPr bwMode="auto">
          <a:xfrm>
            <a:off x="3969229" y="399485"/>
            <a:ext cx="2016000" cy="2016000"/>
          </a:xfrm>
          <a:prstGeom prst="ellipse">
            <a:avLst/>
          </a:prstGeom>
          <a:solidFill>
            <a:srgbClr val="BDF711"/>
          </a:solidFill>
          <a:ln>
            <a:solidFill>
              <a:srgbClr val="3E337F"/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0.00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8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6A458E24-85FC-377E-30F0-56DE0EC82F02}"/>
              </a:ext>
            </a:extLst>
          </p:cNvPr>
          <p:cNvSpPr txBox="1">
            <a:spLocks/>
          </p:cNvSpPr>
          <p:nvPr/>
        </p:nvSpPr>
        <p:spPr bwMode="auto">
          <a:xfrm>
            <a:off x="8137177" y="2652676"/>
            <a:ext cx="2774171" cy="4074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Century Gothic" panose="020B0502020202020204" pitchFamily="34" charset="0"/>
              </a:rPr>
              <a:t>TF-IDF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643A016-050C-8685-B012-F102A94D872E}"/>
              </a:ext>
            </a:extLst>
          </p:cNvPr>
          <p:cNvSpPr>
            <a:spLocks noChangeAspect="1"/>
          </p:cNvSpPr>
          <p:nvPr/>
        </p:nvSpPr>
        <p:spPr bwMode="auto">
          <a:xfrm>
            <a:off x="8516262" y="399485"/>
            <a:ext cx="2016000" cy="2016000"/>
          </a:xfrm>
          <a:prstGeom prst="ellipse">
            <a:avLst/>
          </a:prstGeom>
          <a:solidFill>
            <a:srgbClr val="BDF711"/>
          </a:solidFill>
          <a:ln>
            <a:solidFill>
              <a:srgbClr val="3E337F"/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0.0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15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Заголовок 4">
            <a:extLst>
              <a:ext uri="{FF2B5EF4-FFF2-40B4-BE49-F238E27FC236}">
                <a16:creationId xmlns:a16="http://schemas.microsoft.com/office/drawing/2014/main" id="{BA38B5FF-6C89-83EC-EEC3-BB0561B75089}"/>
              </a:ext>
            </a:extLst>
          </p:cNvPr>
          <p:cNvSpPr txBox="1">
            <a:spLocks/>
          </p:cNvSpPr>
          <p:nvPr/>
        </p:nvSpPr>
        <p:spPr bwMode="auto">
          <a:xfrm>
            <a:off x="3311862" y="5940905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Century Gothic" panose="020B0502020202020204" pitchFamily="34" charset="0"/>
              </a:rPr>
              <a:t>Word2Vec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2C3383A-B06B-73DD-E621-E3D05018530F}"/>
              </a:ext>
            </a:extLst>
          </p:cNvPr>
          <p:cNvSpPr>
            <a:spLocks noChangeAspect="1"/>
          </p:cNvSpPr>
          <p:nvPr/>
        </p:nvSpPr>
        <p:spPr bwMode="auto">
          <a:xfrm>
            <a:off x="3969229" y="3704776"/>
            <a:ext cx="2016000" cy="2016000"/>
          </a:xfrm>
          <a:prstGeom prst="ellipse">
            <a:avLst/>
          </a:prstGeom>
          <a:solidFill>
            <a:srgbClr val="BDF711"/>
          </a:solidFill>
          <a:ln>
            <a:solidFill>
              <a:srgbClr val="3E337F"/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0.0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25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4BF8C564-87BD-96C4-89A4-32DE66086E76}"/>
              </a:ext>
            </a:extLst>
          </p:cNvPr>
          <p:cNvSpPr txBox="1">
            <a:spLocks/>
          </p:cNvSpPr>
          <p:nvPr/>
        </p:nvSpPr>
        <p:spPr bwMode="auto">
          <a:xfrm>
            <a:off x="7858895" y="5940905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Century Gothic" panose="020B0502020202020204" pitchFamily="34" charset="0"/>
              </a:rPr>
              <a:t>Doc2Vec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294D691-325A-8524-57FD-0ABF7D23D46A}"/>
              </a:ext>
            </a:extLst>
          </p:cNvPr>
          <p:cNvSpPr>
            <a:spLocks noChangeAspect="1"/>
          </p:cNvSpPr>
          <p:nvPr/>
        </p:nvSpPr>
        <p:spPr bwMode="auto">
          <a:xfrm>
            <a:off x="8516262" y="3704776"/>
            <a:ext cx="2016000" cy="2016000"/>
          </a:xfrm>
          <a:prstGeom prst="ellipse">
            <a:avLst/>
          </a:prstGeom>
          <a:solidFill>
            <a:srgbClr val="BDF711"/>
          </a:solidFill>
          <a:ln>
            <a:solidFill>
              <a:srgbClr val="3E337F"/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0.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123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Заголовок 4">
            <a:extLst>
              <a:ext uri="{FF2B5EF4-FFF2-40B4-BE49-F238E27FC236}">
                <a16:creationId xmlns:a16="http://schemas.microsoft.com/office/drawing/2014/main" id="{5AA5438B-DB64-E6FC-6339-20294DD8BFB4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235202" y="2235202"/>
            <a:ext cx="685800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ВЫЧИСЛЕНИЯ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177944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50000"/>
              </a:srgbClr>
            </a:gs>
            <a:gs pos="11000">
              <a:srgbClr val="BDF711">
                <a:alpha val="40000"/>
              </a:srgbClr>
            </a:gs>
            <a:gs pos="35000">
              <a:srgbClr val="BDF711">
                <a:alpha val="30000"/>
              </a:srgbClr>
            </a:gs>
            <a:gs pos="71000">
              <a:srgbClr val="BDF711">
                <a:alpha val="2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B8E7B-B82B-195C-DF85-2935E26CE05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03ABBB6-10B9-FFD5-12D0-AA4A2C4F7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СХОЖЕСТЬ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DF152E-BB96-794D-17D4-DA3888635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12" b="52358"/>
          <a:stretch>
            <a:fillRect/>
          </a:stretch>
        </p:blipFill>
        <p:spPr>
          <a:xfrm>
            <a:off x="10905067" y="493671"/>
            <a:ext cx="1286933" cy="58706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7175ADF-0F45-4ED4-982D-9EA3C502B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71"/>
          <a:stretch>
            <a:fillRect/>
          </a:stretch>
        </p:blipFill>
        <p:spPr>
          <a:xfrm>
            <a:off x="1699234" y="193628"/>
            <a:ext cx="4031991" cy="645865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32C2319-05EA-09DA-7DF7-3845C8B17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6493538" y="193628"/>
            <a:ext cx="4053959" cy="645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0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0000"/>
              </a:srgbClr>
            </a:gs>
            <a:gs pos="21000">
              <a:srgbClr val="3E337F">
                <a:alpha val="65000"/>
              </a:srgbClr>
            </a:gs>
            <a:gs pos="54000">
              <a:srgbClr val="3E337F">
                <a:alpha val="50000"/>
              </a:srgbClr>
            </a:gs>
            <a:gs pos="99000">
              <a:srgbClr val="3E337F">
                <a:alpha val="45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BE30-07CD-157E-3EE5-FE83B97E088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9EE25FF-7618-451A-1ADE-768F8C58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600" dirty="0">
                <a:solidFill>
                  <a:srgbClr val="BDF711"/>
                </a:solidFill>
                <a:latin typeface="Century Gothic" panose="020B0502020202020204" pitchFamily="34" charset="0"/>
              </a:rPr>
              <a:t>t-SNE</a:t>
            </a:r>
            <a:endParaRPr lang="ru-RU" sz="7200" b="1" spc="6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8F3220-EA14-F1B0-39C2-FD9B3E705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94856" y="247960"/>
            <a:ext cx="8214331" cy="6362080"/>
          </a:xfrm>
          <a:prstGeom prst="rect">
            <a:avLst/>
          </a:prstGeom>
        </p:spPr>
      </p:pic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3F2DEFBB-9C90-8ECB-3559-42173A06192C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 err="1">
                <a:solidFill>
                  <a:srgbClr val="BDF711"/>
                </a:solidFill>
                <a:latin typeface="Century Gothic" panose="020B0502020202020204" pitchFamily="34" charset="0"/>
              </a:rPr>
              <a:t>CountVectorizer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91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0000"/>
              </a:srgbClr>
            </a:gs>
            <a:gs pos="11000">
              <a:srgbClr val="3E337F">
                <a:alpha val="60000"/>
              </a:srgbClr>
            </a:gs>
            <a:gs pos="65000">
              <a:srgbClr val="3E337F">
                <a:alpha val="50000"/>
              </a:srgbClr>
            </a:gs>
            <a:gs pos="100000">
              <a:srgbClr val="3E337F">
                <a:alpha val="4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7DBB5-7D89-A17F-165C-7C716BF5581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D676AE2-99E2-535F-3265-19A942737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600" dirty="0">
                <a:solidFill>
                  <a:srgbClr val="BDF711"/>
                </a:solidFill>
                <a:latin typeface="Century Gothic" panose="020B0502020202020204" pitchFamily="34" charset="0"/>
              </a:rPr>
              <a:t>t-SNE</a:t>
            </a:r>
            <a:endParaRPr lang="ru-RU" sz="7200" b="1" spc="6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8794DC-D850-92A1-CDDE-207840259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71800" y="311088"/>
            <a:ext cx="8260443" cy="6235824"/>
          </a:xfrm>
          <a:prstGeom prst="rect">
            <a:avLst/>
          </a:prstGeom>
        </p:spPr>
      </p:pic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BBECE0CE-93EF-CD43-6F3C-C2A65670CFBF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TF-IDF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94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0000"/>
              </a:srgbClr>
            </a:gs>
            <a:gs pos="55000">
              <a:srgbClr val="3E337F">
                <a:alpha val="60000"/>
              </a:srgbClr>
            </a:gs>
            <a:gs pos="77000">
              <a:srgbClr val="3E337F">
                <a:alpha val="45000"/>
              </a:srgbClr>
            </a:gs>
            <a:gs pos="100000">
              <a:srgbClr val="3E337F">
                <a:alpha val="3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1AB1E-72AB-2972-825B-74B547FDB89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875430C-63FC-B5C7-4078-2EFECC2E9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600" dirty="0">
                <a:solidFill>
                  <a:srgbClr val="BDF711"/>
                </a:solidFill>
                <a:latin typeface="Century Gothic" panose="020B0502020202020204" pitchFamily="34" charset="0"/>
              </a:rPr>
              <a:t>t-SNE</a:t>
            </a:r>
            <a:endParaRPr lang="ru-RU" sz="7200" b="1" spc="6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F58477-0EFC-5EDF-59E7-95E7A4DCA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1800" y="247960"/>
            <a:ext cx="8260443" cy="6362080"/>
          </a:xfrm>
          <a:prstGeom prst="rect">
            <a:avLst/>
          </a:prstGeom>
        </p:spPr>
      </p:pic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2C97F985-19C2-1CD7-6536-A883059341DC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Word2Vec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5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50000"/>
              </a:srgbClr>
            </a:gs>
            <a:gs pos="11000">
              <a:srgbClr val="BDF711">
                <a:alpha val="40000"/>
              </a:srgbClr>
            </a:gs>
            <a:gs pos="35000">
              <a:srgbClr val="BDF711">
                <a:alpha val="30000"/>
              </a:srgbClr>
            </a:gs>
            <a:gs pos="71000">
              <a:srgbClr val="BDF711">
                <a:alpha val="2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1D1CC-94C5-4B8A-B077-7852F93F54D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CD71C29-26FE-075D-06B3-B98F9EBAD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 СЛОВ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BF7F21-AEBF-EE39-F1F6-F1DC54447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5"/>
          <a:stretch>
            <a:fillRect/>
          </a:stretch>
        </p:blipFill>
        <p:spPr>
          <a:xfrm>
            <a:off x="1420585" y="1143001"/>
            <a:ext cx="10613571" cy="5014809"/>
          </a:xfrm>
          <a:prstGeom prst="rect">
            <a:avLst/>
          </a:prstGeom>
        </p:spPr>
      </p:pic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144D32DE-3925-64F2-7B69-BEE0B617D424}"/>
              </a:ext>
            </a:extLst>
          </p:cNvPr>
          <p:cNvSpPr txBox="1">
            <a:spLocks/>
          </p:cNvSpPr>
          <p:nvPr/>
        </p:nvSpPr>
        <p:spPr bwMode="auto">
          <a:xfrm>
            <a:off x="8458494" y="447496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2800" dirty="0" err="1">
                <a:latin typeface="Century Gothic" panose="020B0502020202020204" pitchFamily="34" charset="0"/>
              </a:rPr>
              <a:t>CountVectorizer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735B954D-A2F3-44B9-B744-D2AFC7C04587}"/>
              </a:ext>
            </a:extLst>
          </p:cNvPr>
          <p:cNvSpPr txBox="1">
            <a:spLocks/>
          </p:cNvSpPr>
          <p:nvPr/>
        </p:nvSpPr>
        <p:spPr bwMode="auto">
          <a:xfrm>
            <a:off x="212844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частые</a:t>
            </a: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384EF578-8891-E778-EC09-3DE46333845E}"/>
              </a:ext>
            </a:extLst>
          </p:cNvPr>
          <p:cNvSpPr txBox="1">
            <a:spLocks/>
          </p:cNvSpPr>
          <p:nvPr/>
        </p:nvSpPr>
        <p:spPr bwMode="auto">
          <a:xfrm>
            <a:off x="757130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редкие</a:t>
            </a:r>
          </a:p>
        </p:txBody>
      </p:sp>
    </p:spTree>
    <p:extLst>
      <p:ext uri="{BB962C8B-B14F-4D97-AF65-F5344CB8AC3E}">
        <p14:creationId xmlns:p14="http://schemas.microsoft.com/office/powerpoint/2010/main" val="16793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50000"/>
              </a:srgbClr>
            </a:gs>
            <a:gs pos="11000">
              <a:srgbClr val="BDF711">
                <a:alpha val="40000"/>
              </a:srgbClr>
            </a:gs>
            <a:gs pos="35000">
              <a:srgbClr val="BDF711">
                <a:alpha val="30000"/>
              </a:srgbClr>
            </a:gs>
            <a:gs pos="71000">
              <a:srgbClr val="BDF711">
                <a:alpha val="2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E5F76-2AE7-02BF-052E-438718E44D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F89632B-7090-4B7B-A7B0-AB8D18448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 СЛОВ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FD5FB2-2F14-E3D1-A3F7-455EA998F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6" t="5224" r="396"/>
          <a:stretch>
            <a:fillRect/>
          </a:stretch>
        </p:blipFill>
        <p:spPr>
          <a:xfrm>
            <a:off x="1346855" y="1143001"/>
            <a:ext cx="10687302" cy="5014809"/>
          </a:xfrm>
          <a:prstGeom prst="rect">
            <a:avLst/>
          </a:prstGeom>
        </p:spPr>
      </p:pic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760935E4-9BE5-0A9A-4D7D-E365B25B6DB7}"/>
              </a:ext>
            </a:extLst>
          </p:cNvPr>
          <p:cNvSpPr txBox="1">
            <a:spLocks/>
          </p:cNvSpPr>
          <p:nvPr/>
        </p:nvSpPr>
        <p:spPr bwMode="auto">
          <a:xfrm>
            <a:off x="8458494" y="447496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2800" dirty="0">
                <a:latin typeface="Century Gothic" panose="020B0502020202020204" pitchFamily="34" charset="0"/>
              </a:rPr>
              <a:t>TF-IDF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BAB6B219-7231-948D-E7C0-DEF1FABAF505}"/>
              </a:ext>
            </a:extLst>
          </p:cNvPr>
          <p:cNvSpPr txBox="1">
            <a:spLocks/>
          </p:cNvSpPr>
          <p:nvPr/>
        </p:nvSpPr>
        <p:spPr bwMode="auto">
          <a:xfrm>
            <a:off x="212844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частые</a:t>
            </a: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4D172B5E-ECF0-1DBC-0549-B71A11261E75}"/>
              </a:ext>
            </a:extLst>
          </p:cNvPr>
          <p:cNvSpPr txBox="1">
            <a:spLocks/>
          </p:cNvSpPr>
          <p:nvPr/>
        </p:nvSpPr>
        <p:spPr bwMode="auto">
          <a:xfrm>
            <a:off x="757130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редкие</a:t>
            </a:r>
          </a:p>
        </p:txBody>
      </p:sp>
    </p:spTree>
    <p:extLst>
      <p:ext uri="{BB962C8B-B14F-4D97-AF65-F5344CB8AC3E}">
        <p14:creationId xmlns:p14="http://schemas.microsoft.com/office/powerpoint/2010/main" val="2789289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50000"/>
              </a:srgbClr>
            </a:gs>
            <a:gs pos="11000">
              <a:srgbClr val="BDF711">
                <a:alpha val="40000"/>
              </a:srgbClr>
            </a:gs>
            <a:gs pos="35000">
              <a:srgbClr val="BDF711">
                <a:alpha val="30000"/>
              </a:srgbClr>
            </a:gs>
            <a:gs pos="71000">
              <a:srgbClr val="BDF711">
                <a:alpha val="2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A2BCE-7CD2-AD02-29BC-4576A3587A6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7EA0791-2CD6-22C7-23D6-80A026573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ТОП СЛОВ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E919A5-DC35-DDB1-0A13-D6ACB8825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6" t="5224" r="396"/>
          <a:stretch>
            <a:fillRect/>
          </a:stretch>
        </p:blipFill>
        <p:spPr>
          <a:xfrm>
            <a:off x="1346855" y="1143001"/>
            <a:ext cx="10687302" cy="5014809"/>
          </a:xfrm>
          <a:prstGeom prst="rect">
            <a:avLst/>
          </a:prstGeom>
        </p:spPr>
      </p:pic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F1EDF934-594D-8D14-F130-6C6B3D011403}"/>
              </a:ext>
            </a:extLst>
          </p:cNvPr>
          <p:cNvSpPr txBox="1">
            <a:spLocks/>
          </p:cNvSpPr>
          <p:nvPr/>
        </p:nvSpPr>
        <p:spPr bwMode="auto">
          <a:xfrm>
            <a:off x="8458494" y="447496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2800" dirty="0">
                <a:latin typeface="Century Gothic" panose="020B0502020202020204" pitchFamily="34" charset="0"/>
              </a:rPr>
              <a:t>Word2Vec</a:t>
            </a:r>
            <a:endParaRPr lang="ru-RU" sz="2800" dirty="0">
              <a:latin typeface="Century Gothic" panose="020B0502020202020204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A80CCABC-90C4-1492-ED4F-0D925A711984}"/>
              </a:ext>
            </a:extLst>
          </p:cNvPr>
          <p:cNvSpPr txBox="1">
            <a:spLocks/>
          </p:cNvSpPr>
          <p:nvPr/>
        </p:nvSpPr>
        <p:spPr bwMode="auto">
          <a:xfrm>
            <a:off x="212844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частые</a:t>
            </a: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7659F2B2-3127-7CD9-8175-D8A956FE0F57}"/>
              </a:ext>
            </a:extLst>
          </p:cNvPr>
          <p:cNvSpPr txBox="1">
            <a:spLocks/>
          </p:cNvSpPr>
          <p:nvPr/>
        </p:nvSpPr>
        <p:spPr bwMode="auto">
          <a:xfrm>
            <a:off x="7571306" y="6157810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1600" dirty="0">
                <a:latin typeface="Century Gothic" panose="020B0502020202020204" pitchFamily="34" charset="0"/>
              </a:rPr>
              <a:t>Самые редкие</a:t>
            </a: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D4E3C245-6FEC-9434-8496-2E3CBB3CEDC2}"/>
              </a:ext>
            </a:extLst>
          </p:cNvPr>
          <p:cNvSpPr txBox="1">
            <a:spLocks/>
          </p:cNvSpPr>
          <p:nvPr/>
        </p:nvSpPr>
        <p:spPr bwMode="auto">
          <a:xfrm>
            <a:off x="8458494" y="651203"/>
            <a:ext cx="3330734" cy="4074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1400" dirty="0">
                <a:latin typeface="Century Gothic" panose="020B0502020202020204" pitchFamily="34" charset="0"/>
              </a:rPr>
              <a:t>совпадает с </a:t>
            </a:r>
            <a:r>
              <a:rPr lang="en-US" sz="1400" dirty="0" err="1">
                <a:latin typeface="Century Gothic" panose="020B0502020202020204" pitchFamily="34" charset="0"/>
              </a:rPr>
              <a:t>CountVectorizer</a:t>
            </a:r>
            <a:endParaRPr lang="ru-RU" sz="1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11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40000"/>
              </a:srgbClr>
            </a:gs>
            <a:gs pos="68000">
              <a:srgbClr val="BDF611">
                <a:alpha val="50000"/>
              </a:srgbClr>
            </a:gs>
            <a:gs pos="86000">
              <a:srgbClr val="BDF611">
                <a:alpha val="60000"/>
              </a:srgbClr>
            </a:gs>
            <a:gs pos="100000">
              <a:srgbClr val="BDF611">
                <a:alpha val="70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7DA18-ABA0-3255-0C6A-EAAEAD08E1C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D122C415-4832-7DB2-2003-A315EEAB03E3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en-US" sz="5600" b="1" spc="300" dirty="0" err="1">
                <a:solidFill>
                  <a:srgbClr val="3E337F"/>
                </a:solidFill>
                <a:latin typeface="Century Gothic" panose="020B0502020202020204" pitchFamily="34" charset="0"/>
              </a:rPr>
              <a:t>CountVectorizer</a:t>
            </a:r>
            <a:endParaRPr lang="ru-RU" sz="5600" b="1" spc="3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6A6AB6-6E43-3660-7C49-06610061C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5544" y="549000"/>
            <a:ext cx="1003090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16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40000"/>
              </a:srgbClr>
            </a:gs>
            <a:gs pos="26000">
              <a:srgbClr val="BDF611">
                <a:alpha val="50000"/>
              </a:srgbClr>
            </a:gs>
            <a:gs pos="100000">
              <a:srgbClr val="BDF611">
                <a:alpha val="60000"/>
              </a:srgbClr>
            </a:gs>
            <a:gs pos="100000">
              <a:srgbClr val="BDF611">
                <a:alpha val="7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F1197-2AE4-65FB-3537-FE0685B1934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F88823E3-3036-DAF2-68D4-C1FDB956BE94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en-US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TF-IDF</a:t>
            </a:r>
            <a:endParaRPr lang="ru-RU" sz="5600" b="1" spc="3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4D0EE8-DEE1-AABC-4586-DD57FD950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5255" y="549000"/>
            <a:ext cx="10117134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25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30000"/>
              </a:srgbClr>
            </a:gs>
            <a:gs pos="26000">
              <a:srgbClr val="BDF611">
                <a:alpha val="40000"/>
              </a:srgbClr>
            </a:gs>
            <a:gs pos="45000">
              <a:srgbClr val="BDF611">
                <a:alpha val="50000"/>
              </a:srgbClr>
            </a:gs>
            <a:gs pos="100000">
              <a:srgbClr val="BDF611">
                <a:alpha val="60000"/>
              </a:srgb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95FFF-A6B1-2501-DDD6-83C0D3DE67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858C8191-7045-4071-AAA4-9860D49A4C0B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en-US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Word2Vec</a:t>
            </a:r>
            <a:endParaRPr lang="ru-RU" sz="5600" b="1" spc="3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5E868A-143C-9426-4298-C14785070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5255" y="549000"/>
            <a:ext cx="10133334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74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611">
                <a:alpha val="30000"/>
              </a:srgbClr>
            </a:gs>
            <a:gs pos="40000">
              <a:srgbClr val="BDF611">
                <a:alpha val="40000"/>
              </a:srgbClr>
            </a:gs>
            <a:gs pos="86000">
              <a:srgbClr val="BDF611">
                <a:alpha val="50000"/>
              </a:srgbClr>
            </a:gs>
            <a:gs pos="100000">
              <a:srgbClr val="BDF611">
                <a:alpha val="60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25354-B5B9-9844-F137-717CE30B62D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794DC712-E46C-2F28-D455-D551995E5761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439391" y="2499589"/>
            <a:ext cx="7086602" cy="1858818"/>
          </a:xfrm>
        </p:spPr>
        <p:txBody>
          <a:bodyPr>
            <a:normAutofit/>
          </a:bodyPr>
          <a:lstStyle/>
          <a:p>
            <a:r>
              <a:rPr lang="en-US" sz="56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Doc2Vec</a:t>
            </a:r>
            <a:endParaRPr lang="ru-RU" sz="5600" b="1" spc="3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E739A8-8AD0-CCF1-7304-C7D4FEC86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7470" y="549000"/>
            <a:ext cx="9635555" cy="576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B67ADE-A3C0-5F67-AE7F-7EF14120163F}"/>
              </a:ext>
            </a:extLst>
          </p:cNvPr>
          <p:cNvSpPr txBox="1"/>
          <p:nvPr/>
        </p:nvSpPr>
        <p:spPr>
          <a:xfrm>
            <a:off x="1679752" y="5757488"/>
            <a:ext cx="10255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1829311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0000"/>
              </a:srgbClr>
            </a:gs>
            <a:gs pos="30000">
              <a:srgbClr val="3E337F">
                <a:alpha val="60000"/>
              </a:srgbClr>
            </a:gs>
            <a:gs pos="51000">
              <a:srgbClr val="3E337F">
                <a:alpha val="45000"/>
              </a:srgbClr>
            </a:gs>
            <a:gs pos="100000">
              <a:srgbClr val="3E337F">
                <a:alpha val="30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361B8-97F2-3940-B695-94266F36E1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B440A99-07E0-5D09-F686-5D39FFCAC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WORDCLOUD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1D2052C5-6C9E-DAAC-4D5E-637DCF574045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 err="1">
                <a:solidFill>
                  <a:srgbClr val="BDF711"/>
                </a:solidFill>
                <a:latin typeface="Century Gothic" panose="020B0502020202020204" pitchFamily="34" charset="0"/>
              </a:rPr>
              <a:t>CountVectorizer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BC7B93-5FF3-5E5D-A933-DFA8A0063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98855"/>
            <a:ext cx="8851748" cy="44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61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65000"/>
              </a:srgbClr>
            </a:gs>
            <a:gs pos="38000">
              <a:srgbClr val="3E337F">
                <a:alpha val="50000"/>
              </a:srgbClr>
            </a:gs>
            <a:gs pos="54000">
              <a:srgbClr val="3E337F">
                <a:alpha val="40000"/>
              </a:srgbClr>
            </a:gs>
            <a:gs pos="100000">
              <a:srgbClr val="3E337F">
                <a:alpha val="3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3A31E-29F8-D9BF-9C83-8892F4191B4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C351B18-9A88-EB33-A847-9BAB39EC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WORDCLOUD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C6BC055F-DE76-18BA-3A21-B1FF730C8383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TF-IDF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323E61-8FE6-2D59-4CC7-45601F825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016012" y="1198855"/>
            <a:ext cx="8763324" cy="44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80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0000"/>
              </a:srgbClr>
            </a:gs>
            <a:gs pos="34000">
              <a:srgbClr val="3E337F">
                <a:alpha val="60000"/>
              </a:srgbClr>
            </a:gs>
            <a:gs pos="67000">
              <a:srgbClr val="3E337F">
                <a:alpha val="40000"/>
              </a:srgbClr>
            </a:gs>
            <a:gs pos="95000">
              <a:srgbClr val="3E337F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D6B47-8B9D-597F-B44F-AE632238C9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C587CD7-19AB-972D-1012-6DF72F673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WORDCLOUD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B06F2DE9-70DE-CA32-4472-FFB1D29A91F3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497471" y="2235201"/>
            <a:ext cx="685800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Word2Vec</a:t>
            </a:r>
            <a:endParaRPr lang="ru-RU" sz="4400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70521A-1C85-576E-A4E7-73A8613F5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87743" y="1198855"/>
            <a:ext cx="8819861" cy="44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69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90000"/>
              </a:srgbClr>
            </a:gs>
            <a:gs pos="21000">
              <a:srgbClr val="3E337F">
                <a:alpha val="80000"/>
              </a:srgbClr>
            </a:gs>
            <a:gs pos="53000">
              <a:srgbClr val="3E337F">
                <a:alpha val="50000"/>
              </a:srgbClr>
            </a:gs>
            <a:gs pos="100000">
              <a:srgbClr val="3E337F">
                <a:alpha val="35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C2F26-4B6A-1D4D-B391-7F347AF5394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638051F2-8724-F513-5983-229A2460F53D}"/>
              </a:ext>
            </a:extLst>
          </p:cNvPr>
          <p:cNvSpPr txBox="1">
            <a:spLocks/>
          </p:cNvSpPr>
          <p:nvPr/>
        </p:nvSpPr>
        <p:spPr bwMode="auto">
          <a:xfrm>
            <a:off x="849088" y="1428750"/>
            <a:ext cx="9568541" cy="4000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b="1" spc="600" dirty="0">
                <a:solidFill>
                  <a:srgbClr val="BDF711"/>
                </a:solidFill>
                <a:latin typeface="Century Gothic" panose="020B0502020202020204" pitchFamily="34" charset="0"/>
              </a:rPr>
              <a:t>ЧАСТЬ №2</a:t>
            </a:r>
          </a:p>
          <a:p>
            <a:pPr algn="l"/>
            <a:endParaRPr lang="ru-RU" sz="4000" b="1" spc="600" dirty="0">
              <a:solidFill>
                <a:srgbClr val="BDF711"/>
              </a:solidFill>
              <a:latin typeface="Century Gothic" panose="020B0502020202020204" pitchFamily="34" charset="0"/>
            </a:endParaRPr>
          </a:p>
          <a:p>
            <a:pPr algn="l"/>
            <a:r>
              <a:rPr lang="ru-RU" sz="5400" b="1" spc="600" dirty="0">
                <a:solidFill>
                  <a:srgbClr val="3E337F"/>
                </a:solidFill>
                <a:latin typeface="Century Gothic" panose="020B0502020202020204" pitchFamily="34" charset="0"/>
              </a:rPr>
              <a:t>КЛАССИФИКАЦИЯ ТОНАЛЬНОСТИ ОТЗЫВОВ О ФИЛЬМАХ</a:t>
            </a:r>
          </a:p>
        </p:txBody>
      </p:sp>
    </p:spTree>
    <p:extLst>
      <p:ext uri="{BB962C8B-B14F-4D97-AF65-F5344CB8AC3E}">
        <p14:creationId xmlns:p14="http://schemas.microsoft.com/office/powerpoint/2010/main" val="1425131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19000">
              <a:srgbClr val="3E337F">
                <a:alpha val="65000"/>
              </a:srgbClr>
            </a:gs>
            <a:gs pos="52000">
              <a:srgbClr val="3E337F">
                <a:alpha val="50000"/>
              </a:srgbClr>
            </a:gs>
            <a:gs pos="100000">
              <a:srgbClr val="3E337F">
                <a:alpha val="40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4C5A5-0EF1-9032-5647-4F42FFEDDA1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6867D2-0928-71FE-4305-D854A3B67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1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D4A8EF92-6F81-8D49-055D-B0FCCE57C42A}"/>
              </a:ext>
            </a:extLst>
          </p:cNvPr>
          <p:cNvGrpSpPr/>
          <p:nvPr/>
        </p:nvGrpSpPr>
        <p:grpSpPr>
          <a:xfrm>
            <a:off x="1988125" y="16479"/>
            <a:ext cx="3882501" cy="1699308"/>
            <a:chOff x="3054918" y="16479"/>
            <a:chExt cx="3882501" cy="1699308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8336201C-849A-DE33-106B-72D3A2A55C3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182997"/>
              <a:ext cx="3882501" cy="53279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доля </a:t>
              </a:r>
              <a:r>
                <a:rPr lang="ru-RU" sz="2800" dirty="0" err="1">
                  <a:latin typeface="Century Gothic" panose="020B0502020202020204" pitchFamily="34" charset="0"/>
                </a:rPr>
                <a:t>подвыборки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3" name="Заголовок 4">
              <a:extLst>
                <a:ext uri="{FF2B5EF4-FFF2-40B4-BE49-F238E27FC236}">
                  <a16:creationId xmlns:a16="http://schemas.microsoft.com/office/drawing/2014/main" id="{78120FB1-39E6-2B93-D0A7-276B7A2594F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30%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90C474A-B714-BD9A-D777-D1EC998FF1F2}"/>
              </a:ext>
            </a:extLst>
          </p:cNvPr>
          <p:cNvGrpSpPr/>
          <p:nvPr/>
        </p:nvGrpSpPr>
        <p:grpSpPr>
          <a:xfrm>
            <a:off x="1988125" y="1919418"/>
            <a:ext cx="3882501" cy="2122636"/>
            <a:chOff x="3054918" y="2068541"/>
            <a:chExt cx="3882501" cy="2122636"/>
          </a:xfrm>
        </p:grpSpPr>
        <p:sp>
          <p:nvSpPr>
            <p:cNvPr id="4" name="Заголовок 4">
              <a:extLst>
                <a:ext uri="{FF2B5EF4-FFF2-40B4-BE49-F238E27FC236}">
                  <a16:creationId xmlns:a16="http://schemas.microsoft.com/office/drawing/2014/main" id="{D8917B29-4D06-D77B-6BD2-4C860FDD4DD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3254139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обучающей выборки</a:t>
              </a:r>
            </a:p>
          </p:txBody>
        </p:sp>
        <p:sp>
          <p:nvSpPr>
            <p:cNvPr id="6" name="Заголовок 4">
              <a:extLst>
                <a:ext uri="{FF2B5EF4-FFF2-40B4-BE49-F238E27FC236}">
                  <a16:creationId xmlns:a16="http://schemas.microsoft.com/office/drawing/2014/main" id="{E86D678C-7CFD-8591-BBA2-099C98BF0D3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120</a:t>
              </a: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D5CB61B2-9EC9-A7A1-8307-294E1A87DD77}"/>
              </a:ext>
            </a:extLst>
          </p:cNvPr>
          <p:cNvGrpSpPr/>
          <p:nvPr/>
        </p:nvGrpSpPr>
        <p:grpSpPr>
          <a:xfrm>
            <a:off x="1988125" y="4245685"/>
            <a:ext cx="3882501" cy="2122636"/>
            <a:chOff x="3054918" y="4245685"/>
            <a:chExt cx="3882501" cy="2122636"/>
          </a:xfrm>
        </p:grpSpPr>
        <p:sp>
          <p:nvSpPr>
            <p:cNvPr id="7" name="Заголовок 4">
              <a:extLst>
                <a:ext uri="{FF2B5EF4-FFF2-40B4-BE49-F238E27FC236}">
                  <a16:creationId xmlns:a16="http://schemas.microsoft.com/office/drawing/2014/main" id="{FA0FBB6E-5D94-7978-3901-D27382149A2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тестовой выборки</a:t>
              </a:r>
            </a:p>
          </p:txBody>
        </p:sp>
        <p:sp>
          <p:nvSpPr>
            <p:cNvPr id="8" name="Заголовок 4">
              <a:extLst>
                <a:ext uri="{FF2B5EF4-FFF2-40B4-BE49-F238E27FC236}">
                  <a16:creationId xmlns:a16="http://schemas.microsoft.com/office/drawing/2014/main" id="{C64FB392-8E89-28D5-27D1-6E7EB22E426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30</a:t>
              </a: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849DAEEE-7AB8-F52A-F159-B6F85B7DB435}"/>
              </a:ext>
            </a:extLst>
          </p:cNvPr>
          <p:cNvGrpSpPr/>
          <p:nvPr/>
        </p:nvGrpSpPr>
        <p:grpSpPr>
          <a:xfrm>
            <a:off x="7717659" y="16479"/>
            <a:ext cx="3882501" cy="1695718"/>
            <a:chOff x="7903925" y="16479"/>
            <a:chExt cx="3882501" cy="1695718"/>
          </a:xfrm>
        </p:grpSpPr>
        <p:sp>
          <p:nvSpPr>
            <p:cNvPr id="9" name="Заголовок 4">
              <a:extLst>
                <a:ext uri="{FF2B5EF4-FFF2-40B4-BE49-F238E27FC236}">
                  <a16:creationId xmlns:a16="http://schemas.microsoft.com/office/drawing/2014/main" id="{FA8D2D44-6D80-CFCB-72A0-599DE514217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5" y="1182997"/>
              <a:ext cx="3882501" cy="5292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пакета</a:t>
              </a:r>
            </a:p>
          </p:txBody>
        </p:sp>
        <p:sp>
          <p:nvSpPr>
            <p:cNvPr id="10" name="Заголовок 4">
              <a:extLst>
                <a:ext uri="{FF2B5EF4-FFF2-40B4-BE49-F238E27FC236}">
                  <a16:creationId xmlns:a16="http://schemas.microsoft.com/office/drawing/2014/main" id="{338F7B9D-6361-23A1-B5F5-82F7FD78FBA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16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ABE5B97-9373-6881-DC6F-09685D0EEE8A}"/>
              </a:ext>
            </a:extLst>
          </p:cNvPr>
          <p:cNvGrpSpPr/>
          <p:nvPr/>
        </p:nvGrpSpPr>
        <p:grpSpPr>
          <a:xfrm>
            <a:off x="7717660" y="1918142"/>
            <a:ext cx="3882501" cy="2121598"/>
            <a:chOff x="7903926" y="2068541"/>
            <a:chExt cx="3882501" cy="2121598"/>
          </a:xfrm>
        </p:grpSpPr>
        <p:sp>
          <p:nvSpPr>
            <p:cNvPr id="11" name="Заголовок 4">
              <a:extLst>
                <a:ext uri="{FF2B5EF4-FFF2-40B4-BE49-F238E27FC236}">
                  <a16:creationId xmlns:a16="http://schemas.microsoft.com/office/drawing/2014/main" id="{59CB9076-9725-CB47-047C-1149B46CA13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3254139"/>
              <a:ext cx="3882501" cy="9360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максимальная длина текста</a:t>
              </a:r>
            </a:p>
          </p:txBody>
        </p:sp>
        <p:sp>
          <p:nvSpPr>
            <p:cNvPr id="12" name="Заголовок 4">
              <a:extLst>
                <a:ext uri="{FF2B5EF4-FFF2-40B4-BE49-F238E27FC236}">
                  <a16:creationId xmlns:a16="http://schemas.microsoft.com/office/drawing/2014/main" id="{CEF9EA9E-E517-B006-B585-2794A351A64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64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30C6313-84A9-9BDA-6A82-1B5C8A71C7FD}"/>
              </a:ext>
            </a:extLst>
          </p:cNvPr>
          <p:cNvGrpSpPr/>
          <p:nvPr/>
        </p:nvGrpSpPr>
        <p:grpSpPr>
          <a:xfrm>
            <a:off x="7717660" y="4245685"/>
            <a:ext cx="3882501" cy="2122636"/>
            <a:chOff x="7903926" y="4245685"/>
            <a:chExt cx="3882501" cy="2122636"/>
          </a:xfrm>
        </p:grpSpPr>
        <p:sp>
          <p:nvSpPr>
            <p:cNvPr id="13" name="Заголовок 4">
              <a:extLst>
                <a:ext uri="{FF2B5EF4-FFF2-40B4-BE49-F238E27FC236}">
                  <a16:creationId xmlns:a16="http://schemas.microsoft.com/office/drawing/2014/main" id="{043CFEB6-B000-6315-E537-F4AB9DA98EB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количество кругов обучения</a:t>
              </a:r>
            </a:p>
          </p:txBody>
        </p:sp>
        <p:sp>
          <p:nvSpPr>
            <p:cNvPr id="14" name="Заголовок 4">
              <a:extLst>
                <a:ext uri="{FF2B5EF4-FFF2-40B4-BE49-F238E27FC236}">
                  <a16:creationId xmlns:a16="http://schemas.microsoft.com/office/drawing/2014/main" id="{E0ECBBBC-1B92-4D09-A3EC-5D82550450D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2984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32000">
              <a:srgbClr val="3E337F">
                <a:alpha val="60000"/>
              </a:srgbClr>
            </a:gs>
            <a:gs pos="45000">
              <a:srgbClr val="3E337F">
                <a:alpha val="50000"/>
              </a:srgbClr>
            </a:gs>
            <a:gs pos="100000">
              <a:srgbClr val="3E337F">
                <a:alpha val="4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25336-75C4-4B8C-ED2F-A5DD027AA1B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39C8C8A-617D-1E47-8F6C-79B57C9B45A5}"/>
              </a:ext>
            </a:extLst>
          </p:cNvPr>
          <p:cNvGrpSpPr/>
          <p:nvPr/>
        </p:nvGrpSpPr>
        <p:grpSpPr>
          <a:xfrm>
            <a:off x="3311862" y="399485"/>
            <a:ext cx="3330734" cy="2660605"/>
            <a:chOff x="3311862" y="399485"/>
            <a:chExt cx="3330734" cy="2660605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42AA8F60-E122-ADE9-7E23-3F5E2F687EB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2652676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Precision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C46827E-0D22-1198-9E94-64C24BFC7F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99485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87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0FFD148-5134-2393-7285-C75A4CA43744}"/>
              </a:ext>
            </a:extLst>
          </p:cNvPr>
          <p:cNvGrpSpPr/>
          <p:nvPr/>
        </p:nvGrpSpPr>
        <p:grpSpPr>
          <a:xfrm>
            <a:off x="8296513" y="2052130"/>
            <a:ext cx="2774171" cy="2660606"/>
            <a:chOff x="8296513" y="2160291"/>
            <a:chExt cx="2774171" cy="2660606"/>
          </a:xfrm>
        </p:grpSpPr>
        <p:sp>
          <p:nvSpPr>
            <p:cNvPr id="16" name="Заголовок 4">
              <a:extLst>
                <a:ext uri="{FF2B5EF4-FFF2-40B4-BE49-F238E27FC236}">
                  <a16:creationId xmlns:a16="http://schemas.microsoft.com/office/drawing/2014/main" id="{A1D23A6C-2D37-F586-D4F6-F0206B5FF99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96513" y="4413482"/>
              <a:ext cx="2774171" cy="40741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F1-score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9B6C0373-B61A-7E4F-5326-76B0F6B9C3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675598" y="2160291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83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F761C00-5A5E-156F-33B1-FB91D93126B1}"/>
              </a:ext>
            </a:extLst>
          </p:cNvPr>
          <p:cNvGrpSpPr/>
          <p:nvPr/>
        </p:nvGrpSpPr>
        <p:grpSpPr>
          <a:xfrm>
            <a:off x="3311862" y="3704776"/>
            <a:ext cx="3330734" cy="2643543"/>
            <a:chOff x="3311862" y="3704776"/>
            <a:chExt cx="3330734" cy="2643543"/>
          </a:xfrm>
        </p:grpSpPr>
        <p:sp>
          <p:nvSpPr>
            <p:cNvPr id="21" name="Заголовок 4">
              <a:extLst>
                <a:ext uri="{FF2B5EF4-FFF2-40B4-BE49-F238E27FC236}">
                  <a16:creationId xmlns:a16="http://schemas.microsoft.com/office/drawing/2014/main" id="{347F065D-7B78-7F1C-7080-19E2F574302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5940905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Recall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0F9C6C27-10BB-B9B2-2B46-027893A3347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704776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79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95A5E819-A5C2-3415-D8C6-B1AF5A05B66C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1</a:t>
            </a:r>
          </a:p>
        </p:txBody>
      </p:sp>
    </p:spTree>
    <p:extLst>
      <p:ext uri="{BB962C8B-B14F-4D97-AF65-F5344CB8AC3E}">
        <p14:creationId xmlns:p14="http://schemas.microsoft.com/office/powerpoint/2010/main" val="518192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BDF711">
                <a:alpha val="30000"/>
              </a:srgbClr>
            </a:gs>
            <a:gs pos="21000">
              <a:srgbClr val="BDF711">
                <a:alpha val="40000"/>
              </a:srgbClr>
            </a:gs>
            <a:gs pos="49000">
              <a:srgbClr val="BDF711">
                <a:alpha val="50000"/>
              </a:srgbClr>
            </a:gs>
            <a:gs pos="99000">
              <a:srgbClr val="BDF711">
                <a:alpha val="6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04D12-4A9E-63D6-0A13-3DEF0D65821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1321BFB-B96A-1E9D-E49C-9519C35DF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3E337F"/>
                </a:solidFill>
                <a:latin typeface="Century Gothic" panose="020B0502020202020204" pitchFamily="34" charset="0"/>
              </a:rPr>
              <a:t>МОДЕЛЬ 1</a:t>
            </a:r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4E5449B8-E996-FE74-C3AB-A9AD090E7678}"/>
              </a:ext>
            </a:extLst>
          </p:cNvPr>
          <p:cNvSpPr txBox="1">
            <a:spLocks/>
          </p:cNvSpPr>
          <p:nvPr/>
        </p:nvSpPr>
        <p:spPr bwMode="auto">
          <a:xfrm>
            <a:off x="4061706" y="495050"/>
            <a:ext cx="2269668" cy="528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Loss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8546462D-038B-DB7F-658F-8D5F2F2D4011}"/>
              </a:ext>
            </a:extLst>
          </p:cNvPr>
          <p:cNvSpPr txBox="1">
            <a:spLocks/>
          </p:cNvSpPr>
          <p:nvPr/>
        </p:nvSpPr>
        <p:spPr bwMode="auto">
          <a:xfrm>
            <a:off x="3280414" y="147830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Train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B9136FF1-D976-6EBA-12A7-1C21A0325F6B}"/>
              </a:ext>
            </a:extLst>
          </p:cNvPr>
          <p:cNvSpPr txBox="1">
            <a:spLocks/>
          </p:cNvSpPr>
          <p:nvPr/>
        </p:nvSpPr>
        <p:spPr bwMode="auto">
          <a:xfrm>
            <a:off x="8541088" y="495050"/>
            <a:ext cx="2269668" cy="528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Accuracy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646120E-CAF6-9728-F134-D69D9390FDA8}"/>
              </a:ext>
            </a:extLst>
          </p:cNvPr>
          <p:cNvCxnSpPr>
            <a:cxnSpLocks/>
          </p:cNvCxnSpPr>
          <p:nvPr/>
        </p:nvCxnSpPr>
        <p:spPr>
          <a:xfrm flipH="1">
            <a:off x="1629547" y="4358705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BE7CB59-FBBE-F2BC-0056-62392275A6EE}"/>
              </a:ext>
            </a:extLst>
          </p:cNvPr>
          <p:cNvCxnSpPr>
            <a:cxnSpLocks/>
          </p:cNvCxnSpPr>
          <p:nvPr/>
        </p:nvCxnSpPr>
        <p:spPr>
          <a:xfrm flipH="1">
            <a:off x="1619963" y="6463190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9A8615CF-A672-4B37-2AF1-B142A06999C8}"/>
              </a:ext>
            </a:extLst>
          </p:cNvPr>
          <p:cNvSpPr txBox="1">
            <a:spLocks/>
          </p:cNvSpPr>
          <p:nvPr/>
        </p:nvSpPr>
        <p:spPr bwMode="auto">
          <a:xfrm>
            <a:off x="2021503" y="2835957"/>
            <a:ext cx="720000" cy="9410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b="1" dirty="0">
                <a:solidFill>
                  <a:srgbClr val="3E337F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D529AC3E-AD98-1503-DCBF-F2E3A4FD733C}"/>
              </a:ext>
            </a:extLst>
          </p:cNvPr>
          <p:cNvSpPr txBox="1">
            <a:spLocks/>
          </p:cNvSpPr>
          <p:nvPr/>
        </p:nvSpPr>
        <p:spPr bwMode="auto">
          <a:xfrm>
            <a:off x="2021502" y="4940445"/>
            <a:ext cx="720000" cy="9410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b="1" dirty="0">
                <a:solidFill>
                  <a:srgbClr val="3E337F"/>
                </a:solidFill>
                <a:latin typeface="Century Gothic" panose="020B0502020202020204" pitchFamily="34" charset="0"/>
              </a:rPr>
              <a:t>2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D15AF67-934E-53C9-77A2-9D6895A0CC7C}"/>
              </a:ext>
            </a:extLst>
          </p:cNvPr>
          <p:cNvCxnSpPr>
            <a:cxnSpLocks/>
          </p:cNvCxnSpPr>
          <p:nvPr/>
        </p:nvCxnSpPr>
        <p:spPr>
          <a:xfrm flipH="1">
            <a:off x="1627253" y="2254217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60DD4F4-ED01-9F98-D61B-94AA7ECE8D9F}"/>
              </a:ext>
            </a:extLst>
          </p:cNvPr>
          <p:cNvCxnSpPr>
            <a:cxnSpLocks/>
          </p:cNvCxnSpPr>
          <p:nvPr/>
        </p:nvCxnSpPr>
        <p:spPr>
          <a:xfrm flipH="1">
            <a:off x="1629547" y="328246"/>
            <a:ext cx="102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09553B3C-D1EA-F254-058A-43234FF7A2DA}"/>
              </a:ext>
            </a:extLst>
          </p:cNvPr>
          <p:cNvCxnSpPr>
            <a:cxnSpLocks/>
          </p:cNvCxnSpPr>
          <p:nvPr/>
        </p:nvCxnSpPr>
        <p:spPr>
          <a:xfrm flipV="1">
            <a:off x="1629547" y="327101"/>
            <a:ext cx="0" cy="61360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88269F18-2389-63A7-D184-B1BC256D04F3}"/>
              </a:ext>
            </a:extLst>
          </p:cNvPr>
          <p:cNvCxnSpPr>
            <a:cxnSpLocks/>
          </p:cNvCxnSpPr>
          <p:nvPr/>
        </p:nvCxnSpPr>
        <p:spPr>
          <a:xfrm flipV="1">
            <a:off x="11889547" y="328245"/>
            <a:ext cx="0" cy="613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Заголовок 4">
            <a:extLst>
              <a:ext uri="{FF2B5EF4-FFF2-40B4-BE49-F238E27FC236}">
                <a16:creationId xmlns:a16="http://schemas.microsoft.com/office/drawing/2014/main" id="{F6E2B626-B359-DCEC-37CE-D9AD59BBF5BB}"/>
              </a:ext>
            </a:extLst>
          </p:cNvPr>
          <p:cNvSpPr txBox="1">
            <a:spLocks/>
          </p:cNvSpPr>
          <p:nvPr/>
        </p:nvSpPr>
        <p:spPr bwMode="auto">
          <a:xfrm>
            <a:off x="5634830" y="147830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Val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45" name="Заголовок 4">
            <a:extLst>
              <a:ext uri="{FF2B5EF4-FFF2-40B4-BE49-F238E27FC236}">
                <a16:creationId xmlns:a16="http://schemas.microsoft.com/office/drawing/2014/main" id="{6010725B-9BF9-A3DD-83BF-9BD8364CEB08}"/>
              </a:ext>
            </a:extLst>
          </p:cNvPr>
          <p:cNvSpPr txBox="1">
            <a:spLocks/>
          </p:cNvSpPr>
          <p:nvPr/>
        </p:nvSpPr>
        <p:spPr bwMode="auto">
          <a:xfrm>
            <a:off x="7759796" y="147830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Train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46" name="Заголовок 4">
            <a:extLst>
              <a:ext uri="{FF2B5EF4-FFF2-40B4-BE49-F238E27FC236}">
                <a16:creationId xmlns:a16="http://schemas.microsoft.com/office/drawing/2014/main" id="{DC889E16-BE47-0A3B-A95A-C8BF73E288C0}"/>
              </a:ext>
            </a:extLst>
          </p:cNvPr>
          <p:cNvSpPr txBox="1">
            <a:spLocks/>
          </p:cNvSpPr>
          <p:nvPr/>
        </p:nvSpPr>
        <p:spPr bwMode="auto">
          <a:xfrm>
            <a:off x="10114212" y="147830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Val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F0CBA24-DE66-9C24-1DF8-E7EE1ACC9EE1}"/>
              </a:ext>
            </a:extLst>
          </p:cNvPr>
          <p:cNvCxnSpPr>
            <a:cxnSpLocks/>
          </p:cNvCxnSpPr>
          <p:nvPr/>
        </p:nvCxnSpPr>
        <p:spPr>
          <a:xfrm flipV="1">
            <a:off x="7436231" y="327101"/>
            <a:ext cx="0" cy="61360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Заголовок 4">
            <a:extLst>
              <a:ext uri="{FF2B5EF4-FFF2-40B4-BE49-F238E27FC236}">
                <a16:creationId xmlns:a16="http://schemas.microsoft.com/office/drawing/2014/main" id="{97C83CCC-EAE9-38C1-86F4-78EB90889C66}"/>
              </a:ext>
            </a:extLst>
          </p:cNvPr>
          <p:cNvSpPr txBox="1">
            <a:spLocks/>
          </p:cNvSpPr>
          <p:nvPr/>
        </p:nvSpPr>
        <p:spPr bwMode="auto">
          <a:xfrm>
            <a:off x="1586097" y="984975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E337F"/>
                </a:solidFill>
                <a:latin typeface="Century Gothic" panose="020B0502020202020204" pitchFamily="34" charset="0"/>
              </a:rPr>
              <a:t>Epoch</a:t>
            </a:r>
            <a:endParaRPr lang="ru-RU" sz="20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B464701D-6733-E3A3-E822-EED87EDBC16A}"/>
              </a:ext>
            </a:extLst>
          </p:cNvPr>
          <p:cNvCxnSpPr>
            <a:cxnSpLocks/>
          </p:cNvCxnSpPr>
          <p:nvPr/>
        </p:nvCxnSpPr>
        <p:spPr>
          <a:xfrm flipV="1">
            <a:off x="3060285" y="327101"/>
            <a:ext cx="0" cy="61360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Заголовок 4">
            <a:extLst>
              <a:ext uri="{FF2B5EF4-FFF2-40B4-BE49-F238E27FC236}">
                <a16:creationId xmlns:a16="http://schemas.microsoft.com/office/drawing/2014/main" id="{963F352D-1CDC-8767-88C5-6F0E2F83BCCE}"/>
              </a:ext>
            </a:extLst>
          </p:cNvPr>
          <p:cNvSpPr txBox="1">
            <a:spLocks/>
          </p:cNvSpPr>
          <p:nvPr/>
        </p:nvSpPr>
        <p:spPr bwMode="auto">
          <a:xfrm>
            <a:off x="3259839" y="3042161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0.44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Заголовок 4">
            <a:extLst>
              <a:ext uri="{FF2B5EF4-FFF2-40B4-BE49-F238E27FC236}">
                <a16:creationId xmlns:a16="http://schemas.microsoft.com/office/drawing/2014/main" id="{4651EB97-C59E-9990-A024-45F57CB40F03}"/>
              </a:ext>
            </a:extLst>
          </p:cNvPr>
          <p:cNvSpPr txBox="1">
            <a:spLocks/>
          </p:cNvSpPr>
          <p:nvPr/>
        </p:nvSpPr>
        <p:spPr bwMode="auto">
          <a:xfrm>
            <a:off x="5634830" y="3042161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0.35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0" name="Заголовок 4">
            <a:extLst>
              <a:ext uri="{FF2B5EF4-FFF2-40B4-BE49-F238E27FC236}">
                <a16:creationId xmlns:a16="http://schemas.microsoft.com/office/drawing/2014/main" id="{55A87C1F-0ADA-97BF-229F-D68250BE3ED6}"/>
              </a:ext>
            </a:extLst>
          </p:cNvPr>
          <p:cNvSpPr txBox="1">
            <a:spLocks/>
          </p:cNvSpPr>
          <p:nvPr/>
        </p:nvSpPr>
        <p:spPr bwMode="auto">
          <a:xfrm>
            <a:off x="3259839" y="514664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0.27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1" name="Заголовок 4">
            <a:extLst>
              <a:ext uri="{FF2B5EF4-FFF2-40B4-BE49-F238E27FC236}">
                <a16:creationId xmlns:a16="http://schemas.microsoft.com/office/drawing/2014/main" id="{73225E04-8F19-11CD-C22A-E5ABB06FA0E9}"/>
              </a:ext>
            </a:extLst>
          </p:cNvPr>
          <p:cNvSpPr txBox="1">
            <a:spLocks/>
          </p:cNvSpPr>
          <p:nvPr/>
        </p:nvSpPr>
        <p:spPr bwMode="auto">
          <a:xfrm>
            <a:off x="5634830" y="514664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0.38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2" name="Заголовок 4">
            <a:extLst>
              <a:ext uri="{FF2B5EF4-FFF2-40B4-BE49-F238E27FC236}">
                <a16:creationId xmlns:a16="http://schemas.microsoft.com/office/drawing/2014/main" id="{E3D926A8-61DD-CD2C-14BB-3B65E5C37E63}"/>
              </a:ext>
            </a:extLst>
          </p:cNvPr>
          <p:cNvSpPr txBox="1">
            <a:spLocks/>
          </p:cNvSpPr>
          <p:nvPr/>
        </p:nvSpPr>
        <p:spPr bwMode="auto">
          <a:xfrm>
            <a:off x="7759796" y="3042161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0.79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3" name="Заголовок 4">
            <a:extLst>
              <a:ext uri="{FF2B5EF4-FFF2-40B4-BE49-F238E27FC236}">
                <a16:creationId xmlns:a16="http://schemas.microsoft.com/office/drawing/2014/main" id="{35F47BCB-A1C8-E887-49F8-FD48762204B4}"/>
              </a:ext>
            </a:extLst>
          </p:cNvPr>
          <p:cNvSpPr txBox="1">
            <a:spLocks/>
          </p:cNvSpPr>
          <p:nvPr/>
        </p:nvSpPr>
        <p:spPr bwMode="auto">
          <a:xfrm>
            <a:off x="10134787" y="3042161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0.84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4" name="Заголовок 4">
            <a:extLst>
              <a:ext uri="{FF2B5EF4-FFF2-40B4-BE49-F238E27FC236}">
                <a16:creationId xmlns:a16="http://schemas.microsoft.com/office/drawing/2014/main" id="{DDAB161C-28D5-B7A9-EB63-0AF2D73E64AB}"/>
              </a:ext>
            </a:extLst>
          </p:cNvPr>
          <p:cNvSpPr txBox="1">
            <a:spLocks/>
          </p:cNvSpPr>
          <p:nvPr/>
        </p:nvSpPr>
        <p:spPr bwMode="auto">
          <a:xfrm>
            <a:off x="7759796" y="514664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0.89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sp>
        <p:nvSpPr>
          <p:cNvPr id="65" name="Заголовок 4">
            <a:extLst>
              <a:ext uri="{FF2B5EF4-FFF2-40B4-BE49-F238E27FC236}">
                <a16:creationId xmlns:a16="http://schemas.microsoft.com/office/drawing/2014/main" id="{99F3A6CA-AFA3-FBF9-9247-CBA0A263FDB1}"/>
              </a:ext>
            </a:extLst>
          </p:cNvPr>
          <p:cNvSpPr txBox="1">
            <a:spLocks/>
          </p:cNvSpPr>
          <p:nvPr/>
        </p:nvSpPr>
        <p:spPr bwMode="auto">
          <a:xfrm>
            <a:off x="10134787" y="5146649"/>
            <a:ext cx="1477836" cy="528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E337F"/>
                </a:solidFill>
                <a:latin typeface="Century Gothic" panose="020B0502020202020204" pitchFamily="34" charset="0"/>
              </a:rPr>
              <a:t>0.83</a:t>
            </a:r>
            <a:endParaRPr lang="ru-RU" sz="2400" dirty="0">
              <a:solidFill>
                <a:srgbClr val="3E337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B656C3F3-9848-6C00-9EA8-0D39EEB71F89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 flipH="1">
            <a:off x="4019332" y="1023643"/>
            <a:ext cx="1177208" cy="454666"/>
          </a:xfrm>
          <a:prstGeom prst="straightConnector1">
            <a:avLst/>
          </a:prstGeom>
          <a:ln w="9525">
            <a:solidFill>
              <a:srgbClr val="3E33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2903D00D-DF1C-D9B5-1EDB-75B810030F22}"/>
              </a:ext>
            </a:extLst>
          </p:cNvPr>
          <p:cNvCxnSpPr>
            <a:cxnSpLocks/>
            <a:stCxn id="10" idx="2"/>
            <a:endCxn id="44" idx="0"/>
          </p:cNvCxnSpPr>
          <p:nvPr/>
        </p:nvCxnSpPr>
        <p:spPr>
          <a:xfrm>
            <a:off x="5196540" y="1023643"/>
            <a:ext cx="1177208" cy="454666"/>
          </a:xfrm>
          <a:prstGeom prst="straightConnector1">
            <a:avLst/>
          </a:prstGeom>
          <a:ln w="9525">
            <a:solidFill>
              <a:srgbClr val="3E33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A3723118-FD54-6A98-1D81-79DA98FDC002}"/>
              </a:ext>
            </a:extLst>
          </p:cNvPr>
          <p:cNvCxnSpPr>
            <a:cxnSpLocks/>
            <a:stCxn id="4" idx="2"/>
            <a:endCxn id="45" idx="0"/>
          </p:cNvCxnSpPr>
          <p:nvPr/>
        </p:nvCxnSpPr>
        <p:spPr>
          <a:xfrm flipH="1">
            <a:off x="8498714" y="1023643"/>
            <a:ext cx="1177208" cy="454666"/>
          </a:xfrm>
          <a:prstGeom prst="straightConnector1">
            <a:avLst/>
          </a:prstGeom>
          <a:ln w="9525">
            <a:solidFill>
              <a:srgbClr val="3E33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B0EA19AE-0B41-CED9-D8C2-E6BEF2EAA1C9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>
            <a:off x="9675922" y="1023643"/>
            <a:ext cx="1177208" cy="454666"/>
          </a:xfrm>
          <a:prstGeom prst="straightConnector1">
            <a:avLst/>
          </a:prstGeom>
          <a:ln w="9525">
            <a:solidFill>
              <a:srgbClr val="3E33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12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19000">
              <a:srgbClr val="3E337F">
                <a:alpha val="60000"/>
              </a:srgbClr>
            </a:gs>
            <a:gs pos="49000">
              <a:srgbClr val="3E337F">
                <a:alpha val="50000"/>
              </a:srgbClr>
            </a:gs>
            <a:gs pos="100000">
              <a:srgbClr val="3E337F">
                <a:alpha val="40000"/>
              </a:srgbClr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7CE58-8170-1E0E-5BA6-B56EB81B386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C570210-783E-6333-FF5C-521C920C4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</a:t>
            </a:r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2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9DA9891-656C-94CE-3931-A9773348A82C}"/>
              </a:ext>
            </a:extLst>
          </p:cNvPr>
          <p:cNvGrpSpPr/>
          <p:nvPr/>
        </p:nvGrpSpPr>
        <p:grpSpPr>
          <a:xfrm>
            <a:off x="1988125" y="16479"/>
            <a:ext cx="3882501" cy="1699308"/>
            <a:chOff x="3054918" y="16479"/>
            <a:chExt cx="3882501" cy="1699308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BC8EB0E9-1157-5C7A-FD04-BAE03BD025F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182997"/>
              <a:ext cx="3882501" cy="53279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доля </a:t>
              </a:r>
              <a:r>
                <a:rPr lang="ru-RU" sz="2800" dirty="0" err="1">
                  <a:latin typeface="Century Gothic" panose="020B0502020202020204" pitchFamily="34" charset="0"/>
                </a:rPr>
                <a:t>подвыборки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3" name="Заголовок 4">
              <a:extLst>
                <a:ext uri="{FF2B5EF4-FFF2-40B4-BE49-F238E27FC236}">
                  <a16:creationId xmlns:a16="http://schemas.microsoft.com/office/drawing/2014/main" id="{EF85F2E6-0E0A-B530-4A9B-CE8A55A05BF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30%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1418CB9-FE73-0D16-4D24-88ED3DC2CBCC}"/>
              </a:ext>
            </a:extLst>
          </p:cNvPr>
          <p:cNvGrpSpPr/>
          <p:nvPr/>
        </p:nvGrpSpPr>
        <p:grpSpPr>
          <a:xfrm>
            <a:off x="1988125" y="1919418"/>
            <a:ext cx="3882501" cy="2122636"/>
            <a:chOff x="3054918" y="2068541"/>
            <a:chExt cx="3882501" cy="2122636"/>
          </a:xfrm>
        </p:grpSpPr>
        <p:sp>
          <p:nvSpPr>
            <p:cNvPr id="4" name="Заголовок 4">
              <a:extLst>
                <a:ext uri="{FF2B5EF4-FFF2-40B4-BE49-F238E27FC236}">
                  <a16:creationId xmlns:a16="http://schemas.microsoft.com/office/drawing/2014/main" id="{C330A33B-E9A1-A3E7-EBD2-6AECFCA076D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3254139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обучающей выборки</a:t>
              </a:r>
            </a:p>
          </p:txBody>
        </p:sp>
        <p:sp>
          <p:nvSpPr>
            <p:cNvPr id="6" name="Заголовок 4">
              <a:extLst>
                <a:ext uri="{FF2B5EF4-FFF2-40B4-BE49-F238E27FC236}">
                  <a16:creationId xmlns:a16="http://schemas.microsoft.com/office/drawing/2014/main" id="{DA451BD0-5BB9-0ABA-1ADD-7D1797D5EB1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120</a:t>
              </a: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9BA54F2-1F51-76B7-D284-FD62E3A1767C}"/>
              </a:ext>
            </a:extLst>
          </p:cNvPr>
          <p:cNvGrpSpPr/>
          <p:nvPr/>
        </p:nvGrpSpPr>
        <p:grpSpPr>
          <a:xfrm>
            <a:off x="1988125" y="4245685"/>
            <a:ext cx="3882501" cy="2122636"/>
            <a:chOff x="3054918" y="4245685"/>
            <a:chExt cx="3882501" cy="2122636"/>
          </a:xfrm>
        </p:grpSpPr>
        <p:sp>
          <p:nvSpPr>
            <p:cNvPr id="7" name="Заголовок 4">
              <a:extLst>
                <a:ext uri="{FF2B5EF4-FFF2-40B4-BE49-F238E27FC236}">
                  <a16:creationId xmlns:a16="http://schemas.microsoft.com/office/drawing/2014/main" id="{2BD22841-5893-2495-B737-2D80534EA9F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тестовой выборки</a:t>
              </a:r>
            </a:p>
          </p:txBody>
        </p:sp>
        <p:sp>
          <p:nvSpPr>
            <p:cNvPr id="8" name="Заголовок 4">
              <a:extLst>
                <a:ext uri="{FF2B5EF4-FFF2-40B4-BE49-F238E27FC236}">
                  <a16:creationId xmlns:a16="http://schemas.microsoft.com/office/drawing/2014/main" id="{64879CB8-0F36-A312-C443-FBFC5154B26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30</a:t>
              </a: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2F8302E-FD02-FEE8-BFEC-83C2AD9410EF}"/>
              </a:ext>
            </a:extLst>
          </p:cNvPr>
          <p:cNvGrpSpPr/>
          <p:nvPr/>
        </p:nvGrpSpPr>
        <p:grpSpPr>
          <a:xfrm>
            <a:off x="7717659" y="16479"/>
            <a:ext cx="3882501" cy="1695718"/>
            <a:chOff x="7903925" y="16479"/>
            <a:chExt cx="3882501" cy="1695718"/>
          </a:xfrm>
        </p:grpSpPr>
        <p:sp>
          <p:nvSpPr>
            <p:cNvPr id="9" name="Заголовок 4">
              <a:extLst>
                <a:ext uri="{FF2B5EF4-FFF2-40B4-BE49-F238E27FC236}">
                  <a16:creationId xmlns:a16="http://schemas.microsoft.com/office/drawing/2014/main" id="{FE9313D2-F0FA-D855-0E87-47930500E59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5" y="1182997"/>
              <a:ext cx="3882501" cy="5292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пакета</a:t>
              </a:r>
            </a:p>
          </p:txBody>
        </p:sp>
        <p:sp>
          <p:nvSpPr>
            <p:cNvPr id="10" name="Заголовок 4">
              <a:extLst>
                <a:ext uri="{FF2B5EF4-FFF2-40B4-BE49-F238E27FC236}">
                  <a16:creationId xmlns:a16="http://schemas.microsoft.com/office/drawing/2014/main" id="{AFB30C32-08E6-12EF-7415-54E4BE148AA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16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BEA8F2E-E3A6-D53B-4C35-A27B89676E58}"/>
              </a:ext>
            </a:extLst>
          </p:cNvPr>
          <p:cNvGrpSpPr/>
          <p:nvPr/>
        </p:nvGrpSpPr>
        <p:grpSpPr>
          <a:xfrm>
            <a:off x="7717660" y="1918142"/>
            <a:ext cx="3882501" cy="2121598"/>
            <a:chOff x="7903926" y="2068541"/>
            <a:chExt cx="3882501" cy="2121598"/>
          </a:xfrm>
        </p:grpSpPr>
        <p:sp>
          <p:nvSpPr>
            <p:cNvPr id="11" name="Заголовок 4">
              <a:extLst>
                <a:ext uri="{FF2B5EF4-FFF2-40B4-BE49-F238E27FC236}">
                  <a16:creationId xmlns:a16="http://schemas.microsoft.com/office/drawing/2014/main" id="{CD589C22-A80A-FFD6-9C99-12DE37D3066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3254139"/>
              <a:ext cx="3882501" cy="9360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максимальная длина текста</a:t>
              </a:r>
            </a:p>
          </p:txBody>
        </p:sp>
        <p:sp>
          <p:nvSpPr>
            <p:cNvPr id="12" name="Заголовок 4">
              <a:extLst>
                <a:ext uri="{FF2B5EF4-FFF2-40B4-BE49-F238E27FC236}">
                  <a16:creationId xmlns:a16="http://schemas.microsoft.com/office/drawing/2014/main" id="{45E53E4B-7D00-3B1C-6FDE-BEFC5AA0D6E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64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6331278-05C7-CBB6-8BB9-CD4DE221D398}"/>
              </a:ext>
            </a:extLst>
          </p:cNvPr>
          <p:cNvGrpSpPr/>
          <p:nvPr/>
        </p:nvGrpSpPr>
        <p:grpSpPr>
          <a:xfrm>
            <a:off x="7717660" y="4245685"/>
            <a:ext cx="3882501" cy="2122636"/>
            <a:chOff x="7903926" y="4245685"/>
            <a:chExt cx="3882501" cy="2122636"/>
          </a:xfrm>
        </p:grpSpPr>
        <p:sp>
          <p:nvSpPr>
            <p:cNvPr id="13" name="Заголовок 4">
              <a:extLst>
                <a:ext uri="{FF2B5EF4-FFF2-40B4-BE49-F238E27FC236}">
                  <a16:creationId xmlns:a16="http://schemas.microsoft.com/office/drawing/2014/main" id="{29ACA617-4D10-1E56-FE39-5E193F47316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количество кругов обучения</a:t>
              </a:r>
            </a:p>
          </p:txBody>
        </p:sp>
        <p:sp>
          <p:nvSpPr>
            <p:cNvPr id="14" name="Заголовок 4">
              <a:extLst>
                <a:ext uri="{FF2B5EF4-FFF2-40B4-BE49-F238E27FC236}">
                  <a16:creationId xmlns:a16="http://schemas.microsoft.com/office/drawing/2014/main" id="{DD3569CF-FEF4-B49D-BA82-C569448B178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</a:t>
              </a:r>
              <a:endParaRPr lang="ru-RU" sz="4800" b="1" spc="300" dirty="0">
                <a:solidFill>
                  <a:srgbClr val="BDF711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8793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21000">
              <a:srgbClr val="3E337F">
                <a:alpha val="60000"/>
              </a:srgbClr>
            </a:gs>
            <a:gs pos="64000">
              <a:srgbClr val="3E337F">
                <a:alpha val="40000"/>
              </a:srgbClr>
            </a:gs>
            <a:gs pos="100000">
              <a:srgbClr val="3E337F">
                <a:alpha val="3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FEC49-DBA7-47B8-8C60-0BE374BB102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1C99860-03BF-558A-4893-FDEB6D93C23B}"/>
              </a:ext>
            </a:extLst>
          </p:cNvPr>
          <p:cNvGrpSpPr/>
          <p:nvPr/>
        </p:nvGrpSpPr>
        <p:grpSpPr>
          <a:xfrm>
            <a:off x="3311862" y="399485"/>
            <a:ext cx="3330734" cy="2660605"/>
            <a:chOff x="3311862" y="399485"/>
            <a:chExt cx="3330734" cy="2660605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F5A93ADF-B71E-F8BB-6673-57883DDAD2C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2652676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Precision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0DFDC6A7-BFAD-34FB-41C2-5CA51202A0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99485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75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860B4A5-7F16-3868-755D-A1F5DC2F85B2}"/>
              </a:ext>
            </a:extLst>
          </p:cNvPr>
          <p:cNvGrpSpPr/>
          <p:nvPr/>
        </p:nvGrpSpPr>
        <p:grpSpPr>
          <a:xfrm>
            <a:off x="8296513" y="2052130"/>
            <a:ext cx="2774171" cy="2660606"/>
            <a:chOff x="8296513" y="2160291"/>
            <a:chExt cx="2774171" cy="2660606"/>
          </a:xfrm>
        </p:grpSpPr>
        <p:sp>
          <p:nvSpPr>
            <p:cNvPr id="16" name="Заголовок 4">
              <a:extLst>
                <a:ext uri="{FF2B5EF4-FFF2-40B4-BE49-F238E27FC236}">
                  <a16:creationId xmlns:a16="http://schemas.microsoft.com/office/drawing/2014/main" id="{C0A8C94A-40EC-32E1-6A7E-72C83222777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96513" y="4413482"/>
              <a:ext cx="2774171" cy="40741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F1-score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32FF40BC-56EB-C0E3-B250-427AF6C72E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675598" y="2160291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83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BF8F928-6A6B-1D73-6C2D-FD9720E93D45}"/>
              </a:ext>
            </a:extLst>
          </p:cNvPr>
          <p:cNvGrpSpPr/>
          <p:nvPr/>
        </p:nvGrpSpPr>
        <p:grpSpPr>
          <a:xfrm>
            <a:off x="3311862" y="3704776"/>
            <a:ext cx="3330734" cy="2643543"/>
            <a:chOff x="3311862" y="3704776"/>
            <a:chExt cx="3330734" cy="2643543"/>
          </a:xfrm>
        </p:grpSpPr>
        <p:sp>
          <p:nvSpPr>
            <p:cNvPr id="21" name="Заголовок 4">
              <a:extLst>
                <a:ext uri="{FF2B5EF4-FFF2-40B4-BE49-F238E27FC236}">
                  <a16:creationId xmlns:a16="http://schemas.microsoft.com/office/drawing/2014/main" id="{1132BE26-194D-7993-E57B-E2BAF70CF40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5940905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Recall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2C8422C7-8322-AA3D-7791-76691A2711A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704776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94</a:t>
              </a:r>
              <a:endParaRPr lang="ru-RU" sz="28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0F184A68-F3AA-ED4D-C633-F50C641E5D1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</a:t>
            </a:r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2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782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75000"/>
              </a:srgbClr>
            </a:gs>
            <a:gs pos="21000">
              <a:srgbClr val="3E337F">
                <a:alpha val="45000"/>
              </a:srgbClr>
            </a:gs>
            <a:gs pos="45000">
              <a:srgbClr val="3E337F">
                <a:alpha val="40000"/>
              </a:srgbClr>
            </a:gs>
            <a:gs pos="100000">
              <a:srgbClr val="3E337F">
                <a:alpha val="35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BC360-A534-1E0D-31DF-0DA4A7BA20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31CD137-F442-B12C-E65A-CAFCA8DF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</a:t>
            </a:r>
            <a:r>
              <a:rPr lang="en-US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3</a:t>
            </a:r>
            <a:endParaRPr lang="ru-RU" sz="7200" b="1" spc="300" dirty="0">
              <a:solidFill>
                <a:srgbClr val="BDF71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A8C45F8-909C-3D51-F2D4-A7B79CE165A9}"/>
              </a:ext>
            </a:extLst>
          </p:cNvPr>
          <p:cNvGrpSpPr/>
          <p:nvPr/>
        </p:nvGrpSpPr>
        <p:grpSpPr>
          <a:xfrm>
            <a:off x="1988125" y="16479"/>
            <a:ext cx="3882501" cy="1699308"/>
            <a:chOff x="3054918" y="16479"/>
            <a:chExt cx="3882501" cy="1699308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BC8E7B49-4E4F-E6E6-A90E-6F15DA2C353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182997"/>
              <a:ext cx="3882501" cy="53279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доля </a:t>
              </a:r>
              <a:r>
                <a:rPr lang="ru-RU" sz="2800" dirty="0" err="1">
                  <a:latin typeface="Century Gothic" panose="020B0502020202020204" pitchFamily="34" charset="0"/>
                </a:rPr>
                <a:t>подвыборки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3" name="Заголовок 4">
              <a:extLst>
                <a:ext uri="{FF2B5EF4-FFF2-40B4-BE49-F238E27FC236}">
                  <a16:creationId xmlns:a16="http://schemas.microsoft.com/office/drawing/2014/main" id="{DBE8EB6F-27C3-D1C6-D83E-8BE54197911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5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0%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FC68A4B-9854-EC4F-F3DB-D86976B4704A}"/>
              </a:ext>
            </a:extLst>
          </p:cNvPr>
          <p:cNvGrpSpPr/>
          <p:nvPr/>
        </p:nvGrpSpPr>
        <p:grpSpPr>
          <a:xfrm>
            <a:off x="1988125" y="1919418"/>
            <a:ext cx="3882501" cy="2122636"/>
            <a:chOff x="3054918" y="2068541"/>
            <a:chExt cx="3882501" cy="2122636"/>
          </a:xfrm>
        </p:grpSpPr>
        <p:sp>
          <p:nvSpPr>
            <p:cNvPr id="4" name="Заголовок 4">
              <a:extLst>
                <a:ext uri="{FF2B5EF4-FFF2-40B4-BE49-F238E27FC236}">
                  <a16:creationId xmlns:a16="http://schemas.microsoft.com/office/drawing/2014/main" id="{8A8757B7-3FAD-A36E-AF1C-678C965FCB3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3254139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обучающей выборки</a:t>
              </a:r>
            </a:p>
          </p:txBody>
        </p:sp>
        <p:sp>
          <p:nvSpPr>
            <p:cNvPr id="6" name="Заголовок 4">
              <a:extLst>
                <a:ext uri="{FF2B5EF4-FFF2-40B4-BE49-F238E27FC236}">
                  <a16:creationId xmlns:a16="http://schemas.microsoft.com/office/drawing/2014/main" id="{7D630B75-9004-F276-1F0D-231D4491B0F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2</a:t>
              </a: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00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DD5FEA8-465B-627E-FC7D-EA18077550DE}"/>
              </a:ext>
            </a:extLst>
          </p:cNvPr>
          <p:cNvGrpSpPr/>
          <p:nvPr/>
        </p:nvGrpSpPr>
        <p:grpSpPr>
          <a:xfrm>
            <a:off x="1988125" y="4245685"/>
            <a:ext cx="3882501" cy="2122636"/>
            <a:chOff x="3054918" y="4245685"/>
            <a:chExt cx="3882501" cy="2122636"/>
          </a:xfrm>
        </p:grpSpPr>
        <p:sp>
          <p:nvSpPr>
            <p:cNvPr id="7" name="Заголовок 4">
              <a:extLst>
                <a:ext uri="{FF2B5EF4-FFF2-40B4-BE49-F238E27FC236}">
                  <a16:creationId xmlns:a16="http://schemas.microsoft.com/office/drawing/2014/main" id="{B45BE5B9-B11E-74D4-6048-0F3FD14885F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тестовой выборки</a:t>
              </a:r>
            </a:p>
          </p:txBody>
        </p:sp>
        <p:sp>
          <p:nvSpPr>
            <p:cNvPr id="8" name="Заголовок 4">
              <a:extLst>
                <a:ext uri="{FF2B5EF4-FFF2-40B4-BE49-F238E27FC236}">
                  <a16:creationId xmlns:a16="http://schemas.microsoft.com/office/drawing/2014/main" id="{29C9D036-6DD2-F4B0-460B-7A93E462871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054918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50</a:t>
              </a:r>
              <a:r>
                <a:rPr lang="ru-RU" sz="4800" b="1" spc="300" dirty="0">
                  <a:solidFill>
                    <a:srgbClr val="3E337F"/>
                  </a:solidFill>
                  <a:latin typeface="Century Gothic" panose="020B0502020202020204" pitchFamily="34" charset="0"/>
                </a:rPr>
                <a:t>00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E946A7A-503F-B793-697E-BACFC34A3348}"/>
              </a:ext>
            </a:extLst>
          </p:cNvPr>
          <p:cNvGrpSpPr/>
          <p:nvPr/>
        </p:nvGrpSpPr>
        <p:grpSpPr>
          <a:xfrm>
            <a:off x="7717659" y="16479"/>
            <a:ext cx="3882501" cy="1695718"/>
            <a:chOff x="7903925" y="16479"/>
            <a:chExt cx="3882501" cy="1695718"/>
          </a:xfrm>
        </p:grpSpPr>
        <p:sp>
          <p:nvSpPr>
            <p:cNvPr id="9" name="Заголовок 4">
              <a:extLst>
                <a:ext uri="{FF2B5EF4-FFF2-40B4-BE49-F238E27FC236}">
                  <a16:creationId xmlns:a16="http://schemas.microsoft.com/office/drawing/2014/main" id="{15CA31B0-3F40-73E0-1FF5-0DE49095519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5" y="1182997"/>
              <a:ext cx="3882501" cy="5292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размер пакета</a:t>
              </a:r>
            </a:p>
          </p:txBody>
        </p:sp>
        <p:sp>
          <p:nvSpPr>
            <p:cNvPr id="10" name="Заголовок 4">
              <a:extLst>
                <a:ext uri="{FF2B5EF4-FFF2-40B4-BE49-F238E27FC236}">
                  <a16:creationId xmlns:a16="http://schemas.microsoft.com/office/drawing/2014/main" id="{9199D794-E8C0-0CCB-EAB6-AB9500E3ED0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16479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16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0CCF76D-34C7-D988-7828-41CD12C2D24E}"/>
              </a:ext>
            </a:extLst>
          </p:cNvPr>
          <p:cNvGrpSpPr/>
          <p:nvPr/>
        </p:nvGrpSpPr>
        <p:grpSpPr>
          <a:xfrm>
            <a:off x="7717660" y="1918142"/>
            <a:ext cx="3882501" cy="2121598"/>
            <a:chOff x="7903926" y="2068541"/>
            <a:chExt cx="3882501" cy="2121598"/>
          </a:xfrm>
        </p:grpSpPr>
        <p:sp>
          <p:nvSpPr>
            <p:cNvPr id="11" name="Заголовок 4">
              <a:extLst>
                <a:ext uri="{FF2B5EF4-FFF2-40B4-BE49-F238E27FC236}">
                  <a16:creationId xmlns:a16="http://schemas.microsoft.com/office/drawing/2014/main" id="{03C9E106-A7FB-F5C0-2D3E-DEE6A9ACDB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3254139"/>
              <a:ext cx="3882501" cy="9360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максимальная длина текста</a:t>
              </a:r>
            </a:p>
          </p:txBody>
        </p:sp>
        <p:sp>
          <p:nvSpPr>
            <p:cNvPr id="12" name="Заголовок 4">
              <a:extLst>
                <a:ext uri="{FF2B5EF4-FFF2-40B4-BE49-F238E27FC236}">
                  <a16:creationId xmlns:a16="http://schemas.microsoft.com/office/drawing/2014/main" id="{31151041-B882-600A-0ADD-C184299010B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2068541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128</a:t>
              </a:r>
              <a:endParaRPr lang="ru-RU" sz="4800" b="1" spc="300" dirty="0">
                <a:solidFill>
                  <a:srgbClr val="BDF71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A7187AAA-6236-BBDC-1D83-8D986814C711}"/>
              </a:ext>
            </a:extLst>
          </p:cNvPr>
          <p:cNvGrpSpPr/>
          <p:nvPr/>
        </p:nvGrpSpPr>
        <p:grpSpPr>
          <a:xfrm>
            <a:off x="7717660" y="4245685"/>
            <a:ext cx="3882501" cy="2122636"/>
            <a:chOff x="7903926" y="4245685"/>
            <a:chExt cx="3882501" cy="2122636"/>
          </a:xfrm>
        </p:grpSpPr>
        <p:sp>
          <p:nvSpPr>
            <p:cNvPr id="13" name="Заголовок 4">
              <a:extLst>
                <a:ext uri="{FF2B5EF4-FFF2-40B4-BE49-F238E27FC236}">
                  <a16:creationId xmlns:a16="http://schemas.microsoft.com/office/drawing/2014/main" id="{0B9B2427-90F8-95BD-B035-B06DECBD857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5431283"/>
              <a:ext cx="3882501" cy="9370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ru-RU" sz="2800" dirty="0">
                  <a:latin typeface="Century Gothic" panose="020B0502020202020204" pitchFamily="34" charset="0"/>
                </a:rPr>
                <a:t>количество кругов обучения</a:t>
              </a:r>
            </a:p>
          </p:txBody>
        </p:sp>
        <p:sp>
          <p:nvSpPr>
            <p:cNvPr id="14" name="Заголовок 4">
              <a:extLst>
                <a:ext uri="{FF2B5EF4-FFF2-40B4-BE49-F238E27FC236}">
                  <a16:creationId xmlns:a16="http://schemas.microsoft.com/office/drawing/2014/main" id="{3EA0E65E-3270-0D02-A404-CBB5ECB497C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903926" y="4245685"/>
              <a:ext cx="2774171" cy="119380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sz="4800" b="1" spc="300" dirty="0">
                  <a:solidFill>
                    <a:srgbClr val="BDF711"/>
                  </a:solidFill>
                  <a:latin typeface="Century Gothic" panose="020B0502020202020204" pitchFamily="34" charset="0"/>
                </a:rPr>
                <a:t>1</a:t>
              </a:r>
              <a:endParaRPr lang="ru-RU" sz="4800" b="1" spc="300" dirty="0">
                <a:solidFill>
                  <a:srgbClr val="BDF711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8040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36000">
              <a:srgbClr val="3E337F">
                <a:alpha val="65000"/>
              </a:srgbClr>
            </a:gs>
            <a:gs pos="60000">
              <a:srgbClr val="3E337F">
                <a:alpha val="50000"/>
              </a:srgbClr>
            </a:gs>
            <a:gs pos="99000">
              <a:srgbClr val="3E337F">
                <a:alpha val="40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7F265-0B18-4FC0-15BF-3C72520BD8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F8D0A60-9100-FB10-8115-E1C4E359425A}"/>
              </a:ext>
            </a:extLst>
          </p:cNvPr>
          <p:cNvGrpSpPr/>
          <p:nvPr/>
        </p:nvGrpSpPr>
        <p:grpSpPr>
          <a:xfrm>
            <a:off x="3311862" y="399485"/>
            <a:ext cx="3330734" cy="2660605"/>
            <a:chOff x="3311862" y="399485"/>
            <a:chExt cx="3330734" cy="2660605"/>
          </a:xfrm>
        </p:grpSpPr>
        <p:sp>
          <p:nvSpPr>
            <p:cNvPr id="20" name="Заголовок 4">
              <a:extLst>
                <a:ext uri="{FF2B5EF4-FFF2-40B4-BE49-F238E27FC236}">
                  <a16:creationId xmlns:a16="http://schemas.microsoft.com/office/drawing/2014/main" id="{F1F404A2-CCE2-3ED4-218F-00A36557E9A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2652676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Precision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3B547682-7249-F9D9-24A9-08D4EBB861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99485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0.89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4E4B7AB-8874-59A1-4770-119985E9FECF}"/>
              </a:ext>
            </a:extLst>
          </p:cNvPr>
          <p:cNvGrpSpPr/>
          <p:nvPr/>
        </p:nvGrpSpPr>
        <p:grpSpPr>
          <a:xfrm>
            <a:off x="8296513" y="2052130"/>
            <a:ext cx="2774171" cy="2660606"/>
            <a:chOff x="8296513" y="2160291"/>
            <a:chExt cx="2774171" cy="2660606"/>
          </a:xfrm>
        </p:grpSpPr>
        <p:sp>
          <p:nvSpPr>
            <p:cNvPr id="16" name="Заголовок 4">
              <a:extLst>
                <a:ext uri="{FF2B5EF4-FFF2-40B4-BE49-F238E27FC236}">
                  <a16:creationId xmlns:a16="http://schemas.microsoft.com/office/drawing/2014/main" id="{E3AFDED7-EFB1-819B-85B0-BF54EF894A2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96513" y="4413482"/>
              <a:ext cx="2774171" cy="40741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F1-score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7E3E57C-D566-1F55-DC18-C94A22AEDE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675598" y="2160291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0.90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EBE2952-B2B8-7FF8-FD5D-2661EEE604BE}"/>
              </a:ext>
            </a:extLst>
          </p:cNvPr>
          <p:cNvGrpSpPr/>
          <p:nvPr/>
        </p:nvGrpSpPr>
        <p:grpSpPr>
          <a:xfrm>
            <a:off x="3311862" y="3704776"/>
            <a:ext cx="3330734" cy="2643543"/>
            <a:chOff x="3311862" y="3704776"/>
            <a:chExt cx="3330734" cy="2643543"/>
          </a:xfrm>
        </p:grpSpPr>
        <p:sp>
          <p:nvSpPr>
            <p:cNvPr id="21" name="Заголовок 4">
              <a:extLst>
                <a:ext uri="{FF2B5EF4-FFF2-40B4-BE49-F238E27FC236}">
                  <a16:creationId xmlns:a16="http://schemas.microsoft.com/office/drawing/2014/main" id="{2C9D1BD9-9758-52E3-E9B5-F7AFB9AA1F6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311862" y="5940905"/>
              <a:ext cx="3330734" cy="40741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>
                <a:lnSpc>
                  <a:spcPct val="90000"/>
                </a:lnSpc>
                <a:spcBef>
                  <a:spcPts val="0"/>
                </a:spcBef>
                <a:buNone/>
                <a:defRPr sz="6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dirty="0">
                  <a:latin typeface="Century Gothic" panose="020B0502020202020204" pitchFamily="34" charset="0"/>
                </a:rPr>
                <a:t>Recall</a:t>
              </a:r>
              <a:endParaRPr lang="ru-RU" sz="28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324E03EB-C93E-2198-1A3E-24F38EE8495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9229" y="3704776"/>
              <a:ext cx="2016000" cy="2016000"/>
            </a:xfrm>
            <a:prstGeom prst="ellipse">
              <a:avLst/>
            </a:prstGeom>
            <a:solidFill>
              <a:srgbClr val="BDF711"/>
            </a:solidFill>
            <a:ln>
              <a:solidFill>
                <a:srgbClr val="3E337F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0.</a:t>
              </a:r>
              <a:r>
                <a:rPr lang="en-US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9</a:t>
              </a:r>
              <a:r>
                <a:rPr lang="ru-RU" sz="28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</p:grp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A0DD45A2-D793-9F1D-AF18-F21B23F0BDC5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МОДЕЛЬ 3</a:t>
            </a:r>
          </a:p>
        </p:txBody>
      </p:sp>
    </p:spTree>
    <p:extLst>
      <p:ext uri="{BB962C8B-B14F-4D97-AF65-F5344CB8AC3E}">
        <p14:creationId xmlns:p14="http://schemas.microsoft.com/office/powerpoint/2010/main" val="3266660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3E337F">
                <a:alpha val="80000"/>
              </a:srgbClr>
            </a:gs>
            <a:gs pos="12000">
              <a:srgbClr val="3E337F">
                <a:alpha val="65000"/>
              </a:srgbClr>
            </a:gs>
            <a:gs pos="69000">
              <a:srgbClr val="3E337F">
                <a:alpha val="50000"/>
              </a:srgbClr>
            </a:gs>
            <a:gs pos="97000">
              <a:srgbClr val="3E337F">
                <a:alpha val="40000"/>
              </a:srgb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AAC4-C6D3-7F3B-29AC-38A7B77FB18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647E4BFE-C458-EA39-F3E5-E2D2FDE36A6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 rot="16200000">
            <a:off x="-3343941" y="2235199"/>
            <a:ext cx="6858001" cy="2387600"/>
          </a:xfrm>
        </p:spPr>
        <p:txBody>
          <a:bodyPr>
            <a:normAutofit/>
          </a:bodyPr>
          <a:lstStyle/>
          <a:p>
            <a:r>
              <a:rPr lang="ru-RU" sz="7200" b="1" spc="300" dirty="0">
                <a:solidFill>
                  <a:srgbClr val="BDF711"/>
                </a:solidFill>
                <a:latin typeface="Century Gothic" panose="020B0502020202020204" pitchFamily="34" charset="0"/>
              </a:rPr>
              <a:t>ПРОВЕРКА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70C749-2031-2517-43F0-1504F6B1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90" y="861503"/>
            <a:ext cx="8757920" cy="513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“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movie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absolutely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fantastic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acting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incredible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plot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kept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engaged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whole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I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would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definitely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recommend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everyone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r>
              <a:rPr lang="en-US" altLang="ru-RU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”  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positive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97</a:t>
            </a:r>
            <a:r>
              <a:rPr lang="en-US" altLang="ru-RU" sz="2000" dirty="0">
                <a:solidFill>
                  <a:srgbClr val="BDF711"/>
                </a:solidFill>
                <a:latin typeface="Century Gothic" panose="020B0502020202020204" pitchFamily="34" charset="0"/>
              </a:rPr>
              <a:t>%)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 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BDF71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0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really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disappointed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with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film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plot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boring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characters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were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poorly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developed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felt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like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complete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  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negative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(93%)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0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“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movie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some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good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moments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nice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visuals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overall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story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too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not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interesting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negative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(42%)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0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“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amazing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experience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from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start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finish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great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performances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emotional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scenes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powerful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ending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that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stayed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with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altLang="ru-RU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 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positive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DF711"/>
                </a:solidFill>
                <a:effectLst/>
                <a:latin typeface="Century Gothic" panose="020B0502020202020204" pitchFamily="34" charset="0"/>
              </a:rPr>
              <a:t>95</a:t>
            </a:r>
            <a:r>
              <a:rPr lang="en-US" altLang="ru-RU" sz="2000" dirty="0">
                <a:solidFill>
                  <a:srgbClr val="BDF711"/>
                </a:solidFill>
                <a:latin typeface="Century Gothic" panose="020B0502020202020204" pitchFamily="34" charset="0"/>
              </a:rPr>
              <a:t>%)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BDF71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4" name="Рисунок 3" descr="Нумератор с хлопушкой со сплошной заливкой">
            <a:extLst>
              <a:ext uri="{FF2B5EF4-FFF2-40B4-BE49-F238E27FC236}">
                <a16:creationId xmlns:a16="http://schemas.microsoft.com/office/drawing/2014/main" id="{5AE3FC1D-34DA-6FF8-F71D-5E7D46298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1395" y="2587580"/>
            <a:ext cx="648000" cy="648000"/>
          </a:xfrm>
          <a:prstGeom prst="rect">
            <a:avLst/>
          </a:prstGeom>
        </p:spPr>
      </p:pic>
      <p:pic>
        <p:nvPicPr>
          <p:cNvPr id="5" name="Рисунок 4" descr="Нумератор с хлопушкой со сплошной заливкой">
            <a:extLst>
              <a:ext uri="{FF2B5EF4-FFF2-40B4-BE49-F238E27FC236}">
                <a16:creationId xmlns:a16="http://schemas.microsoft.com/office/drawing/2014/main" id="{18990E89-835F-DD69-94F4-C6E267654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1395" y="1097522"/>
            <a:ext cx="648000" cy="648000"/>
          </a:xfrm>
          <a:prstGeom prst="rect">
            <a:avLst/>
          </a:prstGeom>
        </p:spPr>
      </p:pic>
      <p:pic>
        <p:nvPicPr>
          <p:cNvPr id="7" name="Рисунок 6" descr="Нумератор с хлопушкой со сплошной заливкой">
            <a:extLst>
              <a:ext uri="{FF2B5EF4-FFF2-40B4-BE49-F238E27FC236}">
                <a16:creationId xmlns:a16="http://schemas.microsoft.com/office/drawing/2014/main" id="{0EA91F2D-B4DC-4DFD-8EDC-55B6B7B04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1395" y="3824261"/>
            <a:ext cx="648000" cy="648000"/>
          </a:xfrm>
          <a:prstGeom prst="rect">
            <a:avLst/>
          </a:prstGeom>
        </p:spPr>
      </p:pic>
      <p:pic>
        <p:nvPicPr>
          <p:cNvPr id="8" name="Рисунок 7" descr="Нумератор с хлопушкой со сплошной заливкой">
            <a:extLst>
              <a:ext uri="{FF2B5EF4-FFF2-40B4-BE49-F238E27FC236}">
                <a16:creationId xmlns:a16="http://schemas.microsoft.com/office/drawing/2014/main" id="{828119E0-8189-1E1B-0198-AD29FBC33F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1395" y="5012645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557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16476</TotalTime>
  <Words>641</Words>
  <Application>Microsoft Macintosh PowerPoint</Application>
  <DocSecurity>0</DocSecurity>
  <PresentationFormat>Широкоэкранный</PresentationFormat>
  <Paragraphs>208</Paragraphs>
  <Slides>35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Century Gothic</vt:lpstr>
      <vt:lpstr>Тема Office</vt:lpstr>
      <vt:lpstr>АНАЛИТИКА</vt:lpstr>
      <vt:lpstr>ПЕСНИ</vt:lpstr>
      <vt:lpstr>ОБРАБОТКА</vt:lpstr>
      <vt:lpstr>VS</vt:lpstr>
      <vt:lpstr>TF-IDF</vt:lpstr>
      <vt:lpstr>РАСПРЕДЕЛЕНИЕ</vt:lpstr>
      <vt:lpstr>РАСПРЕДЕЛЕНИЕ</vt:lpstr>
      <vt:lpstr>ТОП-10 СЛОВ</vt:lpstr>
      <vt:lpstr>ТОП-10 СЛОВ</vt:lpstr>
      <vt:lpstr>ТОП-10 СЛОВ</vt:lpstr>
      <vt:lpstr>СРАВНЕНИЕ</vt:lpstr>
      <vt:lpstr>ВРЕМЯ</vt:lpstr>
      <vt:lpstr>СХОЖЕСТЬ</vt:lpstr>
      <vt:lpstr>t-SNE</vt:lpstr>
      <vt:lpstr>t-SNE</vt:lpstr>
      <vt:lpstr>t-SNE</vt:lpstr>
      <vt:lpstr>ТОП СЛОВ</vt:lpstr>
      <vt:lpstr>ТОП СЛОВ</vt:lpstr>
      <vt:lpstr>ТОП СЛОВ</vt:lpstr>
      <vt:lpstr>CountVectorizer</vt:lpstr>
      <vt:lpstr>TF-IDF</vt:lpstr>
      <vt:lpstr>Word2Vec</vt:lpstr>
      <vt:lpstr>Doc2Vec</vt:lpstr>
      <vt:lpstr>WORDCLOUD</vt:lpstr>
      <vt:lpstr>WORDCLOUD</vt:lpstr>
      <vt:lpstr>WORDCLOUD</vt:lpstr>
      <vt:lpstr>Презентация PowerPoint</vt:lpstr>
      <vt:lpstr>МОДЕЛЬ 1</vt:lpstr>
      <vt:lpstr>МОДЕЛЬ 1</vt:lpstr>
      <vt:lpstr>МОДЕЛЬ 1</vt:lpstr>
      <vt:lpstr>МОДЕЛЬ 2</vt:lpstr>
      <vt:lpstr>МОДЕЛЬ 2</vt:lpstr>
      <vt:lpstr>МОДЕЛЬ 3</vt:lpstr>
      <vt:lpstr>МОДЕЛЬ 3</vt:lpstr>
      <vt:lpstr>ПРОВЕРКА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Dasha</dc:creator>
  <cp:keywords/>
  <dc:description/>
  <cp:lastModifiedBy>Арина Катышева</cp:lastModifiedBy>
  <cp:revision>184</cp:revision>
  <dcterms:created xsi:type="dcterms:W3CDTF">2025-02-19T15:29:33Z</dcterms:created>
  <dcterms:modified xsi:type="dcterms:W3CDTF">2026-03-30T12:46:59Z</dcterms:modified>
  <cp:category/>
  <dc:identifier/>
  <cp:contentStatus/>
  <dc:language/>
  <cp:version/>
</cp:coreProperties>
</file>