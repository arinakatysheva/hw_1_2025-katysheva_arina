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72" r:id="rId3"/>
    <p:sldId id="273" r:id="rId4"/>
    <p:sldId id="274" r:id="rId5"/>
    <p:sldId id="275" r:id="rId6"/>
    <p:sldId id="279" r:id="rId7"/>
    <p:sldId id="282" r:id="rId8"/>
    <p:sldId id="283" r:id="rId9"/>
    <p:sldId id="284" r:id="rId10"/>
    <p:sldId id="285" r:id="rId11"/>
    <p:sldId id="289" r:id="rId12"/>
    <p:sldId id="290" r:id="rId13"/>
    <p:sldId id="291" r:id="rId14"/>
    <p:sldId id="298" r:id="rId15"/>
    <p:sldId id="300" r:id="rId16"/>
    <p:sldId id="299" r:id="rId17"/>
    <p:sldId id="295" r:id="rId18"/>
    <p:sldId id="296" r:id="rId19"/>
    <p:sldId id="297" r:id="rId20"/>
    <p:sldId id="287" r:id="rId21"/>
    <p:sldId id="292" r:id="rId22"/>
    <p:sldId id="293" r:id="rId23"/>
    <p:sldId id="294" r:id="rId24"/>
    <p:sldId id="301" r:id="rId25"/>
    <p:sldId id="302" r:id="rId26"/>
    <p:sldId id="303" r:id="rId27"/>
    <p:sldId id="304" r:id="rId28"/>
    <p:sldId id="306" r:id="rId29"/>
    <p:sldId id="305" r:id="rId30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337F"/>
    <a:srgbClr val="BDF711"/>
    <a:srgbClr val="1F1543"/>
    <a:srgbClr val="6F63B6"/>
    <a:srgbClr val="A193C8"/>
    <a:srgbClr val="453D76"/>
    <a:srgbClr val="489100"/>
    <a:srgbClr val="BDF611"/>
    <a:srgbClr val="D7E20B"/>
    <a:srgbClr val="7ED3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4"/>
    <p:restoredTop sz="94614"/>
  </p:normalViewPr>
  <p:slideViewPr>
    <p:cSldViewPr snapToGrid="0">
      <p:cViewPr varScale="1">
        <p:scale>
          <a:sx n="101" d="100"/>
          <a:sy n="101" d="100"/>
        </p:scale>
        <p:origin x="1056" y="19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967BBC-7584-274E-8D87-94A44F9C4265}" type="datetimeFigureOut">
              <a:rPr lang="ru-RU" smtClean="0"/>
              <a:t>26.03.2026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25BDB-2B85-4243-B1BB-DD522C501B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644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0678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410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C6E4F-BA2B-76BB-4505-3F82AC0E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6DF0EF3-777C-FA60-FB06-DC804B9C4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05B9438-1553-3352-4B68-D41B4D8B1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C1F2C7-E3DF-8CD9-BBEA-A83855110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71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F38B2-6009-68C5-43D8-2F66133DA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F7C4F4C-E1BB-EE39-270A-BD3B8B80B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86867DF-5F6E-40EC-D6C6-43BBA2DD6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6869219-7087-A3D0-B654-412E18F86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06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7572-AA25-D491-43FA-0D400FA63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05E3A1B-F721-FF5D-DE94-A1DFCC87D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6F5B605-EC79-CA73-A4AF-2F385F2DF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85FEF0-A781-4DFD-C4AB-65A0D2AE9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053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4D03-4C7A-C50F-F798-FF95C328E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FD9EAB-697F-97F5-A1F3-06BF4DC4B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C3D0DF1-191D-6A0B-DC07-4F1CAEC8D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1C3F36-F756-AC04-B123-4D1811D12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38224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E83BC-6042-B522-2017-68DBE79A5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939A2F0-D0C4-D40E-3070-7F129863B1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39C1608-B339-0932-8E17-3A8E7A08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283E465-09E0-023E-5D3A-905098676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3257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04208-D75C-4BCA-7660-7BB905D30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505826F-539D-DE60-3C1E-4322B34CF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B0A68AB-95F2-1937-4A8C-1A87DC2F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9FF67B-1ACE-3BE9-2D93-6FB7832C1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49858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983BD-96F9-F3C7-6A91-FF5EA9CB9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FAEF6FB-7138-7FEE-CC23-477BC5D63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8F8AF18-A2C2-3433-92BD-D369FB135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291A4D-BD80-CACD-9ECA-20B2C14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3110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95723-E6EB-23D2-B6A4-D303377E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AD6BFCB-3D04-3480-3C09-F15D4C05CA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59E113C-9756-2295-2C59-C9228A2F9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E868B9-4D9F-3A57-AEBF-E36A79C63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555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D634-95B0-0AAF-AC7B-4919E5BFF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5C9F1D-C102-15A2-CCFD-6E7523A3A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C90EED-583B-5218-4DF1-5DF7347C7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32FCFA-A4B9-3561-AFB6-A6F60CB12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43106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88FF8-2DB9-6E2B-E039-C6CEA81A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C4882EA-0A01-6983-8864-A75C192427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8FD9808-63D1-FFBD-01F6-067645054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1E799F0-4224-5FE2-F16A-D667C7623C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551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B55A1-9FA4-05BC-0CA5-53BFFE05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49E7B77-94CF-DE79-880E-89B0A79543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9C4C99F-7F32-A065-C05E-4B5602C38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B2CA23-A6D0-5803-3D06-CDA2A37EC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12832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C89C-00F3-2FF6-CA91-D3729D635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F6F543-A5A1-215E-EDEC-454504369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BE4814A-950F-7DAE-3865-598C62B705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B594F2D-6B10-3C0B-285A-D82790D45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060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96A1-746F-9580-FAF5-CAC297643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66F19EC-9331-D4EC-607D-5A3181ED8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89264D8-E6AC-B9C8-6A63-BCB6FAEFA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F7C410B-10A0-04CA-AA6D-7BBB817D1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E25BDB-2B85-4243-B1BB-DD522C501B14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891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5A2DAC8-3F51-4A6D-A8F7-F4AFC13D4DC9}" type="datetimeFigureOut">
              <a:rPr lang="ru-RU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3C2FD41-59D4-4DC0-961A-FAE9C385C79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20000"/>
              </a:srgbClr>
            </a:gs>
            <a:gs pos="21000">
              <a:srgbClr val="3E337F">
                <a:alpha val="40000"/>
              </a:srgbClr>
            </a:gs>
            <a:gs pos="79000">
              <a:srgbClr val="3E337F">
                <a:alpha val="65000"/>
              </a:srgbClr>
            </a:gs>
            <a:gs pos="100000">
              <a:srgbClr val="3E337F">
                <a:alpha val="7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AEE35F0-A84A-A12F-2162-8B16F2CA0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627" y="1571419"/>
            <a:ext cx="12279682" cy="2387600"/>
          </a:xfrm>
        </p:spPr>
        <p:txBody>
          <a:bodyPr>
            <a:normAutofit/>
          </a:bodyPr>
          <a:lstStyle/>
          <a:p>
            <a:pPr algn="l"/>
            <a:r>
              <a:rPr lang="ru-RU" sz="10200" b="1" spc="600" dirty="0">
                <a:solidFill>
                  <a:srgbClr val="BDF611"/>
                </a:solidFill>
                <a:latin typeface="Century Gothic" panose="020B0502020202020204" pitchFamily="34" charset="0"/>
              </a:rPr>
              <a:t>АНАЛИТИКА</a:t>
            </a:r>
          </a:p>
        </p:txBody>
      </p:sp>
      <p:sp>
        <p:nvSpPr>
          <p:cNvPr id="6" name="Заголовок 4">
            <a:extLst>
              <a:ext uri="{FF2B5EF4-FFF2-40B4-BE49-F238E27FC236}">
                <a16:creationId xmlns:a16="http://schemas.microsoft.com/office/drawing/2014/main" id="{6E7D0DD9-C89A-705D-E645-614ED096694F}"/>
              </a:ext>
            </a:extLst>
          </p:cNvPr>
          <p:cNvSpPr txBox="1">
            <a:spLocks/>
          </p:cNvSpPr>
          <p:nvPr/>
        </p:nvSpPr>
        <p:spPr bwMode="auto">
          <a:xfrm>
            <a:off x="43542" y="157968"/>
            <a:ext cx="1219199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84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ТЕКСТОВАЯ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2ACC1F-D1F2-17AA-09E6-CEBF2D7C464F}"/>
              </a:ext>
            </a:extLst>
          </p:cNvPr>
          <p:cNvSpPr txBox="1"/>
          <p:nvPr/>
        </p:nvSpPr>
        <p:spPr>
          <a:xfrm>
            <a:off x="8098971" y="6139543"/>
            <a:ext cx="3887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BDF611"/>
                </a:solidFill>
                <a:latin typeface="Century Gothic" panose="020B0502020202020204" pitchFamily="34" charset="0"/>
              </a:rPr>
              <a:t>Катышева Арина</a:t>
            </a:r>
            <a:r>
              <a:rPr lang="ru-RU" sz="2000" dirty="0">
                <a:solidFill>
                  <a:srgbClr val="BDF611"/>
                </a:solidFill>
                <a:latin typeface="Century Gothic" panose="020B0502020202020204" pitchFamily="34" charset="0"/>
              </a:rPr>
              <a:t>, МСМТ 243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40000"/>
              </a:srgbClr>
            </a:gs>
            <a:gs pos="43000">
              <a:srgbClr val="3E337F">
                <a:alpha val="50000"/>
              </a:srgbClr>
            </a:gs>
            <a:gs pos="79000">
              <a:srgbClr val="3E337F">
                <a:alpha val="70000"/>
              </a:srgbClr>
            </a:gs>
            <a:gs pos="100000">
              <a:srgbClr val="3E337F">
                <a:alpha val="8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12F6BB-3A5C-F47C-DCEA-AE6AE4A76B1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6002B4F-DC6C-DBA9-CBF9-BCA0AF1A08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BDF611"/>
                </a:solidFill>
                <a:latin typeface="Century Gothic" panose="020B0502020202020204" pitchFamily="34" charset="0"/>
              </a:rPr>
              <a:t>ПЕСНИ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5681BF4-1A7A-7FAB-2407-2B4D9A942920}"/>
              </a:ext>
            </a:extLst>
          </p:cNvPr>
          <p:cNvGrpSpPr/>
          <p:nvPr/>
        </p:nvGrpSpPr>
        <p:grpSpPr>
          <a:xfrm>
            <a:off x="2041719" y="752480"/>
            <a:ext cx="9245167" cy="5353038"/>
            <a:chOff x="2230689" y="543802"/>
            <a:chExt cx="9245167" cy="5353038"/>
          </a:xfrm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1BECD10C-0773-F00D-B987-5C5AFE35535B}"/>
                </a:ext>
              </a:extLst>
            </p:cNvPr>
            <p:cNvGrpSpPr/>
            <p:nvPr/>
          </p:nvGrpSpPr>
          <p:grpSpPr>
            <a:xfrm>
              <a:off x="2230689" y="543802"/>
              <a:ext cx="9245167" cy="1152000"/>
              <a:chOff x="2230689" y="586332"/>
              <a:chExt cx="9245167" cy="1152000"/>
            </a:xfrm>
          </p:grpSpPr>
          <p:pic>
            <p:nvPicPr>
              <p:cNvPr id="4" name="Рисунок 3" descr="Музыкальная нота со сплошной заливкой">
                <a:extLst>
                  <a:ext uri="{FF2B5EF4-FFF2-40B4-BE49-F238E27FC236}">
                    <a16:creationId xmlns:a16="http://schemas.microsoft.com/office/drawing/2014/main" id="{F71163C7-968E-BBD0-9448-C21F46173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230689" y="766332"/>
                <a:ext cx="792000" cy="792000"/>
              </a:xfrm>
              <a:prstGeom prst="rect">
                <a:avLst/>
              </a:prstGeom>
            </p:spPr>
          </p:pic>
          <p:sp>
            <p:nvSpPr>
              <p:cNvPr id="10" name="Заголовок 4">
                <a:extLst>
                  <a:ext uri="{FF2B5EF4-FFF2-40B4-BE49-F238E27FC236}">
                    <a16:creationId xmlns:a16="http://schemas.microsoft.com/office/drawing/2014/main" id="{176CA292-0965-CF00-8899-E750A585862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362862" y="586332"/>
                <a:ext cx="8112994" cy="1152000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rmAutofit fontScale="92500"/>
              </a:bodyPr>
              <a:lstStyle>
                <a:lvl1pPr algn="ctr" defTabSz="914400">
                  <a:lnSpc>
                    <a:spcPct val="90000"/>
                  </a:lnSpc>
                  <a:spcBef>
                    <a:spcPts val="0"/>
                  </a:spcBef>
                  <a:buNone/>
                  <a:defRPr sz="60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</a:pPr>
                <a:r>
                  <a:rPr lang="ru-RU" sz="3600" dirty="0">
                    <a:latin typeface="Century Gothic" panose="020B0502020202020204" pitchFamily="34" charset="0"/>
                  </a:rPr>
                  <a:t>Женя Трофимов &amp; Комната культуры</a:t>
                </a:r>
              </a:p>
              <a:p>
                <a:pPr algn="l">
                  <a:lnSpc>
                    <a:spcPct val="100000"/>
                  </a:lnSpc>
                </a:pPr>
                <a:r>
                  <a:rPr lang="ru-RU" sz="3600" b="1" dirty="0">
                    <a:solidFill>
                      <a:srgbClr val="BDF611"/>
                    </a:solidFill>
                    <a:latin typeface="Century Gothic" panose="020B0502020202020204" pitchFamily="34" charset="0"/>
                  </a:rPr>
                  <a:t>Поезда</a:t>
                </a:r>
              </a:p>
            </p:txBody>
          </p:sp>
        </p:grp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CA680FB1-3F56-D0CF-E150-5388ADD945D7}"/>
                </a:ext>
              </a:extLst>
            </p:cNvPr>
            <p:cNvGrpSpPr/>
            <p:nvPr/>
          </p:nvGrpSpPr>
          <p:grpSpPr>
            <a:xfrm>
              <a:off x="2230689" y="2644321"/>
              <a:ext cx="9245167" cy="1152000"/>
              <a:chOff x="2230689" y="2495344"/>
              <a:chExt cx="9245167" cy="1152000"/>
            </a:xfrm>
          </p:grpSpPr>
          <p:pic>
            <p:nvPicPr>
              <p:cNvPr id="8" name="Рисунок 7" descr="Музыкальная нота со сплошной заливкой">
                <a:extLst>
                  <a:ext uri="{FF2B5EF4-FFF2-40B4-BE49-F238E27FC236}">
                    <a16:creationId xmlns:a16="http://schemas.microsoft.com/office/drawing/2014/main" id="{7DFC961A-ED57-1895-1624-93679AB31C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230689" y="2675344"/>
                <a:ext cx="792000" cy="792000"/>
              </a:xfrm>
              <a:prstGeom prst="rect">
                <a:avLst/>
              </a:prstGeom>
            </p:spPr>
          </p:pic>
          <p:sp>
            <p:nvSpPr>
              <p:cNvPr id="11" name="Заголовок 4">
                <a:extLst>
                  <a:ext uri="{FF2B5EF4-FFF2-40B4-BE49-F238E27FC236}">
                    <a16:creationId xmlns:a16="http://schemas.microsoft.com/office/drawing/2014/main" id="{9F9D9BA8-4C76-C5AF-E352-C203A269B98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362862" y="2495344"/>
                <a:ext cx="8112994" cy="1152000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rmAutofit lnSpcReduction="10000"/>
              </a:bodyPr>
              <a:lstStyle>
                <a:lvl1pPr algn="ctr" defTabSz="914400">
                  <a:lnSpc>
                    <a:spcPct val="90000"/>
                  </a:lnSpc>
                  <a:spcBef>
                    <a:spcPts val="0"/>
                  </a:spcBef>
                  <a:buNone/>
                  <a:defRPr sz="60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</a:pPr>
                <a:r>
                  <a:rPr lang="en" sz="3600" dirty="0">
                    <a:latin typeface="Century Gothic" panose="020B0502020202020204" pitchFamily="34" charset="0"/>
                  </a:rPr>
                  <a:t>Beautiful Boys</a:t>
                </a:r>
                <a:endParaRPr lang="ru-RU" sz="3600" dirty="0">
                  <a:latin typeface="Century Gothic" panose="020B0502020202020204" pitchFamily="34" charset="0"/>
                </a:endParaRPr>
              </a:p>
              <a:p>
                <a:pPr algn="l">
                  <a:lnSpc>
                    <a:spcPct val="100000"/>
                  </a:lnSpc>
                </a:pPr>
                <a:r>
                  <a:rPr lang="ru-RU" sz="3600" b="1" dirty="0">
                    <a:solidFill>
                      <a:srgbClr val="BDF611"/>
                    </a:solidFill>
                    <a:latin typeface="Century Gothic" panose="020B0502020202020204" pitchFamily="34" charset="0"/>
                  </a:rPr>
                  <a:t>Ниоткуда с любовью</a:t>
                </a:r>
              </a:p>
            </p:txBody>
          </p:sp>
        </p:grpSp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438430C7-8015-45A9-A138-565CC199AB48}"/>
                </a:ext>
              </a:extLst>
            </p:cNvPr>
            <p:cNvGrpSpPr/>
            <p:nvPr/>
          </p:nvGrpSpPr>
          <p:grpSpPr>
            <a:xfrm>
              <a:off x="2230689" y="4744840"/>
              <a:ext cx="9245167" cy="1152000"/>
              <a:chOff x="2230689" y="4851165"/>
              <a:chExt cx="9245167" cy="1152000"/>
            </a:xfrm>
          </p:grpSpPr>
          <p:pic>
            <p:nvPicPr>
              <p:cNvPr id="9" name="Рисунок 8" descr="Музыкальная нота со сплошной заливкой">
                <a:extLst>
                  <a:ext uri="{FF2B5EF4-FFF2-40B4-BE49-F238E27FC236}">
                    <a16:creationId xmlns:a16="http://schemas.microsoft.com/office/drawing/2014/main" id="{9E4C4720-AC54-3470-6ACE-4AE825309B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230689" y="5031165"/>
                <a:ext cx="792000" cy="792000"/>
              </a:xfrm>
              <a:prstGeom prst="rect">
                <a:avLst/>
              </a:prstGeom>
            </p:spPr>
          </p:pic>
          <p:sp>
            <p:nvSpPr>
              <p:cNvPr id="12" name="Заголовок 4">
                <a:extLst>
                  <a:ext uri="{FF2B5EF4-FFF2-40B4-BE49-F238E27FC236}">
                    <a16:creationId xmlns:a16="http://schemas.microsoft.com/office/drawing/2014/main" id="{55B49AC7-5FD0-75BF-0EED-0413B14D75B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362862" y="4851165"/>
                <a:ext cx="8112994" cy="1152000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rmAutofit lnSpcReduction="10000"/>
              </a:bodyPr>
              <a:lstStyle>
                <a:lvl1pPr algn="ctr" defTabSz="914400">
                  <a:lnSpc>
                    <a:spcPct val="90000"/>
                  </a:lnSpc>
                  <a:spcBef>
                    <a:spcPts val="0"/>
                  </a:spcBef>
                  <a:buNone/>
                  <a:defRPr sz="60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</a:pPr>
                <a:r>
                  <a:rPr lang="en" sz="3600" dirty="0">
                    <a:latin typeface="Century Gothic" panose="020B0502020202020204" pitchFamily="34" charset="0"/>
                  </a:rPr>
                  <a:t>Basta, </a:t>
                </a:r>
                <a:r>
                  <a:rPr lang="en" sz="3600" dirty="0" err="1">
                    <a:latin typeface="Century Gothic" panose="020B0502020202020204" pitchFamily="34" charset="0"/>
                  </a:rPr>
                  <a:t>HammAli</a:t>
                </a:r>
                <a:r>
                  <a:rPr lang="en" sz="3600" dirty="0">
                    <a:latin typeface="Century Gothic" panose="020B0502020202020204" pitchFamily="34" charset="0"/>
                  </a:rPr>
                  <a:t> &amp; Navai </a:t>
                </a:r>
                <a:endParaRPr lang="ru-RU" sz="3600" dirty="0">
                  <a:latin typeface="Century Gothic" panose="020B0502020202020204" pitchFamily="34" charset="0"/>
                </a:endParaRPr>
              </a:p>
              <a:p>
                <a:pPr algn="l">
                  <a:lnSpc>
                    <a:spcPct val="100000"/>
                  </a:lnSpc>
                </a:pPr>
                <a:r>
                  <a:rPr lang="ru-RU" sz="3600" b="1" dirty="0">
                    <a:solidFill>
                      <a:srgbClr val="BDF611"/>
                    </a:solidFill>
                    <a:latin typeface="Century Gothic" panose="020B0502020202020204" pitchFamily="34" charset="0"/>
                  </a:rPr>
                  <a:t>Эта песня твоя бессонница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86374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60000"/>
              </a:srgbClr>
            </a:gs>
            <a:gs pos="38000">
              <a:srgbClr val="3E337F">
                <a:alpha val="40000"/>
              </a:srgbClr>
            </a:gs>
            <a:gs pos="62000">
              <a:srgbClr val="3E337F">
                <a:alpha val="30000"/>
              </a:srgbClr>
            </a:gs>
            <a:gs pos="99000">
              <a:srgbClr val="3E337F">
                <a:alpha val="2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5B5D2-947E-9455-5153-28F60B5DBB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69951B-A3A6-58AF-CB6A-AEB8FBB6A5AB}"/>
              </a:ext>
            </a:extLst>
          </p:cNvPr>
          <p:cNvSpPr txBox="1"/>
          <p:nvPr/>
        </p:nvSpPr>
        <p:spPr>
          <a:xfrm>
            <a:off x="2967945" y="-74229"/>
            <a:ext cx="9180718" cy="6402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3400" dirty="0">
                <a:latin typeface="Century Gothic" panose="020B0502020202020204" pitchFamily="34" charset="0"/>
              </a:rPr>
              <a:t>переводим все слова в нижний регистр </a:t>
            </a:r>
          </a:p>
          <a:p>
            <a:pPr>
              <a:lnSpc>
                <a:spcPct val="250000"/>
              </a:lnSpc>
            </a:pPr>
            <a:r>
              <a:rPr lang="ru-RU" sz="3400" dirty="0">
                <a:latin typeface="Century Gothic" panose="020B0502020202020204" pitchFamily="34" charset="0"/>
              </a:rPr>
              <a:t>удаляем переносы и знаки пунктуации</a:t>
            </a:r>
          </a:p>
          <a:p>
            <a:pPr>
              <a:lnSpc>
                <a:spcPct val="250000"/>
              </a:lnSpc>
            </a:pPr>
            <a:r>
              <a:rPr lang="ru-RU" sz="3400" dirty="0">
                <a:latin typeface="Century Gothic" panose="020B0502020202020204" pitchFamily="34" charset="0"/>
              </a:rPr>
              <a:t>делаем токенизацию </a:t>
            </a:r>
          </a:p>
          <a:p>
            <a:pPr>
              <a:lnSpc>
                <a:spcPct val="250000"/>
              </a:lnSpc>
            </a:pPr>
            <a:r>
              <a:rPr lang="ru-RU" sz="3400" dirty="0">
                <a:latin typeface="Century Gothic" panose="020B0502020202020204" pitchFamily="34" charset="0"/>
              </a:rPr>
              <a:t>делаем </a:t>
            </a:r>
            <a:r>
              <a:rPr lang="ru-RU" sz="3400" dirty="0" err="1">
                <a:latin typeface="Century Gothic" panose="020B0502020202020204" pitchFamily="34" charset="0"/>
              </a:rPr>
              <a:t>леммантизацию</a:t>
            </a:r>
            <a:r>
              <a:rPr lang="ru-RU" sz="3400" dirty="0">
                <a:latin typeface="Century Gothic" panose="020B0502020202020204" pitchFamily="34" charset="0"/>
              </a:rPr>
              <a:t> </a:t>
            </a:r>
          </a:p>
          <a:p>
            <a:pPr>
              <a:lnSpc>
                <a:spcPct val="250000"/>
              </a:lnSpc>
            </a:pPr>
            <a:r>
              <a:rPr lang="ru-RU" sz="3400" dirty="0">
                <a:latin typeface="Century Gothic" panose="020B0502020202020204" pitchFamily="34" charset="0"/>
              </a:rPr>
              <a:t>удаляем стоп-слова</a:t>
            </a:r>
          </a:p>
        </p:txBody>
      </p:sp>
      <p:sp>
        <p:nvSpPr>
          <p:cNvPr id="7" name="Заголовок 4">
            <a:extLst>
              <a:ext uri="{FF2B5EF4-FFF2-40B4-BE49-F238E27FC236}">
                <a16:creationId xmlns:a16="http://schemas.microsoft.com/office/drawing/2014/main" id="{F147F158-E29E-ACE0-3987-BA004D9FDE6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BDF611"/>
                </a:solidFill>
                <a:latin typeface="Century Gothic" panose="020B0502020202020204" pitchFamily="34" charset="0"/>
              </a:rPr>
              <a:t>ОБРАБОТКА</a:t>
            </a: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BF001FAB-4791-DCF6-D28D-2020C8D4A12D}"/>
              </a:ext>
            </a:extLst>
          </p:cNvPr>
          <p:cNvGrpSpPr/>
          <p:nvPr/>
        </p:nvGrpSpPr>
        <p:grpSpPr>
          <a:xfrm>
            <a:off x="1832477" y="459270"/>
            <a:ext cx="659218" cy="5868766"/>
            <a:chOff x="2003927" y="459270"/>
            <a:chExt cx="659218" cy="5868766"/>
          </a:xfrm>
        </p:grpSpPr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694E7928-123C-54C5-2884-B286CB0B57C0}"/>
                </a:ext>
              </a:extLst>
            </p:cNvPr>
            <p:cNvCxnSpPr>
              <a:stCxn id="17" idx="4"/>
              <a:endCxn id="18" idx="0"/>
            </p:cNvCxnSpPr>
            <p:nvPr/>
          </p:nvCxnSpPr>
          <p:spPr>
            <a:xfrm>
              <a:off x="2333536" y="1118488"/>
              <a:ext cx="0" cy="4550330"/>
            </a:xfrm>
            <a:prstGeom prst="line">
              <a:avLst/>
            </a:prstGeom>
            <a:ln w="38100">
              <a:solidFill>
                <a:srgbClr val="3E337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6BFFE9D4-68A0-7204-CC8D-3F304184CDE8}"/>
                </a:ext>
              </a:extLst>
            </p:cNvPr>
            <p:cNvSpPr/>
            <p:nvPr/>
          </p:nvSpPr>
          <p:spPr>
            <a:xfrm>
              <a:off x="2003927" y="459270"/>
              <a:ext cx="659218" cy="659218"/>
            </a:xfrm>
            <a:prstGeom prst="ellipse">
              <a:avLst/>
            </a:prstGeom>
            <a:solidFill>
              <a:srgbClr val="3E33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b="1" dirty="0">
                  <a:solidFill>
                    <a:srgbClr val="BDF611"/>
                  </a:solidFill>
                  <a:latin typeface="Century Gothic" panose="020B0502020202020204" pitchFamily="34" charset="0"/>
                </a:rPr>
                <a:t>1</a:t>
              </a:r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A4A70BF3-407E-F5F0-0FCF-7CA2FE26BA79}"/>
                </a:ext>
              </a:extLst>
            </p:cNvPr>
            <p:cNvSpPr/>
            <p:nvPr/>
          </p:nvSpPr>
          <p:spPr>
            <a:xfrm>
              <a:off x="2003927" y="5668818"/>
              <a:ext cx="659218" cy="659218"/>
            </a:xfrm>
            <a:prstGeom prst="ellipse">
              <a:avLst/>
            </a:prstGeom>
            <a:solidFill>
              <a:srgbClr val="3E33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b="1" dirty="0">
                  <a:solidFill>
                    <a:srgbClr val="BDF611"/>
                  </a:solidFill>
                  <a:latin typeface="Century Gothic" panose="020B0502020202020204" pitchFamily="34" charset="0"/>
                </a:rPr>
                <a:t>5</a:t>
              </a:r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AD01406B-8B59-6500-F4BF-4C3C3CFBB3E5}"/>
                </a:ext>
              </a:extLst>
            </p:cNvPr>
            <p:cNvSpPr/>
            <p:nvPr/>
          </p:nvSpPr>
          <p:spPr>
            <a:xfrm>
              <a:off x="2003927" y="4366431"/>
              <a:ext cx="659218" cy="659218"/>
            </a:xfrm>
            <a:prstGeom prst="ellipse">
              <a:avLst/>
            </a:prstGeom>
            <a:solidFill>
              <a:srgbClr val="3E33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b="1" dirty="0">
                  <a:solidFill>
                    <a:srgbClr val="BDF611"/>
                  </a:solidFill>
                  <a:latin typeface="Century Gothic" panose="020B0502020202020204" pitchFamily="34" charset="0"/>
                </a:rPr>
                <a:t>4</a:t>
              </a:r>
            </a:p>
          </p:txBody>
        </p:sp>
        <p:sp>
          <p:nvSpPr>
            <p:cNvPr id="20" name="Овал 19">
              <a:extLst>
                <a:ext uri="{FF2B5EF4-FFF2-40B4-BE49-F238E27FC236}">
                  <a16:creationId xmlns:a16="http://schemas.microsoft.com/office/drawing/2014/main" id="{7B2F49FA-7F55-4B6D-1830-30F86E9A039E}"/>
                </a:ext>
              </a:extLst>
            </p:cNvPr>
            <p:cNvSpPr/>
            <p:nvPr/>
          </p:nvSpPr>
          <p:spPr>
            <a:xfrm>
              <a:off x="2003927" y="3064044"/>
              <a:ext cx="659218" cy="659218"/>
            </a:xfrm>
            <a:prstGeom prst="ellipse">
              <a:avLst/>
            </a:prstGeom>
            <a:solidFill>
              <a:srgbClr val="3E33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b="1" dirty="0">
                  <a:solidFill>
                    <a:srgbClr val="BDF611"/>
                  </a:solidFill>
                  <a:latin typeface="Century Gothic" panose="020B0502020202020204" pitchFamily="34" charset="0"/>
                </a:rPr>
                <a:t>3</a:t>
              </a:r>
            </a:p>
          </p:txBody>
        </p:sp>
        <p:sp>
          <p:nvSpPr>
            <p:cNvPr id="21" name="Овал 20">
              <a:extLst>
                <a:ext uri="{FF2B5EF4-FFF2-40B4-BE49-F238E27FC236}">
                  <a16:creationId xmlns:a16="http://schemas.microsoft.com/office/drawing/2014/main" id="{3FE338A0-5AD5-7739-5900-9508DDFA1A7A}"/>
                </a:ext>
              </a:extLst>
            </p:cNvPr>
            <p:cNvSpPr/>
            <p:nvPr/>
          </p:nvSpPr>
          <p:spPr>
            <a:xfrm>
              <a:off x="2003927" y="1761657"/>
              <a:ext cx="659218" cy="659218"/>
            </a:xfrm>
            <a:prstGeom prst="ellipse">
              <a:avLst/>
            </a:prstGeom>
            <a:solidFill>
              <a:srgbClr val="3E33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b="1" dirty="0">
                  <a:solidFill>
                    <a:srgbClr val="BDF611"/>
                  </a:solidFill>
                  <a:latin typeface="Century Gothic" panose="020B0502020202020204" pitchFamily="34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907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50000"/>
              </a:srgbClr>
            </a:gs>
            <a:gs pos="18000">
              <a:srgbClr val="3E337F">
                <a:alpha val="40000"/>
              </a:srgbClr>
            </a:gs>
            <a:gs pos="38000">
              <a:srgbClr val="3E337F">
                <a:alpha val="30000"/>
              </a:srgbClr>
            </a:gs>
            <a:gs pos="100000">
              <a:srgbClr val="3E337F">
                <a:alpha val="2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13C7AA-5E20-ACB1-9AB3-1367383BB22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Заголовок 4">
            <a:extLst>
              <a:ext uri="{FF2B5EF4-FFF2-40B4-BE49-F238E27FC236}">
                <a16:creationId xmlns:a16="http://schemas.microsoft.com/office/drawing/2014/main" id="{C1690DDE-5444-731B-2191-477F7C5E1E38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5265693" y="-258618"/>
            <a:ext cx="1660614" cy="1380835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611"/>
                </a:solidFill>
                <a:latin typeface="Century Gothic" panose="020B0502020202020204" pitchFamily="34" charset="0"/>
              </a:rPr>
              <a:t>VS</a:t>
            </a:r>
            <a:endParaRPr lang="ru-RU" sz="7200" b="1" spc="600" dirty="0">
              <a:solidFill>
                <a:srgbClr val="BDF611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2E6788-4B32-568E-5EB9-B6F0B6A76BCD}"/>
              </a:ext>
            </a:extLst>
          </p:cNvPr>
          <p:cNvSpPr txBox="1"/>
          <p:nvPr/>
        </p:nvSpPr>
        <p:spPr>
          <a:xfrm>
            <a:off x="166256" y="271898"/>
            <a:ext cx="45643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3E337F"/>
                </a:solidFill>
                <a:latin typeface="Century Gothic" panose="020B0502020202020204" pitchFamily="34" charset="0"/>
              </a:rPr>
              <a:t>Оригинальный 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036AC4-40F1-8B7B-9AC3-F6340E0470D8}"/>
              </a:ext>
            </a:extLst>
          </p:cNvPr>
          <p:cNvSpPr txBox="1"/>
          <p:nvPr/>
        </p:nvSpPr>
        <p:spPr>
          <a:xfrm>
            <a:off x="7285001" y="271898"/>
            <a:ext cx="46021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3200" b="1" dirty="0">
                <a:solidFill>
                  <a:srgbClr val="3E337F"/>
                </a:solidFill>
                <a:latin typeface="Century Gothic" panose="020B0502020202020204" pitchFamily="34" charset="0"/>
              </a:rPr>
              <a:t>Обработанный код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985B-B822-A49B-CC68-D4E569934984}"/>
              </a:ext>
            </a:extLst>
          </p:cNvPr>
          <p:cNvSpPr txBox="1"/>
          <p:nvPr/>
        </p:nvSpPr>
        <p:spPr>
          <a:xfrm>
            <a:off x="166256" y="1350819"/>
            <a:ext cx="5715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2000" dirty="0">
                <a:latin typeface="Century Gothic" panose="020B0502020202020204" pitchFamily="34" charset="0"/>
              </a:rPr>
              <a:t>\n</a:t>
            </a:r>
            <a:r>
              <a:rPr lang="ru-RU" sz="2000" dirty="0">
                <a:latin typeface="Century Gothic" panose="020B0502020202020204" pitchFamily="34" charset="0"/>
              </a:rPr>
              <a:t>Тяни лотерейный билет\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Чтоб тамбур прокуренным был\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У нас с тобой выигравших нет\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Лишь бы просто дорогу к тебе не забыл, и…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6C9E6-27A6-FB63-6668-1A426F67EB3A}"/>
              </a:ext>
            </a:extLst>
          </p:cNvPr>
          <p:cNvSpPr txBox="1"/>
          <p:nvPr/>
        </p:nvSpPr>
        <p:spPr>
          <a:xfrm>
            <a:off x="166256" y="3268603"/>
            <a:ext cx="5715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2000" dirty="0">
                <a:latin typeface="Century Gothic" panose="020B0502020202020204" pitchFamily="34" charset="0"/>
              </a:rPr>
              <a:t>\n</a:t>
            </a:r>
            <a:r>
              <a:rPr lang="ru-RU" sz="2000" dirty="0">
                <a:latin typeface="Century Gothic" panose="020B0502020202020204" pitchFamily="34" charset="0"/>
              </a:rPr>
              <a:t>Я забыл, что значит ночь\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Я забыл, что значит сон\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Я забыл тебя совсем\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Я устал от всех речей\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Ты исчезла в небытии\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Ты застыла в синеве…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C2A1-8A39-7472-4B8C-D79DD3D551B6}"/>
              </a:ext>
            </a:extLst>
          </p:cNvPr>
          <p:cNvSpPr txBox="1"/>
          <p:nvPr/>
        </p:nvSpPr>
        <p:spPr>
          <a:xfrm>
            <a:off x="6601692" y="1350818"/>
            <a:ext cx="55556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Century Gothic" panose="020B0502020202020204" pitchFamily="34" charset="0"/>
              </a:rPr>
              <a:t>тянуть лотерейный билет тамбур прокурить выиграть просто дорога забыть…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14A26-3CF1-1E45-80EA-FA094E13EF24}"/>
              </a:ext>
            </a:extLst>
          </p:cNvPr>
          <p:cNvSpPr txBox="1"/>
          <p:nvPr/>
        </p:nvSpPr>
        <p:spPr>
          <a:xfrm>
            <a:off x="6601692" y="3268603"/>
            <a:ext cx="55556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Century Gothic" panose="020B0502020202020204" pitchFamily="34" charset="0"/>
              </a:rPr>
              <a:t>забыть значит ночь забыть значит сон забыть устать речь исчезнуть небытие застылый синева…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675454-B8BC-456D-BD2D-9E1399179DB2}"/>
              </a:ext>
            </a:extLst>
          </p:cNvPr>
          <p:cNvSpPr txBox="1"/>
          <p:nvPr/>
        </p:nvSpPr>
        <p:spPr>
          <a:xfrm>
            <a:off x="166256" y="5186387"/>
            <a:ext cx="5715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2000" dirty="0">
                <a:latin typeface="Century Gothic" panose="020B0502020202020204" pitchFamily="34" charset="0"/>
              </a:rPr>
              <a:t>\n</a:t>
            </a:r>
            <a:r>
              <a:rPr lang="ru-RU" sz="2000" dirty="0">
                <a:latin typeface="Century Gothic" panose="020B0502020202020204" pitchFamily="34" charset="0"/>
              </a:rPr>
              <a:t>И то, что было между нами, теперь спрятано во тьме\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Я кричу тебе: «Прости меня», но тишина в ответ\</a:t>
            </a:r>
            <a:r>
              <a:rPr lang="en" sz="2000" dirty="0">
                <a:latin typeface="Century Gothic" panose="020B0502020202020204" pitchFamily="34" charset="0"/>
              </a:rPr>
              <a:t>n</a:t>
            </a:r>
            <a:r>
              <a:rPr lang="ru-RU" sz="2000" dirty="0">
                <a:latin typeface="Century Gothic" panose="020B0502020202020204" pitchFamily="34" charset="0"/>
              </a:rPr>
              <a:t>Если можно было бы всё отмотать и не болеть…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87FF3-BF41-EB1E-E78A-58862B9F088E}"/>
              </a:ext>
            </a:extLst>
          </p:cNvPr>
          <p:cNvSpPr txBox="1"/>
          <p:nvPr/>
        </p:nvSpPr>
        <p:spPr>
          <a:xfrm>
            <a:off x="6601692" y="5186387"/>
            <a:ext cx="5555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Century Gothic" panose="020B0502020202020204" pitchFamily="34" charset="0"/>
              </a:rPr>
              <a:t>спрятать тьма кричать простить тишина ответ отмотать болеть…</a:t>
            </a:r>
          </a:p>
        </p:txBody>
      </p:sp>
    </p:spTree>
    <p:extLst>
      <p:ext uri="{BB962C8B-B14F-4D97-AF65-F5344CB8AC3E}">
        <p14:creationId xmlns:p14="http://schemas.microsoft.com/office/powerpoint/2010/main" val="128638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40000"/>
              </a:srgbClr>
            </a:gs>
            <a:gs pos="43000">
              <a:srgbClr val="3E337F">
                <a:alpha val="50000"/>
              </a:srgbClr>
            </a:gs>
            <a:gs pos="75000">
              <a:srgbClr val="3E337F">
                <a:alpha val="65000"/>
              </a:srgbClr>
            </a:gs>
            <a:gs pos="100000">
              <a:srgbClr val="3E337F">
                <a:alpha val="7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F4ECC-C655-DE4E-171D-F1F0F67296B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4F547C70-9B99-BAD0-CCD1-B5CE7B471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611"/>
                </a:solidFill>
                <a:latin typeface="Century Gothic" panose="020B0502020202020204" pitchFamily="34" charset="0"/>
              </a:rPr>
              <a:t>TF-IDF</a:t>
            </a:r>
            <a:endParaRPr lang="ru-RU" sz="7200" b="1" spc="600" dirty="0">
              <a:solidFill>
                <a:srgbClr val="BDF61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Заголовок 4">
            <a:extLst>
              <a:ext uri="{FF2B5EF4-FFF2-40B4-BE49-F238E27FC236}">
                <a16:creationId xmlns:a16="http://schemas.microsoft.com/office/drawing/2014/main" id="{B01E409E-E0C8-B950-4C70-3131296BA557}"/>
              </a:ext>
            </a:extLst>
          </p:cNvPr>
          <p:cNvSpPr txBox="1">
            <a:spLocks/>
          </p:cNvSpPr>
          <p:nvPr/>
        </p:nvSpPr>
        <p:spPr bwMode="auto">
          <a:xfrm>
            <a:off x="4046726" y="788888"/>
            <a:ext cx="9336763" cy="1558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ru-RU" sz="3600" dirty="0">
                <a:latin typeface="Century Gothic" panose="020B0502020202020204" pitchFamily="34" charset="0"/>
              </a:rPr>
              <a:t>Время вычисления</a:t>
            </a:r>
          </a:p>
          <a:p>
            <a:pPr algn="l">
              <a:lnSpc>
                <a:spcPct val="120000"/>
              </a:lnSpc>
            </a:pPr>
            <a:r>
              <a:rPr lang="ru-RU" sz="3600" b="1" dirty="0">
                <a:solidFill>
                  <a:srgbClr val="BDF611"/>
                </a:solidFill>
                <a:latin typeface="Century Gothic" panose="020B0502020202020204" pitchFamily="34" charset="0"/>
              </a:rPr>
              <a:t>0.123754 </a:t>
            </a:r>
            <a:r>
              <a:rPr lang="ru-RU" sz="3600" dirty="0">
                <a:solidFill>
                  <a:srgbClr val="BDF611"/>
                </a:solidFill>
                <a:latin typeface="Century Gothic" panose="020B0502020202020204" pitchFamily="34" charset="0"/>
              </a:rPr>
              <a:t>секунд</a:t>
            </a:r>
            <a:r>
              <a:rPr lang="ru-RU" sz="3600" b="1" dirty="0">
                <a:solidFill>
                  <a:srgbClr val="BDF611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2" name="Заголовок 4">
            <a:extLst>
              <a:ext uri="{FF2B5EF4-FFF2-40B4-BE49-F238E27FC236}">
                <a16:creationId xmlns:a16="http://schemas.microsoft.com/office/drawing/2014/main" id="{D15E9298-BB6A-09C1-E0B9-B09F5510BCB8}"/>
              </a:ext>
            </a:extLst>
          </p:cNvPr>
          <p:cNvSpPr txBox="1">
            <a:spLocks/>
          </p:cNvSpPr>
          <p:nvPr/>
        </p:nvSpPr>
        <p:spPr bwMode="auto">
          <a:xfrm>
            <a:off x="4046726" y="3699162"/>
            <a:ext cx="9336763" cy="1558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ru-RU" sz="3600" dirty="0">
                <a:latin typeface="Century Gothic" panose="020B0502020202020204" pitchFamily="34" charset="0"/>
              </a:rPr>
              <a:t>Размер </a:t>
            </a:r>
            <a:r>
              <a:rPr lang="en-US" sz="3600" dirty="0">
                <a:latin typeface="Century Gothic" panose="020B0502020202020204" pitchFamily="34" charset="0"/>
              </a:rPr>
              <a:t>TF-IDF </a:t>
            </a:r>
            <a:r>
              <a:rPr lang="ru-RU" sz="3600" dirty="0">
                <a:latin typeface="Century Gothic" panose="020B0502020202020204" pitchFamily="34" charset="0"/>
              </a:rPr>
              <a:t>матрицы</a:t>
            </a:r>
          </a:p>
          <a:p>
            <a:pPr algn="l">
              <a:lnSpc>
                <a:spcPct val="120000"/>
              </a:lnSpc>
            </a:pPr>
            <a:r>
              <a:rPr lang="ru-RU" sz="3600" b="1" dirty="0">
                <a:solidFill>
                  <a:srgbClr val="BDF611"/>
                </a:solidFill>
                <a:latin typeface="Century Gothic" panose="020B0502020202020204" pitchFamily="34" charset="0"/>
              </a:rPr>
              <a:t>(3, 232)</a:t>
            </a:r>
          </a:p>
        </p:txBody>
      </p:sp>
      <p:pic>
        <p:nvPicPr>
          <p:cNvPr id="6" name="Рисунок 5" descr="База данных со сплошной заливкой">
            <a:extLst>
              <a:ext uri="{FF2B5EF4-FFF2-40B4-BE49-F238E27FC236}">
                <a16:creationId xmlns:a16="http://schemas.microsoft.com/office/drawing/2014/main" id="{00809E7E-8EF3-394B-A35C-1454E34C65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4664" y="4208318"/>
            <a:ext cx="795600" cy="795600"/>
          </a:xfrm>
          <a:prstGeom prst="rect">
            <a:avLst/>
          </a:prstGeom>
        </p:spPr>
      </p:pic>
      <p:pic>
        <p:nvPicPr>
          <p:cNvPr id="17" name="Рисунок 16" descr="Часы со сплошной заливкой">
            <a:extLst>
              <a:ext uri="{FF2B5EF4-FFF2-40B4-BE49-F238E27FC236}">
                <a16:creationId xmlns:a16="http://schemas.microsoft.com/office/drawing/2014/main" id="{CF57A8BA-479D-CD98-6504-313316022F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4664" y="1253534"/>
            <a:ext cx="795600" cy="795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C836931-3780-C37A-1931-4C45AAAFDD64}"/>
              </a:ext>
            </a:extLst>
          </p:cNvPr>
          <p:cNvSpPr txBox="1"/>
          <p:nvPr/>
        </p:nvSpPr>
        <p:spPr>
          <a:xfrm>
            <a:off x="5194208" y="5406201"/>
            <a:ext cx="5527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Century Gothic" panose="020B0502020202020204" pitchFamily="34" charset="0"/>
              </a:rPr>
              <a:t>*в трех документах 232 уникальных слова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303B1-5506-D871-BB8A-EF9FFC21211B}"/>
              </a:ext>
            </a:extLst>
          </p:cNvPr>
          <p:cNvSpPr txBox="1"/>
          <p:nvPr/>
        </p:nvSpPr>
        <p:spPr>
          <a:xfrm>
            <a:off x="5194207" y="2495927"/>
            <a:ext cx="6074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Century Gothic" panose="020B0502020202020204" pitchFamily="34" charset="0"/>
              </a:rPr>
              <a:t>*быстро за счет небольшого корпуса текстов</a:t>
            </a:r>
          </a:p>
        </p:txBody>
      </p:sp>
    </p:spTree>
    <p:extLst>
      <p:ext uri="{BB962C8B-B14F-4D97-AF65-F5344CB8AC3E}">
        <p14:creationId xmlns:p14="http://schemas.microsoft.com/office/powerpoint/2010/main" val="346038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60000"/>
              </a:srgbClr>
            </a:gs>
            <a:gs pos="20000">
              <a:srgbClr val="BDF611">
                <a:alpha val="50000"/>
              </a:srgbClr>
            </a:gs>
            <a:gs pos="41000">
              <a:srgbClr val="BDF611">
                <a:alpha val="40000"/>
              </a:srgbClr>
            </a:gs>
            <a:gs pos="100000">
              <a:srgbClr val="BDF611">
                <a:alpha val="3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BBA6B-6254-3B82-B00E-7A24AD3E57B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8F3CDC89-6755-8EC3-B845-7CCC0D26C5FC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ru-RU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РАСПРЕДЕЛЕНИЕ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C72BD0-2897-5054-0ABF-A0DC2D8A8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2" b="835"/>
          <a:stretch>
            <a:fillRect/>
          </a:stretch>
        </p:blipFill>
        <p:spPr bwMode="auto">
          <a:xfrm>
            <a:off x="1256147" y="547564"/>
            <a:ext cx="10651835" cy="49045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0F9F4F-4718-7F83-A7F3-8B334E705E41}"/>
              </a:ext>
            </a:extLst>
          </p:cNvPr>
          <p:cNvSpPr txBox="1"/>
          <p:nvPr/>
        </p:nvSpPr>
        <p:spPr bwMode="auto">
          <a:xfrm>
            <a:off x="1646667" y="5754046"/>
            <a:ext cx="100857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Ненулевые значения </a:t>
            </a:r>
            <a:r>
              <a:rPr lang="en-US" dirty="0">
                <a:latin typeface="Century Gothic" panose="020B0502020202020204" pitchFamily="34" charset="0"/>
              </a:rPr>
              <a:t>TF-IDF </a:t>
            </a:r>
            <a:r>
              <a:rPr lang="ru-RU" dirty="0">
                <a:latin typeface="Century Gothic" panose="020B0502020202020204" pitchFamily="34" charset="0"/>
              </a:rPr>
              <a:t>в основном лежат в диапазоне от </a:t>
            </a:r>
            <a:r>
              <a:rPr lang="ru-RU" b="1" dirty="0">
                <a:latin typeface="Century Gothic" panose="020B0502020202020204" pitchFamily="34" charset="0"/>
              </a:rPr>
              <a:t>0,5 </a:t>
            </a:r>
            <a:r>
              <a:rPr lang="ru-RU" dirty="0">
                <a:latin typeface="Century Gothic" panose="020B0502020202020204" pitchFamily="34" charset="0"/>
              </a:rPr>
              <a:t>до </a:t>
            </a:r>
            <a:r>
              <a:rPr lang="ru-RU" b="1" dirty="0">
                <a:latin typeface="Century Gothic" panose="020B0502020202020204" pitchFamily="34" charset="0"/>
              </a:rPr>
              <a:t>1</a:t>
            </a:r>
            <a:r>
              <a:rPr lang="ru-RU" dirty="0">
                <a:latin typeface="Century Gothic" panose="020B0502020202020204" pitchFamily="34" charset="0"/>
              </a:rPr>
              <a:t>, что характерно для небольших корпусов документов. Максимальное значение </a:t>
            </a:r>
            <a:r>
              <a:rPr lang="en-US" dirty="0">
                <a:latin typeface="Century Gothic" panose="020B0502020202020204" pitchFamily="34" charset="0"/>
              </a:rPr>
              <a:t>TF-IDF</a:t>
            </a:r>
            <a:r>
              <a:rPr lang="ru-RU" dirty="0">
                <a:latin typeface="Century Gothic" panose="020B0502020202020204" pitchFamily="34" charset="0"/>
              </a:rPr>
              <a:t> составляет </a:t>
            </a:r>
            <a:r>
              <a:rPr lang="en-US" b="1" dirty="0">
                <a:latin typeface="Century Gothic" panose="020B0502020202020204" pitchFamily="34" charset="0"/>
              </a:rPr>
              <a:t>~</a:t>
            </a:r>
            <a:r>
              <a:rPr lang="ru-RU" b="1" dirty="0">
                <a:latin typeface="Century Gothic" panose="020B0502020202020204" pitchFamily="34" charset="0"/>
              </a:rPr>
              <a:t>0,32 </a:t>
            </a:r>
            <a:r>
              <a:rPr lang="ru-RU" dirty="0">
                <a:latin typeface="Century Gothic" panose="020B0502020202020204" pitchFamily="34" charset="0"/>
              </a:rPr>
              <a:t>– наиболее характерные слова для конкретной песни</a:t>
            </a:r>
            <a:endParaRPr lang="ru-RU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459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20000"/>
              </a:srgbClr>
            </a:gs>
            <a:gs pos="52000">
              <a:srgbClr val="BDF611">
                <a:alpha val="50000"/>
              </a:srgbClr>
            </a:gs>
            <a:gs pos="75000">
              <a:srgbClr val="BDF611">
                <a:alpha val="65000"/>
              </a:srgbClr>
            </a:gs>
            <a:gs pos="100000">
              <a:srgbClr val="BDF611">
                <a:alpha val="7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EA8658-F8DD-9544-E188-09D78364883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A77CF89-9556-C667-906E-7240814CD52F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ru-RU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РАСПРЕДЕЛЕНИЕ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B8CFF4C-8916-470C-0B62-EF761A315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42" b="-1325"/>
          <a:stretch>
            <a:fillRect/>
          </a:stretch>
        </p:blipFill>
        <p:spPr bwMode="auto">
          <a:xfrm>
            <a:off x="1256147" y="852055"/>
            <a:ext cx="10651835" cy="5548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203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80000"/>
              </a:srgbClr>
            </a:gs>
            <a:gs pos="19000">
              <a:srgbClr val="BDF611">
                <a:alpha val="70000"/>
              </a:srgbClr>
            </a:gs>
            <a:gs pos="56000">
              <a:srgbClr val="BDF611">
                <a:alpha val="50000"/>
              </a:srgbClr>
            </a:gs>
            <a:gs pos="100000">
              <a:srgbClr val="BDF611">
                <a:alpha val="3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0E9F80-1382-9D27-2412-96AA1331FA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D551903B-AACA-91AF-5017-18D67F2B2998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ru-RU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ТОП-10 СЛОВ</a:t>
            </a:r>
          </a:p>
        </p:txBody>
      </p:sp>
      <p:pic>
        <p:nvPicPr>
          <p:cNvPr id="3" name="Рисунок 2" descr="Изображение выглядит как снимок экрана, 3D-модел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8BAA6C2-D49F-B6C3-7200-804D44F9C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47" r="68815"/>
          <a:stretch>
            <a:fillRect/>
          </a:stretch>
        </p:blipFill>
        <p:spPr>
          <a:xfrm>
            <a:off x="3418373" y="375301"/>
            <a:ext cx="6953353" cy="6336000"/>
          </a:xfrm>
          <a:prstGeom prst="rect">
            <a:avLst/>
          </a:prstGeom>
        </p:spPr>
      </p:pic>
      <p:sp>
        <p:nvSpPr>
          <p:cNvPr id="9" name="Заголовок 4">
            <a:extLst>
              <a:ext uri="{FF2B5EF4-FFF2-40B4-BE49-F238E27FC236}">
                <a16:creationId xmlns:a16="http://schemas.microsoft.com/office/drawing/2014/main" id="{E7211D69-4F4D-97BD-3B8C-48ED448C41EB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613892" y="2613892"/>
            <a:ext cx="7086602" cy="18588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spc="300" dirty="0">
                <a:latin typeface="Century Gothic" panose="020B0502020202020204" pitchFamily="34" charset="0"/>
              </a:rPr>
              <a:t>ПЕСНЯ №1</a:t>
            </a:r>
          </a:p>
        </p:txBody>
      </p:sp>
    </p:spTree>
    <p:extLst>
      <p:ext uri="{BB962C8B-B14F-4D97-AF65-F5344CB8AC3E}">
        <p14:creationId xmlns:p14="http://schemas.microsoft.com/office/powerpoint/2010/main" val="3967839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80000"/>
              </a:srgbClr>
            </a:gs>
            <a:gs pos="27000">
              <a:srgbClr val="BDF611">
                <a:alpha val="60000"/>
              </a:srgbClr>
            </a:gs>
            <a:gs pos="67000">
              <a:srgbClr val="BDF611">
                <a:alpha val="40000"/>
              </a:srgbClr>
            </a:gs>
            <a:gs pos="99000">
              <a:srgbClr val="BDF611">
                <a:alpha val="2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A0B78B-C945-75FE-973A-A1A7894FF38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8D16955-8BAA-2562-D4C1-B73C17271F69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ru-RU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ТОП-10 СЛОВ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96AE766-63C1-D570-78D1-9A9B6BF91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" t="5997" r="1227"/>
          <a:stretch>
            <a:fillRect/>
          </a:stretch>
        </p:blipFill>
        <p:spPr>
          <a:xfrm>
            <a:off x="3418373" y="375301"/>
            <a:ext cx="6855463" cy="6336000"/>
          </a:xfrm>
          <a:prstGeom prst="rect">
            <a:avLst/>
          </a:prstGeom>
        </p:spPr>
      </p:pic>
      <p:sp>
        <p:nvSpPr>
          <p:cNvPr id="2" name="Заголовок 4">
            <a:extLst>
              <a:ext uri="{FF2B5EF4-FFF2-40B4-BE49-F238E27FC236}">
                <a16:creationId xmlns:a16="http://schemas.microsoft.com/office/drawing/2014/main" id="{FAAD6C08-CB97-2CAF-8D7D-8A9C31E03C5B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613892" y="2613892"/>
            <a:ext cx="7086602" cy="18588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spc="300" dirty="0">
                <a:latin typeface="Century Gothic" panose="020B0502020202020204" pitchFamily="34" charset="0"/>
              </a:rPr>
              <a:t>ПЕСНЯ №2</a:t>
            </a:r>
          </a:p>
        </p:txBody>
      </p:sp>
    </p:spTree>
    <p:extLst>
      <p:ext uri="{BB962C8B-B14F-4D97-AF65-F5344CB8AC3E}">
        <p14:creationId xmlns:p14="http://schemas.microsoft.com/office/powerpoint/2010/main" val="1922001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40000"/>
              </a:srgbClr>
            </a:gs>
            <a:gs pos="68000">
              <a:srgbClr val="BDF611">
                <a:alpha val="50000"/>
              </a:srgbClr>
            </a:gs>
            <a:gs pos="86000">
              <a:srgbClr val="BDF611">
                <a:alpha val="60000"/>
              </a:srgbClr>
            </a:gs>
            <a:gs pos="100000">
              <a:srgbClr val="BDF611">
                <a:alpha val="7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8D3A6F-57F0-1311-F394-382E6E5FE82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6B539522-D582-3B92-5459-BDF01C6E50F3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ru-RU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ТОП-10 СЛОВ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D9BFBB-32EB-620B-A4E1-8CDA57EC3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2" t="7321" r="5262"/>
          <a:stretch>
            <a:fillRect/>
          </a:stretch>
        </p:blipFill>
        <p:spPr>
          <a:xfrm>
            <a:off x="3397592" y="375301"/>
            <a:ext cx="6953353" cy="6336000"/>
          </a:xfrm>
          <a:prstGeom prst="rect">
            <a:avLst/>
          </a:prstGeom>
        </p:spPr>
      </p:pic>
      <p:sp>
        <p:nvSpPr>
          <p:cNvPr id="2" name="Заголовок 4">
            <a:extLst>
              <a:ext uri="{FF2B5EF4-FFF2-40B4-BE49-F238E27FC236}">
                <a16:creationId xmlns:a16="http://schemas.microsoft.com/office/drawing/2014/main" id="{F30EB10C-1620-69DF-1315-2585BAAE2DC1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613892" y="2613892"/>
            <a:ext cx="7086602" cy="18588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spc="300" dirty="0">
                <a:latin typeface="Century Gothic" panose="020B0502020202020204" pitchFamily="34" charset="0"/>
              </a:rPr>
              <a:t>ПЕСНЯ №3</a:t>
            </a:r>
          </a:p>
        </p:txBody>
      </p:sp>
    </p:spTree>
    <p:extLst>
      <p:ext uri="{BB962C8B-B14F-4D97-AF65-F5344CB8AC3E}">
        <p14:creationId xmlns:p14="http://schemas.microsoft.com/office/powerpoint/2010/main" val="1562260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711">
                <a:alpha val="20000"/>
              </a:srgbClr>
            </a:gs>
            <a:gs pos="15000">
              <a:srgbClr val="BDF711">
                <a:alpha val="30000"/>
              </a:srgbClr>
            </a:gs>
            <a:gs pos="38000">
              <a:srgbClr val="BDF711">
                <a:alpha val="40000"/>
              </a:srgbClr>
            </a:gs>
            <a:gs pos="100000">
              <a:srgbClr val="BDF711">
                <a:alpha val="5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6E7FE-1FE4-5B3B-0EF4-2C61B444090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B1C5FE69-AF3A-F71A-B139-0370F1C98D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СРАВНЕНИЕ</a:t>
            </a:r>
          </a:p>
        </p:txBody>
      </p:sp>
      <p:sp>
        <p:nvSpPr>
          <p:cNvPr id="10" name="Заголовок 4">
            <a:extLst>
              <a:ext uri="{FF2B5EF4-FFF2-40B4-BE49-F238E27FC236}">
                <a16:creationId xmlns:a16="http://schemas.microsoft.com/office/drawing/2014/main" id="{556FDB05-579B-785D-1FB7-6DF64984D46E}"/>
              </a:ext>
            </a:extLst>
          </p:cNvPr>
          <p:cNvSpPr txBox="1">
            <a:spLocks/>
          </p:cNvSpPr>
          <p:nvPr/>
        </p:nvSpPr>
        <p:spPr bwMode="auto">
          <a:xfrm>
            <a:off x="4299949" y="462779"/>
            <a:ext cx="2269668" cy="68821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3E337F"/>
                </a:solidFill>
                <a:latin typeface="Century Gothic" panose="020B0502020202020204" pitchFamily="34" charset="0"/>
              </a:rPr>
              <a:t>вычислительная сложность</a:t>
            </a:r>
          </a:p>
        </p:txBody>
      </p:sp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09D1FFE3-8D34-97DA-2C86-73DEFCA610DC}"/>
              </a:ext>
            </a:extLst>
          </p:cNvPr>
          <p:cNvSpPr txBox="1">
            <a:spLocks/>
          </p:cNvSpPr>
          <p:nvPr/>
        </p:nvSpPr>
        <p:spPr bwMode="auto">
          <a:xfrm>
            <a:off x="6998600" y="462779"/>
            <a:ext cx="2269668" cy="68821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3E337F"/>
                </a:solidFill>
                <a:latin typeface="Century Gothic" panose="020B0502020202020204" pitchFamily="34" charset="0"/>
              </a:rPr>
              <a:t>качество представления</a:t>
            </a:r>
          </a:p>
        </p:txBody>
      </p:sp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3E831CF-200F-BC1E-A7EF-53AB78398E57}"/>
              </a:ext>
            </a:extLst>
          </p:cNvPr>
          <p:cNvSpPr txBox="1">
            <a:spLocks/>
          </p:cNvSpPr>
          <p:nvPr/>
        </p:nvSpPr>
        <p:spPr bwMode="auto">
          <a:xfrm>
            <a:off x="9697250" y="462779"/>
            <a:ext cx="2269668" cy="68821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dirty="0" err="1">
                <a:solidFill>
                  <a:srgbClr val="3E337F"/>
                </a:solidFill>
                <a:latin typeface="Century Gothic" panose="020B0502020202020204" pitchFamily="34" charset="0"/>
              </a:rPr>
              <a:t>интерпрети-руемость</a:t>
            </a:r>
            <a:endParaRPr lang="ru-RU" sz="2000" dirty="0">
              <a:solidFill>
                <a:srgbClr val="3E337F"/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5E5F9F53-8480-3E7F-3739-BB9EE973E758}"/>
              </a:ext>
            </a:extLst>
          </p:cNvPr>
          <p:cNvCxnSpPr>
            <a:cxnSpLocks/>
          </p:cNvCxnSpPr>
          <p:nvPr/>
        </p:nvCxnSpPr>
        <p:spPr>
          <a:xfrm flipH="1">
            <a:off x="1629547" y="2470640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79C29E64-E868-6C5B-0C43-1CC9C00ADBE1}"/>
              </a:ext>
            </a:extLst>
          </p:cNvPr>
          <p:cNvCxnSpPr>
            <a:cxnSpLocks/>
          </p:cNvCxnSpPr>
          <p:nvPr/>
        </p:nvCxnSpPr>
        <p:spPr>
          <a:xfrm flipH="1">
            <a:off x="1629547" y="3635328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4">
            <a:extLst>
              <a:ext uri="{FF2B5EF4-FFF2-40B4-BE49-F238E27FC236}">
                <a16:creationId xmlns:a16="http://schemas.microsoft.com/office/drawing/2014/main" id="{E8A82AB4-C705-72AF-2FBB-3F7E7BAC2841}"/>
              </a:ext>
            </a:extLst>
          </p:cNvPr>
          <p:cNvSpPr txBox="1">
            <a:spLocks/>
          </p:cNvSpPr>
          <p:nvPr/>
        </p:nvSpPr>
        <p:spPr bwMode="auto">
          <a:xfrm>
            <a:off x="1733637" y="1684588"/>
            <a:ext cx="2328925" cy="4074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sz="2200" b="1" dirty="0">
                <a:latin typeface="Century Gothic" panose="020B0502020202020204" pitchFamily="34" charset="0"/>
              </a:rPr>
              <a:t>TF-IDF</a:t>
            </a:r>
            <a:endParaRPr lang="ru-RU" sz="2200" b="1" dirty="0">
              <a:latin typeface="Century Gothic" panose="020B0502020202020204" pitchFamily="34" charset="0"/>
            </a:endParaRPr>
          </a:p>
        </p:txBody>
      </p:sp>
      <p:sp>
        <p:nvSpPr>
          <p:cNvPr id="20" name="Заголовок 4">
            <a:extLst>
              <a:ext uri="{FF2B5EF4-FFF2-40B4-BE49-F238E27FC236}">
                <a16:creationId xmlns:a16="http://schemas.microsoft.com/office/drawing/2014/main" id="{622574D2-5376-00C7-80D1-86F342E78911}"/>
              </a:ext>
            </a:extLst>
          </p:cNvPr>
          <p:cNvSpPr txBox="1">
            <a:spLocks/>
          </p:cNvSpPr>
          <p:nvPr/>
        </p:nvSpPr>
        <p:spPr bwMode="auto">
          <a:xfrm>
            <a:off x="1733636" y="2849277"/>
            <a:ext cx="2796161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sz="2200" b="1" dirty="0" err="1">
                <a:latin typeface="Century Gothic" panose="020B0502020202020204" pitchFamily="34" charset="0"/>
              </a:rPr>
              <a:t>CountVectorizer</a:t>
            </a:r>
            <a:endParaRPr lang="ru-RU" sz="2200" b="1" dirty="0">
              <a:latin typeface="Century Gothic" panose="020B0502020202020204" pitchFamily="34" charset="0"/>
            </a:endParaRPr>
          </a:p>
        </p:txBody>
      </p:sp>
      <p:sp>
        <p:nvSpPr>
          <p:cNvPr id="21" name="Заголовок 4">
            <a:extLst>
              <a:ext uri="{FF2B5EF4-FFF2-40B4-BE49-F238E27FC236}">
                <a16:creationId xmlns:a16="http://schemas.microsoft.com/office/drawing/2014/main" id="{F38B97E8-679F-BD30-4D5B-B6FCD0CDDEFF}"/>
              </a:ext>
            </a:extLst>
          </p:cNvPr>
          <p:cNvSpPr txBox="1">
            <a:spLocks/>
          </p:cNvSpPr>
          <p:nvPr/>
        </p:nvSpPr>
        <p:spPr bwMode="auto">
          <a:xfrm>
            <a:off x="1733636" y="4013965"/>
            <a:ext cx="2796161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sz="2200" b="1" dirty="0">
                <a:latin typeface="Century Gothic" panose="020B0502020202020204" pitchFamily="34" charset="0"/>
              </a:rPr>
              <a:t>Word2Vec</a:t>
            </a:r>
            <a:endParaRPr lang="ru-RU" sz="2200" b="1" dirty="0">
              <a:latin typeface="Century Gothic" panose="020B0502020202020204" pitchFamily="34" charset="0"/>
            </a:endParaRP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042D22EE-270C-A326-CD7D-344254900511}"/>
              </a:ext>
            </a:extLst>
          </p:cNvPr>
          <p:cNvCxnSpPr>
            <a:cxnSpLocks/>
          </p:cNvCxnSpPr>
          <p:nvPr/>
        </p:nvCxnSpPr>
        <p:spPr>
          <a:xfrm flipH="1">
            <a:off x="1629547" y="1305951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1C356096-DB87-9518-19C3-9A79A9B5D1BA}"/>
              </a:ext>
            </a:extLst>
          </p:cNvPr>
          <p:cNvCxnSpPr>
            <a:cxnSpLocks/>
          </p:cNvCxnSpPr>
          <p:nvPr/>
        </p:nvCxnSpPr>
        <p:spPr>
          <a:xfrm flipH="1">
            <a:off x="1629547" y="5964701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C256F9C-C746-1E23-AF27-F62E8C321738}"/>
              </a:ext>
            </a:extLst>
          </p:cNvPr>
          <p:cNvCxnSpPr>
            <a:cxnSpLocks/>
          </p:cNvCxnSpPr>
          <p:nvPr/>
        </p:nvCxnSpPr>
        <p:spPr>
          <a:xfrm flipH="1">
            <a:off x="1629547" y="328246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5D83193D-39D6-50E7-0658-140312A5EDBC}"/>
              </a:ext>
            </a:extLst>
          </p:cNvPr>
          <p:cNvCxnSpPr>
            <a:cxnSpLocks/>
          </p:cNvCxnSpPr>
          <p:nvPr/>
        </p:nvCxnSpPr>
        <p:spPr>
          <a:xfrm flipV="1">
            <a:off x="1629547" y="327101"/>
            <a:ext cx="0" cy="56376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3897ED25-1533-0DC0-D894-C2A7A009AE7C}"/>
              </a:ext>
            </a:extLst>
          </p:cNvPr>
          <p:cNvCxnSpPr>
            <a:cxnSpLocks/>
          </p:cNvCxnSpPr>
          <p:nvPr/>
        </p:nvCxnSpPr>
        <p:spPr>
          <a:xfrm flipV="1">
            <a:off x="11889547" y="328245"/>
            <a:ext cx="0" cy="56376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1AB424B-A889-C0F4-E494-B7C64932AC7C}"/>
              </a:ext>
            </a:extLst>
          </p:cNvPr>
          <p:cNvCxnSpPr>
            <a:cxnSpLocks/>
          </p:cNvCxnSpPr>
          <p:nvPr/>
        </p:nvCxnSpPr>
        <p:spPr>
          <a:xfrm flipH="1">
            <a:off x="1629547" y="4800016"/>
            <a:ext cx="102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Заголовок 4">
            <a:extLst>
              <a:ext uri="{FF2B5EF4-FFF2-40B4-BE49-F238E27FC236}">
                <a16:creationId xmlns:a16="http://schemas.microsoft.com/office/drawing/2014/main" id="{0A9B43ED-6AFA-6602-6828-C84728712812}"/>
              </a:ext>
            </a:extLst>
          </p:cNvPr>
          <p:cNvSpPr txBox="1">
            <a:spLocks/>
          </p:cNvSpPr>
          <p:nvPr/>
        </p:nvSpPr>
        <p:spPr bwMode="auto">
          <a:xfrm>
            <a:off x="1733636" y="5178653"/>
            <a:ext cx="2796161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sz="2200" b="1" dirty="0">
                <a:latin typeface="Century Gothic" panose="020B0502020202020204" pitchFamily="34" charset="0"/>
              </a:rPr>
              <a:t>Word2Vec</a:t>
            </a:r>
            <a:endParaRPr lang="ru-RU" sz="2200" b="1" dirty="0">
              <a:latin typeface="Century Gothic" panose="020B0502020202020204" pitchFamily="34" charset="0"/>
            </a:endParaRP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F9BEEBA-BCB5-AF4F-720E-C55D6F3B8FBE}"/>
              </a:ext>
            </a:extLst>
          </p:cNvPr>
          <p:cNvSpPr>
            <a:spLocks noChangeAspect="1"/>
          </p:cNvSpPr>
          <p:nvPr/>
        </p:nvSpPr>
        <p:spPr bwMode="auto">
          <a:xfrm>
            <a:off x="5146783" y="1600295"/>
            <a:ext cx="576000" cy="576000"/>
          </a:xfrm>
          <a:prstGeom prst="ellipse">
            <a:avLst/>
          </a:prstGeom>
          <a:solidFill>
            <a:srgbClr val="A193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F49585F-D573-3C58-B23D-9257C493F5AA}"/>
              </a:ext>
            </a:extLst>
          </p:cNvPr>
          <p:cNvSpPr>
            <a:spLocks noChangeAspect="1"/>
          </p:cNvSpPr>
          <p:nvPr/>
        </p:nvSpPr>
        <p:spPr bwMode="auto">
          <a:xfrm>
            <a:off x="5146783" y="2764983"/>
            <a:ext cx="576000" cy="576000"/>
          </a:xfrm>
          <a:prstGeom prst="ellipse">
            <a:avLst/>
          </a:prstGeom>
          <a:solidFill>
            <a:srgbClr val="6F63B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25FC7ABF-DFED-3C59-A7DB-F7630F5D6433}"/>
              </a:ext>
            </a:extLst>
          </p:cNvPr>
          <p:cNvSpPr>
            <a:spLocks noChangeAspect="1"/>
          </p:cNvSpPr>
          <p:nvPr/>
        </p:nvSpPr>
        <p:spPr bwMode="auto">
          <a:xfrm>
            <a:off x="5146783" y="3929671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23F1796C-93F8-5A04-5F8A-67CA83A2EA3B}"/>
              </a:ext>
            </a:extLst>
          </p:cNvPr>
          <p:cNvSpPr>
            <a:spLocks noChangeAspect="1"/>
          </p:cNvSpPr>
          <p:nvPr/>
        </p:nvSpPr>
        <p:spPr bwMode="auto">
          <a:xfrm>
            <a:off x="5146783" y="5094359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D4DF53-A1F1-5A87-F439-9A878B09355D}"/>
              </a:ext>
            </a:extLst>
          </p:cNvPr>
          <p:cNvSpPr>
            <a:spLocks noChangeAspect="1"/>
          </p:cNvSpPr>
          <p:nvPr/>
        </p:nvSpPr>
        <p:spPr bwMode="auto">
          <a:xfrm>
            <a:off x="7845434" y="1600295"/>
            <a:ext cx="576000" cy="576000"/>
          </a:xfrm>
          <a:prstGeom prst="ellipse">
            <a:avLst/>
          </a:prstGeom>
          <a:solidFill>
            <a:srgbClr val="A193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8BA002B3-CB34-999E-17A1-B2A813273FC3}"/>
              </a:ext>
            </a:extLst>
          </p:cNvPr>
          <p:cNvSpPr>
            <a:spLocks noChangeAspect="1"/>
          </p:cNvSpPr>
          <p:nvPr/>
        </p:nvSpPr>
        <p:spPr bwMode="auto">
          <a:xfrm>
            <a:off x="7845434" y="2764983"/>
            <a:ext cx="576000" cy="576000"/>
          </a:xfrm>
          <a:prstGeom prst="ellipse">
            <a:avLst/>
          </a:prstGeom>
          <a:solidFill>
            <a:srgbClr val="6F63B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EFC88566-F76B-9937-CEC5-2AD80288B282}"/>
              </a:ext>
            </a:extLst>
          </p:cNvPr>
          <p:cNvSpPr>
            <a:spLocks noChangeAspect="1"/>
          </p:cNvSpPr>
          <p:nvPr/>
        </p:nvSpPr>
        <p:spPr bwMode="auto">
          <a:xfrm>
            <a:off x="7845434" y="3929671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D4E34D08-872F-B87E-7062-1C01BF56C144}"/>
              </a:ext>
            </a:extLst>
          </p:cNvPr>
          <p:cNvSpPr>
            <a:spLocks noChangeAspect="1"/>
          </p:cNvSpPr>
          <p:nvPr/>
        </p:nvSpPr>
        <p:spPr bwMode="auto">
          <a:xfrm>
            <a:off x="7845434" y="5094359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C7E16024-F7F0-E3AC-ECB6-D239633BB822}"/>
              </a:ext>
            </a:extLst>
          </p:cNvPr>
          <p:cNvSpPr>
            <a:spLocks noChangeAspect="1"/>
          </p:cNvSpPr>
          <p:nvPr/>
        </p:nvSpPr>
        <p:spPr bwMode="auto">
          <a:xfrm>
            <a:off x="10544084" y="1600295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7CA29A89-71BA-B794-A973-D60A02E1242B}"/>
              </a:ext>
            </a:extLst>
          </p:cNvPr>
          <p:cNvSpPr>
            <a:spLocks noChangeAspect="1"/>
          </p:cNvSpPr>
          <p:nvPr/>
        </p:nvSpPr>
        <p:spPr bwMode="auto">
          <a:xfrm>
            <a:off x="10544084" y="2764983"/>
            <a:ext cx="576000" cy="576000"/>
          </a:xfrm>
          <a:prstGeom prst="ellipse">
            <a:avLst/>
          </a:prstGeom>
          <a:solidFill>
            <a:srgbClr val="1F1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1C1FD5B8-0460-732F-3C5D-0E270EDBABA8}"/>
              </a:ext>
            </a:extLst>
          </p:cNvPr>
          <p:cNvSpPr>
            <a:spLocks noChangeAspect="1"/>
          </p:cNvSpPr>
          <p:nvPr/>
        </p:nvSpPr>
        <p:spPr bwMode="auto">
          <a:xfrm>
            <a:off x="10544084" y="3929671"/>
            <a:ext cx="576000" cy="576000"/>
          </a:xfrm>
          <a:prstGeom prst="ellipse">
            <a:avLst/>
          </a:prstGeom>
          <a:solidFill>
            <a:srgbClr val="A193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464F9EC9-B25D-255C-82B1-C430056A43BF}"/>
              </a:ext>
            </a:extLst>
          </p:cNvPr>
          <p:cNvSpPr>
            <a:spLocks noChangeAspect="1"/>
          </p:cNvSpPr>
          <p:nvPr/>
        </p:nvSpPr>
        <p:spPr bwMode="auto">
          <a:xfrm>
            <a:off x="10544084" y="5094359"/>
            <a:ext cx="576000" cy="576000"/>
          </a:xfrm>
          <a:prstGeom prst="ellipse">
            <a:avLst/>
          </a:prstGeom>
          <a:solidFill>
            <a:srgbClr val="A193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5E106AEC-3C3E-4675-4E59-23B8DBC5AECE}"/>
              </a:ext>
            </a:extLst>
          </p:cNvPr>
          <p:cNvGrpSpPr/>
          <p:nvPr/>
        </p:nvGrpSpPr>
        <p:grpSpPr>
          <a:xfrm>
            <a:off x="2028572" y="6216382"/>
            <a:ext cx="1769032" cy="384561"/>
            <a:chOff x="2028572" y="6223997"/>
            <a:chExt cx="1769032" cy="384561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27261AA-B85F-B23B-3E30-5D0F55424F08}"/>
                </a:ext>
              </a:extLst>
            </p:cNvPr>
            <p:cNvSpPr txBox="1"/>
            <p:nvPr/>
          </p:nvSpPr>
          <p:spPr bwMode="auto">
            <a:xfrm>
              <a:off x="2424668" y="6223997"/>
              <a:ext cx="1372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entury Gothic" panose="020B0502020202020204" pitchFamily="34" charset="0"/>
                </a:rPr>
                <a:t>низкий</a:t>
              </a:r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53367622-3B81-B823-0AE0-DE9B09AC4D0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028572" y="6248558"/>
              <a:ext cx="360000" cy="360000"/>
            </a:xfrm>
            <a:prstGeom prst="ellipse">
              <a:avLst/>
            </a:prstGeom>
            <a:solidFill>
              <a:srgbClr val="A193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2F73C5D1-842C-FF15-A26A-BBD109EAF35F}"/>
              </a:ext>
            </a:extLst>
          </p:cNvPr>
          <p:cNvGrpSpPr/>
          <p:nvPr/>
        </p:nvGrpSpPr>
        <p:grpSpPr>
          <a:xfrm>
            <a:off x="6020859" y="6223997"/>
            <a:ext cx="1769032" cy="384561"/>
            <a:chOff x="5977726" y="6223997"/>
            <a:chExt cx="1769032" cy="38456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15F5D5E-2A23-4556-EEAB-A3DE73062024}"/>
                </a:ext>
              </a:extLst>
            </p:cNvPr>
            <p:cNvSpPr txBox="1"/>
            <p:nvPr/>
          </p:nvSpPr>
          <p:spPr bwMode="auto">
            <a:xfrm>
              <a:off x="6373822" y="6223997"/>
              <a:ext cx="1372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entury Gothic" panose="020B0502020202020204" pitchFamily="34" charset="0"/>
                </a:rPr>
                <a:t>средний</a:t>
              </a:r>
            </a:p>
          </p:txBody>
        </p:sp>
        <p:sp>
          <p:nvSpPr>
            <p:cNvPr id="34" name="Овал 33">
              <a:extLst>
                <a:ext uri="{FF2B5EF4-FFF2-40B4-BE49-F238E27FC236}">
                  <a16:creationId xmlns:a16="http://schemas.microsoft.com/office/drawing/2014/main" id="{9BE4128D-1EEC-EC33-34FE-E823D8D2F80F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977726" y="6248558"/>
              <a:ext cx="360000" cy="360000"/>
            </a:xfrm>
            <a:prstGeom prst="ellipse">
              <a:avLst/>
            </a:prstGeom>
            <a:solidFill>
              <a:srgbClr val="6F63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2CE5B9C1-1671-1BE8-D110-E3B09AD2F902}"/>
              </a:ext>
            </a:extLst>
          </p:cNvPr>
          <p:cNvGrpSpPr/>
          <p:nvPr/>
        </p:nvGrpSpPr>
        <p:grpSpPr>
          <a:xfrm>
            <a:off x="10013145" y="6223997"/>
            <a:ext cx="1769032" cy="369332"/>
            <a:chOff x="10013145" y="6223997"/>
            <a:chExt cx="1769032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C317537-91AA-DCCF-18FD-A17D6F42050C}"/>
                </a:ext>
              </a:extLst>
            </p:cNvPr>
            <p:cNvSpPr txBox="1"/>
            <p:nvPr/>
          </p:nvSpPr>
          <p:spPr bwMode="auto">
            <a:xfrm>
              <a:off x="10409241" y="6223997"/>
              <a:ext cx="1372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entury Gothic" panose="020B0502020202020204" pitchFamily="34" charset="0"/>
                </a:rPr>
                <a:t>высокий</a:t>
              </a: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DA95C77-1BE7-C46D-4043-30C5A9F4C5F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0013145" y="6228663"/>
              <a:ext cx="360000" cy="360000"/>
            </a:xfrm>
            <a:prstGeom prst="ellipse">
              <a:avLst/>
            </a:prstGeom>
            <a:solidFill>
              <a:srgbClr val="1F1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9511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80000"/>
              </a:srgbClr>
            </a:gs>
            <a:gs pos="22000">
              <a:srgbClr val="3E337F">
                <a:alpha val="65000"/>
              </a:srgbClr>
            </a:gs>
            <a:gs pos="68000">
              <a:srgbClr val="3E337F">
                <a:alpha val="50000"/>
              </a:srgbClr>
            </a:gs>
            <a:gs pos="100000">
              <a:srgbClr val="3E337F">
                <a:alpha val="4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D2FA9-E034-15F4-3236-B27CEAD68C7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54A9ABF9-10A2-2C76-93BA-43E54B1B6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ВРЕМЯ</a:t>
            </a:r>
          </a:p>
        </p:txBody>
      </p:sp>
      <p:sp>
        <p:nvSpPr>
          <p:cNvPr id="20" name="Заголовок 4">
            <a:extLst>
              <a:ext uri="{FF2B5EF4-FFF2-40B4-BE49-F238E27FC236}">
                <a16:creationId xmlns:a16="http://schemas.microsoft.com/office/drawing/2014/main" id="{758A1968-244D-3F90-4668-9A0BF4A468EA}"/>
              </a:ext>
            </a:extLst>
          </p:cNvPr>
          <p:cNvSpPr txBox="1">
            <a:spLocks/>
          </p:cNvSpPr>
          <p:nvPr/>
        </p:nvSpPr>
        <p:spPr bwMode="auto">
          <a:xfrm>
            <a:off x="3311862" y="2652676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800" dirty="0" err="1">
                <a:latin typeface="Century Gothic" panose="020B0502020202020204" pitchFamily="34" charset="0"/>
              </a:rPr>
              <a:t>CountVectorizer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978E59C-5A8B-A9CC-DE21-4ADD81DCB516}"/>
              </a:ext>
            </a:extLst>
          </p:cNvPr>
          <p:cNvSpPr>
            <a:spLocks noChangeAspect="1"/>
          </p:cNvSpPr>
          <p:nvPr/>
        </p:nvSpPr>
        <p:spPr bwMode="auto">
          <a:xfrm>
            <a:off x="3969229" y="399485"/>
            <a:ext cx="2016000" cy="2016000"/>
          </a:xfrm>
          <a:prstGeom prst="ellipse">
            <a:avLst/>
          </a:prstGeom>
          <a:solidFill>
            <a:srgbClr val="BDF711"/>
          </a:solidFill>
          <a:ln>
            <a:solidFill>
              <a:srgbClr val="3E337F"/>
            </a:solidFill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0.00</a:t>
            </a:r>
            <a:r>
              <a:rPr lang="en-U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8</a:t>
            </a:r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6" name="Заголовок 4">
            <a:extLst>
              <a:ext uri="{FF2B5EF4-FFF2-40B4-BE49-F238E27FC236}">
                <a16:creationId xmlns:a16="http://schemas.microsoft.com/office/drawing/2014/main" id="{6A458E24-85FC-377E-30F0-56DE0EC82F02}"/>
              </a:ext>
            </a:extLst>
          </p:cNvPr>
          <p:cNvSpPr txBox="1">
            <a:spLocks/>
          </p:cNvSpPr>
          <p:nvPr/>
        </p:nvSpPr>
        <p:spPr bwMode="auto">
          <a:xfrm>
            <a:off x="8137177" y="2652676"/>
            <a:ext cx="2774171" cy="4074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800" dirty="0">
                <a:latin typeface="Century Gothic" panose="020B0502020202020204" pitchFamily="34" charset="0"/>
              </a:rPr>
              <a:t>TF-IDF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4643A016-050C-8685-B012-F102A94D872E}"/>
              </a:ext>
            </a:extLst>
          </p:cNvPr>
          <p:cNvSpPr>
            <a:spLocks noChangeAspect="1"/>
          </p:cNvSpPr>
          <p:nvPr/>
        </p:nvSpPr>
        <p:spPr bwMode="auto">
          <a:xfrm>
            <a:off x="8516262" y="399485"/>
            <a:ext cx="2016000" cy="2016000"/>
          </a:xfrm>
          <a:prstGeom prst="ellipse">
            <a:avLst/>
          </a:prstGeom>
          <a:solidFill>
            <a:srgbClr val="BDF711"/>
          </a:solidFill>
          <a:ln>
            <a:solidFill>
              <a:srgbClr val="3E337F"/>
            </a:solidFill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0.0</a:t>
            </a:r>
            <a:r>
              <a:rPr lang="en-U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15</a:t>
            </a:r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1" name="Заголовок 4">
            <a:extLst>
              <a:ext uri="{FF2B5EF4-FFF2-40B4-BE49-F238E27FC236}">
                <a16:creationId xmlns:a16="http://schemas.microsoft.com/office/drawing/2014/main" id="{BA38B5FF-6C89-83EC-EEC3-BB0561B75089}"/>
              </a:ext>
            </a:extLst>
          </p:cNvPr>
          <p:cNvSpPr txBox="1">
            <a:spLocks/>
          </p:cNvSpPr>
          <p:nvPr/>
        </p:nvSpPr>
        <p:spPr bwMode="auto">
          <a:xfrm>
            <a:off x="3311862" y="5940905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800" dirty="0">
                <a:latin typeface="Century Gothic" panose="020B0502020202020204" pitchFamily="34" charset="0"/>
              </a:rPr>
              <a:t>Word2Vec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C2C3383A-B06B-73DD-E621-E3D05018530F}"/>
              </a:ext>
            </a:extLst>
          </p:cNvPr>
          <p:cNvSpPr>
            <a:spLocks noChangeAspect="1"/>
          </p:cNvSpPr>
          <p:nvPr/>
        </p:nvSpPr>
        <p:spPr bwMode="auto">
          <a:xfrm>
            <a:off x="3969229" y="3704776"/>
            <a:ext cx="2016000" cy="2016000"/>
          </a:xfrm>
          <a:prstGeom prst="ellipse">
            <a:avLst/>
          </a:prstGeom>
          <a:solidFill>
            <a:srgbClr val="BDF711"/>
          </a:solidFill>
          <a:ln>
            <a:solidFill>
              <a:srgbClr val="3E337F"/>
            </a:solidFill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0.0</a:t>
            </a:r>
            <a:r>
              <a:rPr lang="en-U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25</a:t>
            </a:r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4BF8C564-87BD-96C4-89A4-32DE66086E76}"/>
              </a:ext>
            </a:extLst>
          </p:cNvPr>
          <p:cNvSpPr txBox="1">
            <a:spLocks/>
          </p:cNvSpPr>
          <p:nvPr/>
        </p:nvSpPr>
        <p:spPr bwMode="auto">
          <a:xfrm>
            <a:off x="7858895" y="5940905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800" dirty="0">
                <a:latin typeface="Century Gothic" panose="020B0502020202020204" pitchFamily="34" charset="0"/>
              </a:rPr>
              <a:t>Doc2Vec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D294D691-325A-8524-57FD-0ABF7D23D46A}"/>
              </a:ext>
            </a:extLst>
          </p:cNvPr>
          <p:cNvSpPr>
            <a:spLocks noChangeAspect="1"/>
          </p:cNvSpPr>
          <p:nvPr/>
        </p:nvSpPr>
        <p:spPr bwMode="auto">
          <a:xfrm>
            <a:off x="8516262" y="3704776"/>
            <a:ext cx="2016000" cy="2016000"/>
          </a:xfrm>
          <a:prstGeom prst="ellipse">
            <a:avLst/>
          </a:prstGeom>
          <a:solidFill>
            <a:srgbClr val="BDF711"/>
          </a:solidFill>
          <a:ln>
            <a:solidFill>
              <a:srgbClr val="3E337F"/>
            </a:solidFill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0.</a:t>
            </a:r>
            <a:r>
              <a:rPr lang="en-U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123</a:t>
            </a:r>
            <a:endParaRPr lang="ru-RU" sz="28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22" name="Заголовок 4">
            <a:extLst>
              <a:ext uri="{FF2B5EF4-FFF2-40B4-BE49-F238E27FC236}">
                <a16:creationId xmlns:a16="http://schemas.microsoft.com/office/drawing/2014/main" id="{5AA5438B-DB64-E6FC-6339-20294DD8BFB4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235202" y="2235202"/>
            <a:ext cx="6858004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7200" b="1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ВЫЧИСЛЕНИЯ</a:t>
            </a:r>
          </a:p>
        </p:txBody>
      </p:sp>
    </p:spTree>
    <p:extLst>
      <p:ext uri="{BB962C8B-B14F-4D97-AF65-F5344CB8AC3E}">
        <p14:creationId xmlns:p14="http://schemas.microsoft.com/office/powerpoint/2010/main" val="1779448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711">
                <a:alpha val="50000"/>
              </a:srgbClr>
            </a:gs>
            <a:gs pos="11000">
              <a:srgbClr val="BDF711">
                <a:alpha val="40000"/>
              </a:srgbClr>
            </a:gs>
            <a:gs pos="35000">
              <a:srgbClr val="BDF711">
                <a:alpha val="30000"/>
              </a:srgbClr>
            </a:gs>
            <a:gs pos="71000">
              <a:srgbClr val="BDF711">
                <a:alpha val="2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DB8E7B-B82B-195C-DF85-2935E26CE05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803ABBB6-10B9-FFD5-12D0-AA4A2C4F7B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СХОЖЕСТЬ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DF152E-BB96-794D-17D4-DA3888635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12" b="52358"/>
          <a:stretch>
            <a:fillRect/>
          </a:stretch>
        </p:blipFill>
        <p:spPr>
          <a:xfrm>
            <a:off x="10905067" y="493671"/>
            <a:ext cx="1286933" cy="587065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7175ADF-0F45-4ED4-982D-9EA3C502B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71"/>
          <a:stretch>
            <a:fillRect/>
          </a:stretch>
        </p:blipFill>
        <p:spPr>
          <a:xfrm>
            <a:off x="1699234" y="193628"/>
            <a:ext cx="4031991" cy="645865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32C2319-05EA-09DA-7DF7-3845C8B173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6493538" y="193628"/>
            <a:ext cx="4053959" cy="645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205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21000">
              <a:srgbClr val="3E337F">
                <a:alpha val="65000"/>
              </a:srgbClr>
            </a:gs>
            <a:gs pos="54000">
              <a:srgbClr val="3E337F">
                <a:alpha val="50000"/>
              </a:srgbClr>
            </a:gs>
            <a:gs pos="99000">
              <a:srgbClr val="3E337F">
                <a:alpha val="45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C0BE30-07CD-157E-3EE5-FE83B97E088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9EE25FF-7618-451A-1ADE-768F8C583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t-SNE</a:t>
            </a:r>
            <a:endParaRPr lang="ru-RU" sz="72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8F3220-EA14-F1B0-39C2-FD9B3E705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994856" y="247960"/>
            <a:ext cx="8214331" cy="6362080"/>
          </a:xfrm>
          <a:prstGeom prst="rect">
            <a:avLst/>
          </a:prstGeom>
        </p:spPr>
      </p:pic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3F2DEFBB-9C90-8ECB-3559-42173A06192C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 err="1">
                <a:solidFill>
                  <a:srgbClr val="BDF711"/>
                </a:solidFill>
                <a:latin typeface="Century Gothic" panose="020B0502020202020204" pitchFamily="34" charset="0"/>
              </a:rPr>
              <a:t>CountVectorizer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918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11000">
              <a:srgbClr val="3E337F">
                <a:alpha val="60000"/>
              </a:srgbClr>
            </a:gs>
            <a:gs pos="65000">
              <a:srgbClr val="3E337F">
                <a:alpha val="50000"/>
              </a:srgbClr>
            </a:gs>
            <a:gs pos="100000">
              <a:srgbClr val="3E337F">
                <a:alpha val="4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7DBB5-7D89-A17F-165C-7C716BF5581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D676AE2-99E2-535F-3265-19A9427375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t-SNE</a:t>
            </a:r>
            <a:endParaRPr lang="ru-RU" sz="72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08794DC-D850-92A1-CDDE-207840259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971800" y="311088"/>
            <a:ext cx="8260443" cy="6235824"/>
          </a:xfrm>
          <a:prstGeom prst="rect">
            <a:avLst/>
          </a:prstGeom>
        </p:spPr>
      </p:pic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BBECE0CE-93EF-CD43-6F3C-C2A65670CFBF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TF-IDF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394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55000">
              <a:srgbClr val="3E337F">
                <a:alpha val="60000"/>
              </a:srgbClr>
            </a:gs>
            <a:gs pos="77000">
              <a:srgbClr val="3E337F">
                <a:alpha val="45000"/>
              </a:srgbClr>
            </a:gs>
            <a:gs pos="100000">
              <a:srgbClr val="3E337F">
                <a:alpha val="30000"/>
              </a:srgb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91AB1E-72AB-2972-825B-74B547FDB89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8875430C-63FC-B5C7-4078-2EFECC2E9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t-SNE</a:t>
            </a:r>
            <a:endParaRPr lang="ru-RU" sz="72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F58477-0EFC-5EDF-59E7-95E7A4DCA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71800" y="247960"/>
            <a:ext cx="8260443" cy="6362080"/>
          </a:xfrm>
          <a:prstGeom prst="rect">
            <a:avLst/>
          </a:prstGeom>
        </p:spPr>
      </p:pic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2C97F985-19C2-1CD7-6536-A883059341DC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Word2Vec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550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711">
                <a:alpha val="50000"/>
              </a:srgbClr>
            </a:gs>
            <a:gs pos="11000">
              <a:srgbClr val="BDF711">
                <a:alpha val="40000"/>
              </a:srgbClr>
            </a:gs>
            <a:gs pos="35000">
              <a:srgbClr val="BDF711">
                <a:alpha val="30000"/>
              </a:srgbClr>
            </a:gs>
            <a:gs pos="71000">
              <a:srgbClr val="BDF711">
                <a:alpha val="2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C1D1CC-94C5-4B8A-B077-7852F93F54D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CD71C29-26FE-075D-06B3-B98F9EBAD2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 СЛОВ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FBF7F21-AEBF-EE39-F1F6-F1DC54447C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5"/>
          <a:stretch>
            <a:fillRect/>
          </a:stretch>
        </p:blipFill>
        <p:spPr>
          <a:xfrm>
            <a:off x="1420585" y="1143001"/>
            <a:ext cx="10613571" cy="5014809"/>
          </a:xfrm>
          <a:prstGeom prst="rect">
            <a:avLst/>
          </a:prstGeom>
        </p:spPr>
      </p:pic>
      <p:sp>
        <p:nvSpPr>
          <p:cNvPr id="12" name="Заголовок 4">
            <a:extLst>
              <a:ext uri="{FF2B5EF4-FFF2-40B4-BE49-F238E27FC236}">
                <a16:creationId xmlns:a16="http://schemas.microsoft.com/office/drawing/2014/main" id="{144D32DE-3925-64F2-7B69-BEE0B617D424}"/>
              </a:ext>
            </a:extLst>
          </p:cNvPr>
          <p:cNvSpPr txBox="1">
            <a:spLocks/>
          </p:cNvSpPr>
          <p:nvPr/>
        </p:nvSpPr>
        <p:spPr bwMode="auto">
          <a:xfrm>
            <a:off x="8458494" y="447496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ct val="100000"/>
              </a:lnSpc>
            </a:pPr>
            <a:r>
              <a:rPr lang="en-US" sz="2800" dirty="0" err="1">
                <a:latin typeface="Century Gothic" panose="020B0502020202020204" pitchFamily="34" charset="0"/>
              </a:rPr>
              <a:t>CountVectorizer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5" name="Заголовок 4">
            <a:extLst>
              <a:ext uri="{FF2B5EF4-FFF2-40B4-BE49-F238E27FC236}">
                <a16:creationId xmlns:a16="http://schemas.microsoft.com/office/drawing/2014/main" id="{735B954D-A2F3-44B9-B744-D2AFC7C04587}"/>
              </a:ext>
            </a:extLst>
          </p:cNvPr>
          <p:cNvSpPr txBox="1">
            <a:spLocks/>
          </p:cNvSpPr>
          <p:nvPr/>
        </p:nvSpPr>
        <p:spPr bwMode="auto">
          <a:xfrm>
            <a:off x="212844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частые</a:t>
            </a:r>
          </a:p>
        </p:txBody>
      </p:sp>
      <p:sp>
        <p:nvSpPr>
          <p:cNvPr id="16" name="Заголовок 4">
            <a:extLst>
              <a:ext uri="{FF2B5EF4-FFF2-40B4-BE49-F238E27FC236}">
                <a16:creationId xmlns:a16="http://schemas.microsoft.com/office/drawing/2014/main" id="{384EF578-8891-E778-EC09-3DE46333845E}"/>
              </a:ext>
            </a:extLst>
          </p:cNvPr>
          <p:cNvSpPr txBox="1">
            <a:spLocks/>
          </p:cNvSpPr>
          <p:nvPr/>
        </p:nvSpPr>
        <p:spPr bwMode="auto">
          <a:xfrm>
            <a:off x="757130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редкие</a:t>
            </a:r>
          </a:p>
        </p:txBody>
      </p:sp>
    </p:spTree>
    <p:extLst>
      <p:ext uri="{BB962C8B-B14F-4D97-AF65-F5344CB8AC3E}">
        <p14:creationId xmlns:p14="http://schemas.microsoft.com/office/powerpoint/2010/main" val="167933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711">
                <a:alpha val="50000"/>
              </a:srgbClr>
            </a:gs>
            <a:gs pos="11000">
              <a:srgbClr val="BDF711">
                <a:alpha val="40000"/>
              </a:srgbClr>
            </a:gs>
            <a:gs pos="35000">
              <a:srgbClr val="BDF711">
                <a:alpha val="30000"/>
              </a:srgbClr>
            </a:gs>
            <a:gs pos="71000">
              <a:srgbClr val="BDF711">
                <a:alpha val="2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BE5F76-2AE7-02BF-052E-438718E44D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F89632B-7090-4B7B-A7B0-AB8D18448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 СЛОВ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9FD5FB2-2F14-E3D1-A3F7-455EA998FF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96" t="5224" r="396"/>
          <a:stretch>
            <a:fillRect/>
          </a:stretch>
        </p:blipFill>
        <p:spPr>
          <a:xfrm>
            <a:off x="1346855" y="1143001"/>
            <a:ext cx="10687302" cy="5014809"/>
          </a:xfrm>
          <a:prstGeom prst="rect">
            <a:avLst/>
          </a:prstGeom>
        </p:spPr>
      </p:pic>
      <p:sp>
        <p:nvSpPr>
          <p:cNvPr id="12" name="Заголовок 4">
            <a:extLst>
              <a:ext uri="{FF2B5EF4-FFF2-40B4-BE49-F238E27FC236}">
                <a16:creationId xmlns:a16="http://schemas.microsoft.com/office/drawing/2014/main" id="{760935E4-9BE5-0A9A-4D7D-E365B25B6DB7}"/>
              </a:ext>
            </a:extLst>
          </p:cNvPr>
          <p:cNvSpPr txBox="1">
            <a:spLocks/>
          </p:cNvSpPr>
          <p:nvPr/>
        </p:nvSpPr>
        <p:spPr bwMode="auto">
          <a:xfrm>
            <a:off x="8458494" y="447496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ct val="100000"/>
              </a:lnSpc>
            </a:pPr>
            <a:r>
              <a:rPr lang="en-US" sz="2800" dirty="0">
                <a:latin typeface="Century Gothic" panose="020B0502020202020204" pitchFamily="34" charset="0"/>
              </a:rPr>
              <a:t>TF-IDF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5" name="Заголовок 4">
            <a:extLst>
              <a:ext uri="{FF2B5EF4-FFF2-40B4-BE49-F238E27FC236}">
                <a16:creationId xmlns:a16="http://schemas.microsoft.com/office/drawing/2014/main" id="{BAB6B219-7231-948D-E7C0-DEF1FABAF505}"/>
              </a:ext>
            </a:extLst>
          </p:cNvPr>
          <p:cNvSpPr txBox="1">
            <a:spLocks/>
          </p:cNvSpPr>
          <p:nvPr/>
        </p:nvSpPr>
        <p:spPr bwMode="auto">
          <a:xfrm>
            <a:off x="212844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частые</a:t>
            </a:r>
          </a:p>
        </p:txBody>
      </p:sp>
      <p:sp>
        <p:nvSpPr>
          <p:cNvPr id="16" name="Заголовок 4">
            <a:extLst>
              <a:ext uri="{FF2B5EF4-FFF2-40B4-BE49-F238E27FC236}">
                <a16:creationId xmlns:a16="http://schemas.microsoft.com/office/drawing/2014/main" id="{4D172B5E-ECF0-1DBC-0549-B71A11261E75}"/>
              </a:ext>
            </a:extLst>
          </p:cNvPr>
          <p:cNvSpPr txBox="1">
            <a:spLocks/>
          </p:cNvSpPr>
          <p:nvPr/>
        </p:nvSpPr>
        <p:spPr bwMode="auto">
          <a:xfrm>
            <a:off x="757130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редкие</a:t>
            </a:r>
          </a:p>
        </p:txBody>
      </p:sp>
    </p:spTree>
    <p:extLst>
      <p:ext uri="{BB962C8B-B14F-4D97-AF65-F5344CB8AC3E}">
        <p14:creationId xmlns:p14="http://schemas.microsoft.com/office/powerpoint/2010/main" val="2789289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711">
                <a:alpha val="50000"/>
              </a:srgbClr>
            </a:gs>
            <a:gs pos="11000">
              <a:srgbClr val="BDF711">
                <a:alpha val="40000"/>
              </a:srgbClr>
            </a:gs>
            <a:gs pos="35000">
              <a:srgbClr val="BDF711">
                <a:alpha val="30000"/>
              </a:srgbClr>
            </a:gs>
            <a:gs pos="71000">
              <a:srgbClr val="BDF711">
                <a:alpha val="2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1A2BCE-7CD2-AD02-29BC-4576A3587A6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7EA0791-2CD6-22C7-23D6-80A026573F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ru-RU" sz="72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ТОП СЛОВ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5E919A5-DC35-DDB1-0A13-D6ACB8825F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96" t="5224" r="396"/>
          <a:stretch>
            <a:fillRect/>
          </a:stretch>
        </p:blipFill>
        <p:spPr>
          <a:xfrm>
            <a:off x="1346855" y="1143001"/>
            <a:ext cx="10687302" cy="5014809"/>
          </a:xfrm>
          <a:prstGeom prst="rect">
            <a:avLst/>
          </a:prstGeom>
        </p:spPr>
      </p:pic>
      <p:sp>
        <p:nvSpPr>
          <p:cNvPr id="12" name="Заголовок 4">
            <a:extLst>
              <a:ext uri="{FF2B5EF4-FFF2-40B4-BE49-F238E27FC236}">
                <a16:creationId xmlns:a16="http://schemas.microsoft.com/office/drawing/2014/main" id="{F1EDF934-594D-8D14-F130-6C6B3D011403}"/>
              </a:ext>
            </a:extLst>
          </p:cNvPr>
          <p:cNvSpPr txBox="1">
            <a:spLocks/>
          </p:cNvSpPr>
          <p:nvPr/>
        </p:nvSpPr>
        <p:spPr bwMode="auto">
          <a:xfrm>
            <a:off x="8458494" y="447496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ct val="100000"/>
              </a:lnSpc>
            </a:pPr>
            <a:r>
              <a:rPr lang="en-US" sz="2800" dirty="0">
                <a:latin typeface="Century Gothic" panose="020B0502020202020204" pitchFamily="34" charset="0"/>
              </a:rPr>
              <a:t>Word2Vec</a:t>
            </a:r>
            <a:endParaRPr lang="ru-RU" sz="2800" dirty="0">
              <a:latin typeface="Century Gothic" panose="020B0502020202020204" pitchFamily="34" charset="0"/>
            </a:endParaRPr>
          </a:p>
        </p:txBody>
      </p:sp>
      <p:sp>
        <p:nvSpPr>
          <p:cNvPr id="15" name="Заголовок 4">
            <a:extLst>
              <a:ext uri="{FF2B5EF4-FFF2-40B4-BE49-F238E27FC236}">
                <a16:creationId xmlns:a16="http://schemas.microsoft.com/office/drawing/2014/main" id="{A80CCABC-90C4-1492-ED4F-0D925A711984}"/>
              </a:ext>
            </a:extLst>
          </p:cNvPr>
          <p:cNvSpPr txBox="1">
            <a:spLocks/>
          </p:cNvSpPr>
          <p:nvPr/>
        </p:nvSpPr>
        <p:spPr bwMode="auto">
          <a:xfrm>
            <a:off x="212844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частые</a:t>
            </a:r>
          </a:p>
        </p:txBody>
      </p:sp>
      <p:sp>
        <p:nvSpPr>
          <p:cNvPr id="16" name="Заголовок 4">
            <a:extLst>
              <a:ext uri="{FF2B5EF4-FFF2-40B4-BE49-F238E27FC236}">
                <a16:creationId xmlns:a16="http://schemas.microsoft.com/office/drawing/2014/main" id="{7659F2B2-3127-7CD9-8175-D8A956FE0F57}"/>
              </a:ext>
            </a:extLst>
          </p:cNvPr>
          <p:cNvSpPr txBox="1">
            <a:spLocks/>
          </p:cNvSpPr>
          <p:nvPr/>
        </p:nvSpPr>
        <p:spPr bwMode="auto">
          <a:xfrm>
            <a:off x="7571306" y="6157810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ru-RU" sz="1600" dirty="0">
                <a:latin typeface="Century Gothic" panose="020B0502020202020204" pitchFamily="34" charset="0"/>
              </a:rPr>
              <a:t>Самые редкие</a:t>
            </a:r>
          </a:p>
        </p:txBody>
      </p:sp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D4E3C245-6FEC-9434-8496-2E3CBB3CEDC2}"/>
              </a:ext>
            </a:extLst>
          </p:cNvPr>
          <p:cNvSpPr txBox="1">
            <a:spLocks/>
          </p:cNvSpPr>
          <p:nvPr/>
        </p:nvSpPr>
        <p:spPr bwMode="auto">
          <a:xfrm>
            <a:off x="8458494" y="651203"/>
            <a:ext cx="3330734" cy="40741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ct val="100000"/>
              </a:lnSpc>
            </a:pPr>
            <a:r>
              <a:rPr lang="ru-RU" sz="1400" dirty="0">
                <a:latin typeface="Century Gothic" panose="020B0502020202020204" pitchFamily="34" charset="0"/>
              </a:rPr>
              <a:t>совпадает с </a:t>
            </a:r>
            <a:r>
              <a:rPr lang="en-US" sz="1400" dirty="0" err="1">
                <a:latin typeface="Century Gothic" panose="020B0502020202020204" pitchFamily="34" charset="0"/>
              </a:rPr>
              <a:t>CountVectorizer</a:t>
            </a:r>
            <a:endParaRPr lang="ru-RU" sz="14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111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40000"/>
              </a:srgbClr>
            </a:gs>
            <a:gs pos="68000">
              <a:srgbClr val="BDF611">
                <a:alpha val="50000"/>
              </a:srgbClr>
            </a:gs>
            <a:gs pos="86000">
              <a:srgbClr val="BDF611">
                <a:alpha val="60000"/>
              </a:srgbClr>
            </a:gs>
            <a:gs pos="100000">
              <a:srgbClr val="BDF611">
                <a:alpha val="70000"/>
              </a:srgbClr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7DA18-ABA0-3255-0C6A-EAAEAD08E1C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D122C415-4832-7DB2-2003-A315EEAB03E3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en-US" sz="5600" b="1" spc="300" dirty="0" err="1">
                <a:solidFill>
                  <a:srgbClr val="3E337F"/>
                </a:solidFill>
                <a:latin typeface="Century Gothic" panose="020B0502020202020204" pitchFamily="34" charset="0"/>
              </a:rPr>
              <a:t>CountVectorizer</a:t>
            </a:r>
            <a:endParaRPr lang="ru-RU" sz="5600" b="1" spc="300" dirty="0">
              <a:solidFill>
                <a:srgbClr val="3E337F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16A6AB6-6E43-3660-7C49-06610061CB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544" y="549000"/>
            <a:ext cx="10030909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16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40000"/>
              </a:srgbClr>
            </a:gs>
            <a:gs pos="26000">
              <a:srgbClr val="BDF611">
                <a:alpha val="50000"/>
              </a:srgbClr>
            </a:gs>
            <a:gs pos="100000">
              <a:srgbClr val="BDF611">
                <a:alpha val="60000"/>
              </a:srgbClr>
            </a:gs>
            <a:gs pos="100000">
              <a:srgbClr val="BDF611">
                <a:alpha val="70000"/>
              </a:srgb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7F1197-2AE4-65FB-3537-FE0685B1934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F88823E3-3036-DAF2-68D4-C1FDB956BE94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en-US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TF-IDF</a:t>
            </a:r>
            <a:endParaRPr lang="ru-RU" sz="5600" b="1" spc="300" dirty="0">
              <a:solidFill>
                <a:srgbClr val="3E337F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4D0EE8-DEE1-AABC-4586-DD57FD950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5255" y="549000"/>
            <a:ext cx="1011713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325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30000"/>
              </a:srgbClr>
            </a:gs>
            <a:gs pos="26000">
              <a:srgbClr val="BDF611">
                <a:alpha val="40000"/>
              </a:srgbClr>
            </a:gs>
            <a:gs pos="45000">
              <a:srgbClr val="BDF611">
                <a:alpha val="50000"/>
              </a:srgbClr>
            </a:gs>
            <a:gs pos="100000">
              <a:srgbClr val="BDF611">
                <a:alpha val="60000"/>
              </a:srgb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95FFF-A6B1-2501-DDD6-83C0D3DE678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858C8191-7045-4071-AAA4-9860D49A4C0B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en-US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Word2Vec</a:t>
            </a:r>
            <a:endParaRPr lang="ru-RU" sz="5600" b="1" spc="300" dirty="0">
              <a:solidFill>
                <a:srgbClr val="3E337F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5E868A-143C-9426-4298-C14785070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5255" y="549000"/>
            <a:ext cx="1013333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74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BDF611">
                <a:alpha val="30000"/>
              </a:srgbClr>
            </a:gs>
            <a:gs pos="40000">
              <a:srgbClr val="BDF611">
                <a:alpha val="40000"/>
              </a:srgbClr>
            </a:gs>
            <a:gs pos="86000">
              <a:srgbClr val="BDF611">
                <a:alpha val="50000"/>
              </a:srgbClr>
            </a:gs>
            <a:gs pos="100000">
              <a:srgbClr val="BDF611">
                <a:alpha val="60000"/>
              </a:srgbClr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C25354-B5B9-9844-F137-717CE30B62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794DC712-E46C-2F28-D455-D551995E5761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 rot="16200000">
            <a:off x="-3439391" y="2499589"/>
            <a:ext cx="7086602" cy="1858818"/>
          </a:xfrm>
        </p:spPr>
        <p:txBody>
          <a:bodyPr>
            <a:normAutofit/>
          </a:bodyPr>
          <a:lstStyle/>
          <a:p>
            <a:r>
              <a:rPr lang="en-US" sz="5600" b="1" spc="300" dirty="0">
                <a:solidFill>
                  <a:srgbClr val="3E337F"/>
                </a:solidFill>
                <a:latin typeface="Century Gothic" panose="020B0502020202020204" pitchFamily="34" charset="0"/>
              </a:rPr>
              <a:t>Doc2Vec</a:t>
            </a:r>
            <a:endParaRPr lang="ru-RU" sz="5600" b="1" spc="300" dirty="0">
              <a:solidFill>
                <a:srgbClr val="3E337F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E739A8-8AD0-CCF1-7304-C7D4FEC86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7470" y="549000"/>
            <a:ext cx="9635555" cy="576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B67ADE-A3C0-5F67-AE7F-7EF14120163F}"/>
              </a:ext>
            </a:extLst>
          </p:cNvPr>
          <p:cNvSpPr txBox="1"/>
          <p:nvPr/>
        </p:nvSpPr>
        <p:spPr>
          <a:xfrm>
            <a:off x="1679752" y="5757488"/>
            <a:ext cx="10255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вывод</a:t>
            </a:r>
          </a:p>
        </p:txBody>
      </p:sp>
    </p:spTree>
    <p:extLst>
      <p:ext uri="{BB962C8B-B14F-4D97-AF65-F5344CB8AC3E}">
        <p14:creationId xmlns:p14="http://schemas.microsoft.com/office/powerpoint/2010/main" val="1829311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30000">
              <a:srgbClr val="3E337F">
                <a:alpha val="60000"/>
              </a:srgbClr>
            </a:gs>
            <a:gs pos="51000">
              <a:srgbClr val="3E337F">
                <a:alpha val="45000"/>
              </a:srgbClr>
            </a:gs>
            <a:gs pos="100000">
              <a:srgbClr val="3E337F">
                <a:alpha val="30000"/>
              </a:srgbClr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3361B8-97F2-3940-B695-94266F36E18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8B440A99-07E0-5D09-F686-5D39FFCAC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WORDCLOUD</a:t>
            </a:r>
            <a:endParaRPr lang="ru-RU" sz="7200" b="1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1D2052C5-6C9E-DAAC-4D5E-637DCF574045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 err="1">
                <a:solidFill>
                  <a:srgbClr val="BDF711"/>
                </a:solidFill>
                <a:latin typeface="Century Gothic" panose="020B0502020202020204" pitchFamily="34" charset="0"/>
              </a:rPr>
              <a:t>CountVectorizer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BC7B93-5FF3-5E5D-A933-DFA8A0063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198855"/>
            <a:ext cx="8851748" cy="446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615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65000"/>
              </a:srgbClr>
            </a:gs>
            <a:gs pos="38000">
              <a:srgbClr val="3E337F">
                <a:alpha val="50000"/>
              </a:srgbClr>
            </a:gs>
            <a:gs pos="54000">
              <a:srgbClr val="3E337F">
                <a:alpha val="40000"/>
              </a:srgbClr>
            </a:gs>
            <a:gs pos="100000">
              <a:srgbClr val="3E337F">
                <a:alpha val="30000"/>
              </a:srgbClr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3A31E-29F8-D9BF-9C83-8892F4191B4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8C351B18-9A88-EB33-A847-9BAB39EC3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WORDCLOUD</a:t>
            </a:r>
            <a:endParaRPr lang="ru-RU" sz="7200" b="1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C6BC055F-DE76-18BA-3A21-B1FF730C8383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TF-IDF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E323E61-8FE6-2D59-4CC7-45601F8255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016012" y="1198855"/>
            <a:ext cx="8763324" cy="446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80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34000">
              <a:srgbClr val="3E337F">
                <a:alpha val="60000"/>
              </a:srgbClr>
            </a:gs>
            <a:gs pos="67000">
              <a:srgbClr val="3E337F">
                <a:alpha val="40000"/>
              </a:srgbClr>
            </a:gs>
            <a:gs pos="95000">
              <a:srgbClr val="3E337F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ED6B47-8B9D-597F-B44F-AE632238C98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BC587CD7-19AB-972D-1012-6DF72F673B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WORDCLOUD</a:t>
            </a:r>
            <a:endParaRPr lang="ru-RU" sz="7200" b="1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Заголовок 4">
            <a:extLst>
              <a:ext uri="{FF2B5EF4-FFF2-40B4-BE49-F238E27FC236}">
                <a16:creationId xmlns:a16="http://schemas.microsoft.com/office/drawing/2014/main" id="{B06F2DE9-70DE-CA32-4472-FFB1D29A91F3}"/>
              </a:ext>
            </a:extLst>
          </p:cNvPr>
          <p:cNvSpPr txBox="1">
            <a:spLocks/>
          </p:cNvSpPr>
          <p:nvPr/>
        </p:nvSpPr>
        <p:spPr bwMode="auto">
          <a:xfrm rot="16200000">
            <a:off x="-2497471" y="2235201"/>
            <a:ext cx="685800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spc="300" dirty="0">
                <a:solidFill>
                  <a:srgbClr val="BDF711"/>
                </a:solidFill>
                <a:latin typeface="Century Gothic" panose="020B0502020202020204" pitchFamily="34" charset="0"/>
              </a:rPr>
              <a:t>Word2Vec</a:t>
            </a:r>
            <a:endParaRPr lang="ru-RU" sz="4400" spc="3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70521A-1C85-576E-A4E7-73A8613F5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987743" y="1198855"/>
            <a:ext cx="8819861" cy="446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2694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90000"/>
              </a:srgbClr>
            </a:gs>
            <a:gs pos="21000">
              <a:srgbClr val="3E337F">
                <a:alpha val="80000"/>
              </a:srgbClr>
            </a:gs>
            <a:gs pos="53000">
              <a:srgbClr val="3E337F">
                <a:alpha val="50000"/>
              </a:srgbClr>
            </a:gs>
            <a:gs pos="100000">
              <a:srgbClr val="3E337F">
                <a:alpha val="30000"/>
              </a:srgb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7C2F26-4B6A-1D4D-B391-7F347AF5394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4">
            <a:extLst>
              <a:ext uri="{FF2B5EF4-FFF2-40B4-BE49-F238E27FC236}">
                <a16:creationId xmlns:a16="http://schemas.microsoft.com/office/drawing/2014/main" id="{638051F2-8724-F513-5983-229A2460F53D}"/>
              </a:ext>
            </a:extLst>
          </p:cNvPr>
          <p:cNvSpPr txBox="1">
            <a:spLocks/>
          </p:cNvSpPr>
          <p:nvPr/>
        </p:nvSpPr>
        <p:spPr bwMode="auto">
          <a:xfrm>
            <a:off x="849088" y="1428750"/>
            <a:ext cx="9568541" cy="40005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54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ЧАСТЬ №2</a:t>
            </a:r>
          </a:p>
          <a:p>
            <a:pPr algn="l"/>
            <a:endParaRPr lang="ru-RU" sz="40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  <a:p>
            <a:pPr algn="l"/>
            <a:r>
              <a:rPr lang="ru-RU" sz="5400" b="1" spc="600" dirty="0">
                <a:solidFill>
                  <a:srgbClr val="3E337F"/>
                </a:solidFill>
                <a:latin typeface="Century Gothic" panose="020B0502020202020204" pitchFamily="34" charset="0"/>
              </a:rPr>
              <a:t>КЛАССИФИКАЦИЯ ТОНАЛЬНОСТИ ОТЗЫВОВ О ФИЛЬМАХ</a:t>
            </a:r>
          </a:p>
        </p:txBody>
      </p:sp>
    </p:spTree>
    <p:extLst>
      <p:ext uri="{BB962C8B-B14F-4D97-AF65-F5344CB8AC3E}">
        <p14:creationId xmlns:p14="http://schemas.microsoft.com/office/powerpoint/2010/main" val="14251314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80000"/>
              </a:srgbClr>
            </a:gs>
            <a:gs pos="22000">
              <a:srgbClr val="3E337F">
                <a:alpha val="65000"/>
              </a:srgbClr>
            </a:gs>
            <a:gs pos="68000">
              <a:srgbClr val="3E337F">
                <a:alpha val="50000"/>
              </a:srgbClr>
            </a:gs>
            <a:gs pos="100000">
              <a:srgbClr val="3E337F">
                <a:alpha val="4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33D5F7-FFAD-EF75-4D27-1AA1CA08E22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B57D7AA-231C-0D96-16DD-46BFF2A4CF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BERT</a:t>
            </a:r>
            <a:endParaRPr lang="ru-RU" sz="72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4959BC5D-B472-644A-497B-DC2D37F89993}"/>
              </a:ext>
            </a:extLst>
          </p:cNvPr>
          <p:cNvGrpSpPr/>
          <p:nvPr/>
        </p:nvGrpSpPr>
        <p:grpSpPr>
          <a:xfrm>
            <a:off x="3311862" y="399485"/>
            <a:ext cx="3330734" cy="2660605"/>
            <a:chOff x="3311862" y="399485"/>
            <a:chExt cx="3330734" cy="2660605"/>
          </a:xfrm>
        </p:grpSpPr>
        <p:sp>
          <p:nvSpPr>
            <p:cNvPr id="20" name="Заголовок 4">
              <a:extLst>
                <a:ext uri="{FF2B5EF4-FFF2-40B4-BE49-F238E27FC236}">
                  <a16:creationId xmlns:a16="http://schemas.microsoft.com/office/drawing/2014/main" id="{B0CCDB5B-1893-D3F2-31A0-C6C132FE1E3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311862" y="2652676"/>
              <a:ext cx="3330734" cy="407414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>
                <a:lnSpc>
                  <a:spcPct val="90000"/>
                </a:lnSpc>
                <a:spcBef>
                  <a:spcPts val="0"/>
                </a:spcBef>
                <a:buNone/>
                <a:defRPr sz="60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n-US" sz="2800" dirty="0">
                  <a:latin typeface="Century Gothic" panose="020B0502020202020204" pitchFamily="34" charset="0"/>
                </a:rPr>
                <a:t>Precision</a:t>
              </a:r>
              <a:endParaRPr lang="ru-RU" sz="2800" dirty="0">
                <a:latin typeface="Century Gothic" panose="020B0502020202020204" pitchFamily="34" charset="0"/>
              </a:endParaRPr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A79464FD-5147-8623-D1D7-519C28FBE90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3969229" y="399485"/>
              <a:ext cx="2016000" cy="2016000"/>
            </a:xfrm>
            <a:prstGeom prst="ellipse">
              <a:avLst/>
            </a:prstGeom>
            <a:solidFill>
              <a:srgbClr val="BDF711"/>
            </a:solidFill>
            <a:ln>
              <a:solidFill>
                <a:srgbClr val="3E337F"/>
              </a:solidFill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0.</a:t>
              </a:r>
              <a:r>
                <a:rPr lang="en-US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87</a:t>
              </a:r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34D5D3F-7A6A-338C-152A-60DAA38AB5BF}"/>
              </a:ext>
            </a:extLst>
          </p:cNvPr>
          <p:cNvGrpSpPr/>
          <p:nvPr/>
        </p:nvGrpSpPr>
        <p:grpSpPr>
          <a:xfrm>
            <a:off x="8296513" y="2052130"/>
            <a:ext cx="2774171" cy="2660606"/>
            <a:chOff x="8296513" y="2160291"/>
            <a:chExt cx="2774171" cy="2660606"/>
          </a:xfrm>
        </p:grpSpPr>
        <p:sp>
          <p:nvSpPr>
            <p:cNvPr id="16" name="Заголовок 4">
              <a:extLst>
                <a:ext uri="{FF2B5EF4-FFF2-40B4-BE49-F238E27FC236}">
                  <a16:creationId xmlns:a16="http://schemas.microsoft.com/office/drawing/2014/main" id="{28FC4699-636F-44D3-32A9-3EB2589E9DA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8296513" y="4413482"/>
              <a:ext cx="2774171" cy="40741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>
                <a:lnSpc>
                  <a:spcPct val="90000"/>
                </a:lnSpc>
                <a:spcBef>
                  <a:spcPts val="0"/>
                </a:spcBef>
                <a:buNone/>
                <a:defRPr sz="60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n-US" sz="2800" dirty="0">
                  <a:latin typeface="Century Gothic" panose="020B0502020202020204" pitchFamily="34" charset="0"/>
                </a:rPr>
                <a:t>F1-score</a:t>
              </a:r>
              <a:endParaRPr lang="ru-RU" sz="2800" dirty="0">
                <a:latin typeface="Century Gothic" panose="020B0502020202020204" pitchFamily="34" charset="0"/>
              </a:endParaRPr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675F653A-72C0-A0E4-C6F6-A35185AA4FAF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675598" y="2160291"/>
              <a:ext cx="2016000" cy="2016000"/>
            </a:xfrm>
            <a:prstGeom prst="ellipse">
              <a:avLst/>
            </a:prstGeom>
            <a:solidFill>
              <a:srgbClr val="BDF711"/>
            </a:solidFill>
            <a:ln>
              <a:solidFill>
                <a:srgbClr val="3E337F"/>
              </a:solidFill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0.</a:t>
              </a:r>
              <a:r>
                <a:rPr lang="en-US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83</a:t>
              </a:r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8ED6EB9-9147-11FE-A227-6C1C3CD17E52}"/>
              </a:ext>
            </a:extLst>
          </p:cNvPr>
          <p:cNvGrpSpPr/>
          <p:nvPr/>
        </p:nvGrpSpPr>
        <p:grpSpPr>
          <a:xfrm>
            <a:off x="3311862" y="3704776"/>
            <a:ext cx="3330734" cy="2643543"/>
            <a:chOff x="3311862" y="3704776"/>
            <a:chExt cx="3330734" cy="2643543"/>
          </a:xfrm>
        </p:grpSpPr>
        <p:sp>
          <p:nvSpPr>
            <p:cNvPr id="21" name="Заголовок 4">
              <a:extLst>
                <a:ext uri="{FF2B5EF4-FFF2-40B4-BE49-F238E27FC236}">
                  <a16:creationId xmlns:a16="http://schemas.microsoft.com/office/drawing/2014/main" id="{637A5F40-9EBF-49FB-A942-AE555B8D06C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311862" y="5940905"/>
              <a:ext cx="3330734" cy="407414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>
                <a:lnSpc>
                  <a:spcPct val="90000"/>
                </a:lnSpc>
                <a:spcBef>
                  <a:spcPts val="0"/>
                </a:spcBef>
                <a:buNone/>
                <a:defRPr sz="60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n-US" sz="2800" dirty="0">
                  <a:latin typeface="Century Gothic" panose="020B0502020202020204" pitchFamily="34" charset="0"/>
                </a:rPr>
                <a:t>Recall</a:t>
              </a:r>
              <a:endParaRPr lang="ru-RU" sz="2800" dirty="0">
                <a:latin typeface="Century Gothic" panose="020B0502020202020204" pitchFamily="34" charset="0"/>
              </a:endParaRPr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14256AE0-C7B1-E7BA-9555-FBF2736514E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3969229" y="3704776"/>
              <a:ext cx="2016000" cy="2016000"/>
            </a:xfrm>
            <a:prstGeom prst="ellipse">
              <a:avLst/>
            </a:prstGeom>
            <a:solidFill>
              <a:srgbClr val="BDF711"/>
            </a:solidFill>
            <a:ln>
              <a:solidFill>
                <a:srgbClr val="3E337F"/>
              </a:solidFill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0.</a:t>
              </a:r>
              <a:r>
                <a:rPr lang="en-US" sz="2800" dirty="0">
                  <a:solidFill>
                    <a:schemeClr val="tx1"/>
                  </a:solidFill>
                  <a:latin typeface="Century Gothic" panose="020B0502020202020204" pitchFamily="34" charset="0"/>
                </a:rPr>
                <a:t>79</a:t>
              </a:r>
              <a:endParaRPr lang="ru-RU" sz="2800" dirty="0">
                <a:solidFill>
                  <a:schemeClr val="tx1"/>
                </a:solidFill>
                <a:latin typeface="Century Gothic" panose="020B0502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7865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 flip="none" rotWithShape="1">
          <a:gsLst>
            <a:gs pos="0">
              <a:srgbClr val="3E337F">
                <a:alpha val="70000"/>
              </a:srgbClr>
            </a:gs>
            <a:gs pos="34000">
              <a:srgbClr val="3E337F">
                <a:alpha val="60000"/>
              </a:srgbClr>
            </a:gs>
            <a:gs pos="67000">
              <a:srgbClr val="3E337F">
                <a:alpha val="40000"/>
              </a:srgbClr>
            </a:gs>
            <a:gs pos="95000">
              <a:srgbClr val="3E337F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1983BF-9B4D-B709-91C8-0C29A920462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C004ED0B-7E95-7491-E890-B6893902E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3343941" y="2235199"/>
            <a:ext cx="6858001" cy="2387600"/>
          </a:xfrm>
        </p:spPr>
        <p:txBody>
          <a:bodyPr>
            <a:normAutofit/>
          </a:bodyPr>
          <a:lstStyle/>
          <a:p>
            <a:r>
              <a:rPr lang="en-US" sz="7200" b="1" spc="600" dirty="0">
                <a:solidFill>
                  <a:srgbClr val="BDF711"/>
                </a:solidFill>
                <a:latin typeface="Century Gothic" panose="020B0502020202020204" pitchFamily="34" charset="0"/>
              </a:rPr>
              <a:t>BERT</a:t>
            </a:r>
            <a:endParaRPr lang="ru-RU" sz="7200" b="1" spc="600" dirty="0">
              <a:solidFill>
                <a:srgbClr val="BDF71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E32414A-6F8B-D923-E7A4-4AA04EBB7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59904" y="1205446"/>
            <a:ext cx="10101896" cy="444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0605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16261</TotalTime>
  <Words>383</Words>
  <Application>Microsoft Macintosh PowerPoint</Application>
  <DocSecurity>0</DocSecurity>
  <PresentationFormat>Широкоэкранный</PresentationFormat>
  <Paragraphs>124</Paragraphs>
  <Slides>29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Century Gothic</vt:lpstr>
      <vt:lpstr>Тема Office</vt:lpstr>
      <vt:lpstr>АНАЛИТИКА</vt:lpstr>
      <vt:lpstr>ПЕСНИ</vt:lpstr>
      <vt:lpstr>ОБРАБОТКА</vt:lpstr>
      <vt:lpstr>VS</vt:lpstr>
      <vt:lpstr>TF-IDF</vt:lpstr>
      <vt:lpstr>РАСПРЕДЕЛЕНИЕ</vt:lpstr>
      <vt:lpstr>РАСПРЕДЕЛЕНИЕ</vt:lpstr>
      <vt:lpstr>ТОП-10 СЛОВ</vt:lpstr>
      <vt:lpstr>ТОП-10 СЛОВ</vt:lpstr>
      <vt:lpstr>ТОП-10 СЛОВ</vt:lpstr>
      <vt:lpstr>СРАВНЕНИЕ</vt:lpstr>
      <vt:lpstr>ВРЕМЯ</vt:lpstr>
      <vt:lpstr>СХОЖЕСТЬ</vt:lpstr>
      <vt:lpstr>t-SNE</vt:lpstr>
      <vt:lpstr>t-SNE</vt:lpstr>
      <vt:lpstr>t-SNE</vt:lpstr>
      <vt:lpstr>ТОП СЛОВ</vt:lpstr>
      <vt:lpstr>ТОП СЛОВ</vt:lpstr>
      <vt:lpstr>ТОП СЛОВ</vt:lpstr>
      <vt:lpstr>CountVectorizer</vt:lpstr>
      <vt:lpstr>TF-IDF</vt:lpstr>
      <vt:lpstr>Word2Vec</vt:lpstr>
      <vt:lpstr>Doc2Vec</vt:lpstr>
      <vt:lpstr>WORDCLOUD</vt:lpstr>
      <vt:lpstr>WORDCLOUD</vt:lpstr>
      <vt:lpstr>WORDCLOUD</vt:lpstr>
      <vt:lpstr>Презентация PowerPoint</vt:lpstr>
      <vt:lpstr>BERT</vt:lpstr>
      <vt:lpstr>BERT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Dasha</dc:creator>
  <cp:keywords/>
  <dc:description/>
  <cp:lastModifiedBy>Арина Катышева</cp:lastModifiedBy>
  <cp:revision>136</cp:revision>
  <dcterms:created xsi:type="dcterms:W3CDTF">2025-02-19T15:29:33Z</dcterms:created>
  <dcterms:modified xsi:type="dcterms:W3CDTF">2026-03-26T20:19:51Z</dcterms:modified>
  <cp:category/>
  <dc:identifier/>
  <cp:contentStatus/>
  <dc:language/>
  <cp:version/>
</cp:coreProperties>
</file>